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e77b743dea4596" /><Relationship Type="http://schemas.openxmlformats.org/officeDocument/2006/relationships/extended-properties" Target="/docProps/app.xml" Id="R2d08d8495ac34a4b" /><Relationship Type="http://schemas.openxmlformats.org/officeDocument/2006/relationships/officeDocument" Target="/ppt/presentation.xml" Id="Ra0284275e7444c03" /></Relationships>
</file>

<file path=ppt/presentation.xml><?xml version="1.0" encoding="utf-8"?>
<p:presentation xmlns:p="http://schemas.openxmlformats.org/presentationml/2006/main">
  <p:sldMasterIdLst>
    <p:sldMasterId xmlns:r="http://schemas.openxmlformats.org/officeDocument/2006/relationships" id="2147483648" r:id="Reaa3e1ed23c041da"/>
  </p:sldMasterIdLst>
  <p:notesMasterIdLst>
    <p:notesMasterId xmlns:r="http://schemas.openxmlformats.org/officeDocument/2006/relationships" r:id="R2bbf1c822848412e"/>
  </p:notesMasterIdLst>
  <p:sldIdLst>
    <p:sldId xmlns:r="http://schemas.openxmlformats.org/officeDocument/2006/relationships" id="256" r:id="R3188f915dc234975"/>
    <p:sldId xmlns:r="http://schemas.openxmlformats.org/officeDocument/2006/relationships" id="257" r:id="Re76ec1e277954f44"/>
    <p:sldId xmlns:r="http://schemas.openxmlformats.org/officeDocument/2006/relationships" id="258" r:id="Rb53c03f73d054016"/>
    <p:sldId xmlns:r="http://schemas.openxmlformats.org/officeDocument/2006/relationships" id="259" r:id="R2c912c367120469d"/>
    <p:sldId xmlns:r="http://schemas.openxmlformats.org/officeDocument/2006/relationships" id="260" r:id="R020d50fa35934ba4"/>
    <p:sldId xmlns:r="http://schemas.openxmlformats.org/officeDocument/2006/relationships" id="261" r:id="Reaeac47ec0aa4928"/>
    <p:sldId xmlns:r="http://schemas.openxmlformats.org/officeDocument/2006/relationships" id="262" r:id="Rbc60bc292e1942b2"/>
    <p:sldId xmlns:r="http://schemas.openxmlformats.org/officeDocument/2006/relationships" id="263" r:id="R603c574ca76a49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e2b7d5e2084598" /><Relationship Type="http://schemas.openxmlformats.org/officeDocument/2006/relationships/slideMaster" Target="/ppt/slideMasters/slideMaster1.xml" Id="Reaa3e1ed23c041da" /><Relationship Type="http://schemas.openxmlformats.org/officeDocument/2006/relationships/notesMaster" Target="/ppt/notesMasters/notesMaster1.xml" Id="R2bbf1c822848412e" /><Relationship Type="http://schemas.openxmlformats.org/officeDocument/2006/relationships/presProps" Target="/ppt/presProps.xml" Id="R989109d4c7954f92" /><Relationship Type="http://schemas.openxmlformats.org/officeDocument/2006/relationships/tableStyles" Target="/ppt/tableStyles.xml" Id="Re66920a4a71849de" /><Relationship Type="http://schemas.openxmlformats.org/officeDocument/2006/relationships/slide" Target="/ppt/slides/slide1.xml" Id="R3188f915dc234975" /><Relationship Type="http://schemas.openxmlformats.org/officeDocument/2006/relationships/slide" Target="/ppt/slides/slide2.xml" Id="Re76ec1e277954f44" /><Relationship Type="http://schemas.openxmlformats.org/officeDocument/2006/relationships/slide" Target="/ppt/slides/slide3.xml" Id="Rb53c03f73d054016" /><Relationship Type="http://schemas.openxmlformats.org/officeDocument/2006/relationships/slide" Target="/ppt/slides/slide4.xml" Id="R2c912c367120469d" /><Relationship Type="http://schemas.openxmlformats.org/officeDocument/2006/relationships/slide" Target="/ppt/slides/slide5.xml" Id="R020d50fa35934ba4" /><Relationship Type="http://schemas.openxmlformats.org/officeDocument/2006/relationships/slide" Target="/ppt/slides/slide6.xml" Id="Reaeac47ec0aa4928" /><Relationship Type="http://schemas.openxmlformats.org/officeDocument/2006/relationships/slide" Target="/ppt/slides/slide7.xml" Id="Rbc60bc292e1942b2" /><Relationship Type="http://schemas.openxmlformats.org/officeDocument/2006/relationships/slide" Target="/ppt/slides/slide8.xml" Id="R603c574ca76a49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67d0af7d0342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eb17e3d01d4374" /><Relationship Type="http://schemas.openxmlformats.org/officeDocument/2006/relationships/notesMaster" Target="/ppt/notesMasters/notesMaster1.xml" Id="R337cabff595b46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6044bae0b44967" /><Relationship Type="http://schemas.openxmlformats.org/officeDocument/2006/relationships/notesMaster" Target="/ppt/notesMasters/notesMaster1.xml" Id="R6eeb7c67d34744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ad9fdc38da4b84" /><Relationship Type="http://schemas.openxmlformats.org/officeDocument/2006/relationships/notesMaster" Target="/ppt/notesMasters/notesMaster1.xml" Id="Ra8496f97366f4a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eac2ba02474bc7" /><Relationship Type="http://schemas.openxmlformats.org/officeDocument/2006/relationships/notesMaster" Target="/ppt/notesMasters/notesMaster1.xml" Id="R553c200768db40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f50d33ece94f0e" /><Relationship Type="http://schemas.openxmlformats.org/officeDocument/2006/relationships/notesMaster" Target="/ppt/notesMasters/notesMaster1.xml" Id="Rb0c202c08cd14f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c3b10a5fec4a43" /><Relationship Type="http://schemas.openxmlformats.org/officeDocument/2006/relationships/notesMaster" Target="/ppt/notesMasters/notesMaster1.xml" Id="R44bafb907adc48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73bbc0718147a6" /><Relationship Type="http://schemas.openxmlformats.org/officeDocument/2006/relationships/notesMaster" Target="/ppt/notesMasters/notesMaster1.xml" Id="R60df6e69deb147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eeda6c81914243" /><Relationship Type="http://schemas.openxmlformats.org/officeDocument/2006/relationships/notesMaster" Target="/ppt/notesMasters/notesMaster1.xml" Id="R2d847616ae9446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PARALLAX is a hackathon prototype for emerging venture funds and angel investors. Present the live app alongside this deck. The intended customer benefit is a clearer next diligence decision, not a validated forecast of investment returns.</a:t>
            </a:r>
          </a:p>
          <a:p xmlns:a="http://schemas.openxmlformats.org/drawingml/2006/main">
            <a:r>
              <a:t/>
            </a:r>
          </a:p>
          <a:p xmlns:a="http://schemas.openxmlformats.org/drawingml/2006/main">
            <a:r>
              <a:t>Sources:</a:t>
            </a:r>
          </a:p>
          <a:p xmlns:a="http://schemas.openxmlformats.org/drawingml/2006/main">
            <a:r>
              <a:t>https://github.com/eliott-crypto/PARALLAX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target customer and pain hypothesis. We have not supplied verified user interviews, customers, revenue, market size or time-saved results. The prototype focuses on turning a market belief into an evidenced research priority. Sources are product requirements and implementation, not a customer survey.</a:t>
            </a:r>
          </a:p>
          <a:p xmlns:a="http://schemas.openxmlformats.org/drawingml/2006/main">
            <a:r>
              <a:t/>
            </a:r>
          </a:p>
          <a:p xmlns:a="http://schemas.openxmlformats.org/drawingml/2006/main">
            <a:r>
              <a:t>Sources:</a:t>
            </a:r>
          </a:p>
          <a:p xmlns:a="http://schemas.openxmlformats.org/drawingml/2006/main">
            <a:r>
              <a:t>https://github.com/eliott-crypto/PARALLAX/blob/main/README.md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completed source-reviewed shortlist. Prices are historical company-stated or reported marks, with dates and qualifications. The source audit includes external review.</a:t>
            </a:r>
          </a:p>
          <a:p xmlns:a="http://schemas.openxmlformats.org/drawingml/2006/main">
            <a:r>
              <a:t/>
            </a:r>
          </a:p>
          <a:p xmlns:a="http://schemas.openxmlformats.org/drawingml/2006/main">
            <a:r>
              <a:t>Sources:</a:t>
            </a:r>
          </a:p>
          <a:p xmlns:a="http://schemas.openxmlformats.org/drawingml/2006/main">
            <a:r>
              <a:t>https://eliott-crypto.github.io/PARALLAX/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independence lens. This visual measures admitted research support, not expected returns.</a:t>
            </a:r>
          </a:p>
          <a:p xmlns:a="http://schemas.openxmlformats.org/drawingml/2006/main">
            <a:r>
              <a:t/>
            </a:r>
          </a:p>
          <a:p xmlns:a="http://schemas.openxmlformats.org/drawingml/2006/main">
            <a:r>
              <a:t>Sources:</a:t>
            </a:r>
          </a:p>
          <a:p xmlns:a="http://schemas.openxmlformats.org/drawingml/2006/main">
            <a:r>
              <a:t>https://github.com/eliott-crypto/PARALLAX/blob/main/src/lib/universe.ts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nine distinct research roles. Bull revision is a feedback pass, not a tenth distinct role. Founder and Competitive run in parallel, then Bull and Bear run in parallel. Verifier performs fresh search. Orchestration persists actual provider usage, budgets, events and admitted evidence. Theme shortlist discovery is a separate smaller team with parallel scouts, price verification, adversarial review and ranking.</a:t>
            </a:r>
          </a:p>
          <a:p xmlns:a="http://schemas.openxmlformats.org/drawingml/2006/main">
            <a:r>
              <a:t/>
            </a:r>
          </a:p>
          <a:p xmlns:a="http://schemas.openxmlformats.org/drawingml/2006/main">
            <a:r>
              <a:t>Sources:</a:t>
            </a:r>
          </a:p>
          <a:p xmlns:a="http://schemas.openxmlformats.org/drawingml/2006/main">
            <a:r>
              <a:t>https://github.com/eliott-crypto/PARALLAX/blob/main/server/orchestrator.ts</a:t>
            </a:r>
          </a:p>
          <a:p xmlns:a="http://schemas.openxmlformats.org/drawingml/2006/main">
            <a:r>
              <a:t>https://github.com/eliott-crypto/PARALLAX/blob/main/server/store.ts</a:t>
            </a:r>
          </a:p>
          <a:p xmlns:a="http://schemas.openxmlformats.org/drawingml/2006/main">
            <a:r>
              <a:t>https://github.com/eliott-crypto/PARALLAX/blob/main/server/claude.ts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saved Claude execution: recordings/6b8771ef-7394-40b7-b702-222cbbad204f.json. Completed final decision MONITOR, confidence LOW. Input tokens303540 plus output44738 =348278 total provider tokens. 28 evidence records and22 distinct stored URLs. The later committee used claude-opus-5-5. A source-quality review flagged the customer-attribution problem, then a real Verifier pass retrieved sources and a Bull revision incorporated the correction. Preserve that distinction: the entire discovery was not an unassisted first-pass success. Original outputs, the token-budget interruption and later recovery remain in the trace. The cited Contrary source places Salesforce and Visa in the Sauce Labs competitive section, not Browserbase. The final memo withdraws the claim.</a:t>
            </a:r>
          </a:p>
          <a:p xmlns:a="http://schemas.openxmlformats.org/drawingml/2006/main">
            <a:r>
              <a:t/>
            </a:r>
          </a:p>
          <a:p xmlns:a="http://schemas.openxmlformats.org/drawingml/2006/main">
            <a:r>
              <a:t>Sources:</a:t>
            </a:r>
          </a:p>
          <a:p xmlns:a="http://schemas.openxmlformats.org/drawingml/2006/main">
            <a:r>
              <a:t>https://github.com/eliott-crypto/PARALLAX/blob/main/recordings/6b8771ef-7394-40b7-b702-222cbbad204f.json</a:t>
            </a:r>
          </a:p>
          <a:p xmlns:a="http://schemas.openxmlformats.org/drawingml/2006/main">
            <a:r>
              <a:t>https://github.com/eliott-crypto/PARALLAX/blob/main/docs/LIVE_RESEARCH_REVIEW.md</a:t>
            </a:r>
          </a:p>
          <a:p xmlns:a="http://schemas.openxmlformats.org/drawingml/2006/main">
            <a:r>
              <a:t>https://github.com/eliott-crypto/PARALLAX/blob/main/docs/RECORDED_INVESTIGATION.md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current prototype controls, not a guarantee that every source is correct or that all current company information is complete. Valuation gates require sourced amounts and dates, reject unsupported candidate references and exclude proposed rounds, SAFE caps and asking prices. Research URLs must derive from retrieved search/citation protocol sources. Private credentials remain server-side. Professional investigation uses public work records. Source history is a history of agent-assigned claim assessments and corrected interpretations, not independently audited publisher accuracy or investment returns.</a:t>
            </a:r>
          </a:p>
          <a:p xmlns:a="http://schemas.openxmlformats.org/drawingml/2006/main">
            <a:r>
              <a:t/>
            </a:r>
          </a:p>
          <a:p xmlns:a="http://schemas.openxmlformats.org/drawingml/2006/main">
            <a:r>
              <a:t>Sources:</a:t>
            </a:r>
          </a:p>
          <a:p xmlns:a="http://schemas.openxmlformats.org/drawingml/2006/main">
            <a:r>
              <a:t>https://github.com/eliott-crypto/PARALLAX/blob/main/server/boards.ts</a:t>
            </a:r>
          </a:p>
          <a:p xmlns:a="http://schemas.openxmlformats.org/drawingml/2006/main">
            <a:r>
              <a:t>https://github.com/eliott-crypto/PARALLAX/blob/main/server/claude.ts</a:t>
            </a:r>
          </a:p>
          <a:p xmlns:a="http://schemas.openxmlformats.org/drawingml/2006/main">
            <a:r>
              <a:t>https://github.com/eliott-crypto/PARALLAX/blob/main/src/lib/source-intelligence.ts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Pricing is a proposed hypothesis:299 USD per analyst per month, plus a team plan to be specified. No verified paying customers, contracted pilot funds, revenue, margin or willingness-to-pay evidence has been provided. The ask is an invitation to recruit five pilot funds. Usage limits and unit economics need measurement because long Claude investigations can be token-intensive. Success criteria are proposed pilot measures rather than achieved results. The public GitHub Pages output provides a recorded research replay. Fresh Claude execution requires the separate Node server and a private API key.</a:t>
            </a:r>
          </a:p>
          <a:p xmlns:a="http://schemas.openxmlformats.org/drawingml/2006/main">
            <a:r>
              <a:t/>
            </a:r>
          </a:p>
          <a:p xmlns:a="http://schemas.openxmlformats.org/drawingml/2006/main">
            <a:r>
              <a:t>Sources:</a:t>
            </a:r>
          </a:p>
          <a:p xmlns:a="http://schemas.openxmlformats.org/drawingml/2006/main">
            <a:r>
              <a:t>https://github.com/eliott-crypto/PARALLAX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dbdd49a8914bb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77ef2d7ef9c412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c0b341dca89467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0349c0141154a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bf91f88cfb64d1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ebd2b2e833f4d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DA0506-338A-4277-9F6A-2436FF25475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47EC114-B90D-46B3-B4C1-06D0AE93689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73D48BF-6DD5-4FA4-95B5-A802E0813CD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DA7593-BC35-4207-9625-4BDEAA575A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0EB0B5-776C-47C6-BCF2-B1086D2E7A5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1274864-5D59-4316-B4F4-7FEAC854FF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DE8D40-7584-4941-AC2D-4F8E3B68B5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39C0E94-58C5-4263-8292-FC764205B7F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C3962E-0874-435B-82CD-986B5B1EAF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3B725E-628F-4CEB-93A6-A7204B5CB6B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f2c653370f49e5" /><Relationship Type="http://schemas.openxmlformats.org/officeDocument/2006/relationships/slideLayout" Target="/ppt/slideLayouts/slideLayout1.xml" Id="R6ec9ebb854ac4bf8" /><Relationship Type="http://schemas.openxmlformats.org/officeDocument/2006/relationships/slideLayout" Target="/ppt/slideLayouts/slideLayout2.xml" Id="R6df626ecb9444581" /><Relationship Type="http://schemas.openxmlformats.org/officeDocument/2006/relationships/slideLayout" Target="/ppt/slideLayouts/slideLayout3.xml" Id="R89b357f09bb14f58" /><Relationship Type="http://schemas.openxmlformats.org/officeDocument/2006/relationships/slideLayout" Target="/ppt/slideLayouts/slideLayout4.xml" Id="Rab83ae36e89c4318" /><Relationship Type="http://schemas.openxmlformats.org/officeDocument/2006/relationships/slideLayout" Target="/ppt/slideLayouts/slideLayout5.xml" Id="R97e2c36e9df044ef" /><Relationship Type="http://schemas.openxmlformats.org/officeDocument/2006/relationships/slideLayout" Target="/ppt/slideLayouts/slideLayout6.xml" Id="Re37e3c74fcfe48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c9ebb854ac4bf8"/>
    <p:sldLayoutId xmlns:r="http://schemas.openxmlformats.org/officeDocument/2006/relationships" id="2147483650" r:id="R6df626ecb9444581"/>
    <p:sldLayoutId xmlns:r="http://schemas.openxmlformats.org/officeDocument/2006/relationships" id="2147483651" r:id="R89b357f09bb14f58"/>
    <p:sldLayoutId xmlns:r="http://schemas.openxmlformats.org/officeDocument/2006/relationships" id="2147483652" r:id="Rab83ae36e89c4318"/>
    <p:sldLayoutId xmlns:r="http://schemas.openxmlformats.org/officeDocument/2006/relationships" id="2147483653" r:id="R97e2c36e9df044ef"/>
    <p:sldLayoutId xmlns:r="http://schemas.openxmlformats.org/officeDocument/2006/relationships" id="2147483654" r:id="Re37e3c74fcfe48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55ce378dd1146de" /><Relationship Type="http://schemas.openxmlformats.org/officeDocument/2006/relationships/image" Target="/ppt/media/image.png" Id="R6b893b8ef6b64bee" /><Relationship Type="http://schemas.openxmlformats.org/officeDocument/2006/relationships/image" Target="/ppt/media/image.svg" Id="R6935e4c4e8fa4193" /><Relationship Type="http://schemas.openxmlformats.org/officeDocument/2006/relationships/hyperlink" Target="https://eliott-crypto.github.io/PARALLAX/" TargetMode="External" Id="R562e0192d8a84594" /><Relationship Type="http://schemas.openxmlformats.org/officeDocument/2006/relationships/notesSlide" Target="/ppt/notesSlides/notesSlide1.xml" Id="Rdbc4e05ff50b47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de40d7368b44416" /><Relationship Type="http://schemas.openxmlformats.org/officeDocument/2006/relationships/notesSlide" Target="/ppt/notesSlides/notesSlide2.xml" Id="R4b286049838749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f2b8bf667a74d80" /><Relationship Type="http://schemas.openxmlformats.org/officeDocument/2006/relationships/image" Target="/ppt/media/image.jpeg" Id="Rd03427d214ce45f0" /><Relationship Type="http://schemas.openxmlformats.org/officeDocument/2006/relationships/notesSlide" Target="/ppt/notesSlides/notesSlide3.xml" Id="R7b75cc0cdb224c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ea7d5dcd721451e" /><Relationship Type="http://schemas.openxmlformats.org/officeDocument/2006/relationships/image" Target="/ppt/media/image2.jpeg" Id="R861a398ce6ed4c24" /><Relationship Type="http://schemas.openxmlformats.org/officeDocument/2006/relationships/notesSlide" Target="/ppt/notesSlides/notesSlide4.xml" Id="Ra8b651d602bc4d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a9c7aa47e1b4f76" /><Relationship Type="http://schemas.openxmlformats.org/officeDocument/2006/relationships/notesSlide" Target="/ppt/notesSlides/notesSlide5.xml" Id="R78ace2903edd45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1cc9d5b184a4c12" /><Relationship Type="http://schemas.openxmlformats.org/officeDocument/2006/relationships/image" Target="/ppt/media/image3.jpeg" Id="R43afb6f0afb74d40" /><Relationship Type="http://schemas.openxmlformats.org/officeDocument/2006/relationships/notesSlide" Target="/ppt/notesSlides/notesSlide6.xml" Id="Rb4de3c91a29344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e594903d8e240fb" /><Relationship Type="http://schemas.openxmlformats.org/officeDocument/2006/relationships/notesSlide" Target="/ppt/notesSlides/notesSlide7.xml" Id="R7a9e26cc22ba45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aa5688a80a94bf3" /><Relationship Type="http://schemas.openxmlformats.org/officeDocument/2006/relationships/notesSlide" Target="/ppt/notesSlides/notesSlide8.xml" Id="Rbb0b6ed03bb34416" /></Relationships>
</file>

<file path=ppt/slides/slide1.xml><?xml version="1.0" encoding="utf-8"?>
<p:sld xmlns:p="http://schemas.openxmlformats.org/presentationml/2006/main">
  <p:cSld>
    <p:bg>
      <p:bgPr>
        <a:solidFill xmlns:a="http://schemas.openxmlformats.org/drawingml/2006/main">
          <a:srgbClr val="142330"/>
        </a:solidFill>
      </p:bgPr>
    </p:bg>
    <p:spTree>
      <p:nvGrpSpPr>
        <p:cNvPr id="1" name=""/>
        <p:cNvGrpSpPr/>
        <p:nvPr/>
      </p:nvGrpSpPr>
      <p:grpSpPr>
        <a:xfrm xmlns:a="http://schemas.openxmlformats.org/drawingml/2006/main"/>
      </p:grpSpPr>
      <p:sp>
        <p:nvSpPr>
          <p:cNvPr id="7" name="slide-number">
            <a:extLst xmlns:a="http://schemas.openxmlformats.org/drawingml/2006/main">
              <a:ext uri="{FF2B5EF4-FFF2-40B4-BE49-F238E27FC236}">
                <a16:creationId xmlns:a16="http://schemas.microsoft.com/office/drawing/2014/main" id="{FB7E23AC-5956-4EE5-B33F-D22D94466D85}"/>
              </a:ext>
            </a:extLst>
          </p:cNvPr>
          <p:cNvSpPr>
            <a:spLocks xmlns:a="http://schemas.openxmlformats.org/drawingml/2006/main" noGrp="1"/>
          </p:cNvSpPr>
          <p:nvPr/>
        </p:nvSpPr>
        <p:spPr>
          <a:xfrm xmlns:a="http://schemas.openxmlformats.org/drawingml/2006/main">
            <a:off x="11277600" y="62674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BBDCC"/>
                </a:solidFill>
                <a:latin typeface="Arial"/>
                <a:ea typeface="Arial"/>
                <a:cs typeface="Arial"/>
              </a:defRPr>
            </a:defPPr>
          </a:lstStyle>
          <a:p xmlns:a="http://schemas.openxmlformats.org/drawingml/2006/main">
            <a:pPr>
              <a:defRPr sz="1050" b="0">
                <a:solidFill>
                  <a:srgbClr val="ABBDCC"/>
                </a:solidFill>
                <a:latin typeface="Arial"/>
                <a:ea typeface="Arial"/>
                <a:cs typeface="Arial"/>
              </a:defRPr>
            </a:pPr>
            <a:r>
              <a:rPr sz="1050" b="0">
                <a:solidFill>
                  <a:srgbClr val="ABBDCC"/>
                </a:solidFill>
                <a:latin typeface="Arial"/>
                <a:ea typeface="Arial"/>
                <a:cs typeface="Arial"/>
              </a:rPr>
              <a:t>01</a:t>
            </a:r>
          </a:p>
        </p:txBody>
      </p:sp>
      <p:pic>
        <p:nvPicPr>
          <p:cNvPr id="2" name="">
            <a:extLst xmlns:a="http://schemas.openxmlformats.org/drawingml/2006/main">
              <a:ext uri="{FF2B5EF4-FFF2-40B4-BE49-F238E27FC236}">
                <a16:creationId xmlns:a16="http://schemas.microsoft.com/office/drawing/2014/main" id="{289B8414-A088-4F49-BA08-E87DBE0A66EC}"/>
              </a:ext>
            </a:extLst>
          </p:cNvPr>
          <p:cNvPicPr>
            <a:picLocks xmlns:a="http://schemas.openxmlformats.org/drawingml/2006/main" noChangeAspect="1"/>
          </p:cNvPicPr>
          <p:nvPr/>
        </p:nvPicPr>
        <p:blipFill>
          <a:blip xmlns:r="http://schemas.openxmlformats.org/officeDocument/2006/relationships" xmlns:a="http://schemas.openxmlformats.org/drawingml/2006/main" r:embed="R6b893b8ef6b64bee">
            <a:extLst>
              <a:ext uri="{96DAC541-7B7A-43D3-8B79-37D633B846F1}">
                <asvg:svgBlip xmlns:asvg="http://schemas.microsoft.com/office/drawing/2016/SVG/main" r:embed="R6935e4c4e8fa4193"/>
              </a:ext>
            </a:extLst>
          </a:blip>
          <a:stretch xmlns:a="http://schemas.openxmlformats.org/drawingml/2006/main"/>
        </p:blipFill>
        <p:spPr>
          <a:xfrm xmlns:a="http://schemas.openxmlformats.org/drawingml/2006/main">
            <a:off x="647700" y="733425"/>
            <a:ext cx="600075" cy="600075"/>
          </a:xfrm>
          <a:prstGeom xmlns:a="http://schemas.openxmlformats.org/drawingml/2006/main" prst="rect">
            <a:avLst/>
          </a:prstGeom>
        </p:spPr>
      </p:pic>
      <p:sp>
        <p:nvSpPr>
          <p:cNvPr id="3" name="wordmark">
            <a:extLst xmlns:a="http://schemas.openxmlformats.org/drawingml/2006/main">
              <a:ext uri="{FF2B5EF4-FFF2-40B4-BE49-F238E27FC236}">
                <a16:creationId xmlns:a16="http://schemas.microsoft.com/office/drawing/2014/main" id="{5C973F53-A5C2-4944-9252-89A2492580D2}"/>
              </a:ext>
            </a:extLst>
          </p:cNvPr>
          <p:cNvSpPr>
            <a:spLocks xmlns:a="http://schemas.openxmlformats.org/drawingml/2006/main" noGrp="1"/>
          </p:cNvSpPr>
          <p:nvPr/>
        </p:nvSpPr>
        <p:spPr>
          <a:xfrm xmlns:a="http://schemas.openxmlformats.org/drawingml/2006/main">
            <a:off x="1466850" y="781050"/>
            <a:ext cx="857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875" b="1">
                <a:solidFill>
                  <a:srgbClr val="F1F7FA"/>
                </a:solidFill>
                <a:latin typeface="Arial"/>
                <a:ea typeface="Arial"/>
                <a:cs typeface="Arial"/>
              </a:defRPr>
            </a:defPPr>
          </a:lstStyle>
          <a:p xmlns:a="http://schemas.openxmlformats.org/drawingml/2006/main">
            <a:pPr>
              <a:defRPr sz="4875" b="1">
                <a:solidFill>
                  <a:srgbClr val="F1F7FA"/>
                </a:solidFill>
                <a:latin typeface="Arial"/>
                <a:ea typeface="Arial"/>
                <a:cs typeface="Arial"/>
              </a:defRPr>
            </a:pPr>
            <a:r>
              <a:rPr sz="4875" b="1">
                <a:solidFill>
                  <a:srgbClr val="F1F7FA"/>
                </a:solidFill>
                <a:latin typeface="Arial"/>
                <a:ea typeface="Arial"/>
                <a:cs typeface="Arial"/>
              </a:rPr>
              <a:t>PARALLAX</a:t>
            </a:r>
          </a:p>
        </p:txBody>
      </p:sp>
      <p:sp>
        <p:nvSpPr>
          <p:cNvPr id="4" name="cover-title">
            <a:extLst xmlns:a="http://schemas.openxmlformats.org/drawingml/2006/main">
              <a:ext uri="{FF2B5EF4-FFF2-40B4-BE49-F238E27FC236}">
                <a16:creationId xmlns:a16="http://schemas.microsoft.com/office/drawing/2014/main" id="{166EB8D3-4789-4A44-884D-A5C05CC91519}"/>
              </a:ext>
            </a:extLst>
          </p:cNvPr>
          <p:cNvSpPr>
            <a:spLocks xmlns:a="http://schemas.openxmlformats.org/drawingml/2006/main" noGrp="1"/>
          </p:cNvSpPr>
          <p:nvPr/>
        </p:nvSpPr>
        <p:spPr>
          <a:xfrm xmlns:a="http://schemas.openxmlformats.org/drawingml/2006/main">
            <a:off x="647700" y="2181225"/>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400" b="0">
                <a:solidFill>
                  <a:srgbClr val="F1F7FA"/>
                </a:solidFill>
                <a:latin typeface="Arial"/>
                <a:ea typeface="Arial"/>
                <a:cs typeface="Arial"/>
              </a:defRPr>
            </a:defPPr>
          </a:lstStyle>
          <a:p xmlns:a="http://schemas.openxmlformats.org/drawingml/2006/main">
            <a:pPr>
              <a:defRPr sz="5400" b="0">
                <a:solidFill>
                  <a:srgbClr val="F1F7FA"/>
                </a:solidFill>
                <a:latin typeface="Arial"/>
                <a:ea typeface="Arial"/>
                <a:cs typeface="Arial"/>
              </a:defRPr>
            </a:pPr>
            <a:r>
              <a:rPr sz="5400" b="0">
                <a:solidFill>
                  <a:srgbClr val="F1F7FA"/>
                </a:solidFill>
                <a:latin typeface="Arial"/>
                <a:ea typeface="Arial"/>
                <a:cs typeface="Arial"/>
              </a:rPr>
              <a:t>The next company</a:t>
            </a:r>
          </a:p>
          <a:p xmlns:a="http://schemas.openxmlformats.org/drawingml/2006/main">
            <a:pPr>
              <a:defRPr sz="5400" b="0">
                <a:solidFill>
                  <a:srgbClr val="F1F7FA"/>
                </a:solidFill>
                <a:latin typeface="Arial"/>
                <a:ea typeface="Arial"/>
                <a:cs typeface="Arial"/>
              </a:defRPr>
            </a:pPr>
            <a:r>
              <a:rPr sz="5400" b="0">
                <a:solidFill>
                  <a:srgbClr val="F1F7FA"/>
                </a:solidFill>
                <a:latin typeface="Arial"/>
                <a:ea typeface="Arial"/>
                <a:cs typeface="Arial"/>
              </a:rPr>
              <a:t>worth your conviction</a:t>
            </a:r>
          </a:p>
        </p:txBody>
      </p:sp>
      <p:sp>
        <p:nvSpPr>
          <p:cNvPr id="5" name="cover-description">
            <a:extLst xmlns:a="http://schemas.openxmlformats.org/drawingml/2006/main">
              <a:ext uri="{FF2B5EF4-FFF2-40B4-BE49-F238E27FC236}">
                <a16:creationId xmlns:a16="http://schemas.microsoft.com/office/drawing/2014/main" id="{4EB00118-F598-434F-8ABC-776F7015D691}"/>
              </a:ext>
            </a:extLst>
          </p:cNvPr>
          <p:cNvSpPr>
            <a:spLocks xmlns:a="http://schemas.openxmlformats.org/drawingml/2006/main" noGrp="1"/>
          </p:cNvSpPr>
          <p:nvPr/>
        </p:nvSpPr>
        <p:spPr>
          <a:xfrm xmlns:a="http://schemas.openxmlformats.org/drawingml/2006/main">
            <a:off x="685800" y="45434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B4E7DD"/>
                </a:solidFill>
                <a:latin typeface="Arial"/>
                <a:ea typeface="Arial"/>
                <a:cs typeface="Arial"/>
              </a:defRPr>
            </a:defPPr>
          </a:lstStyle>
          <a:p xmlns:a="http://schemas.openxmlformats.org/drawingml/2006/main">
            <a:pPr>
              <a:defRPr sz="2325" b="0">
                <a:solidFill>
                  <a:srgbClr val="B4E7DD"/>
                </a:solidFill>
                <a:latin typeface="Arial"/>
                <a:ea typeface="Arial"/>
                <a:cs typeface="Arial"/>
              </a:defRPr>
            </a:pPr>
            <a:r>
              <a:rPr sz="2325" b="0">
                <a:solidFill>
                  <a:srgbClr val="B4E7DD"/>
                </a:solidFill>
                <a:latin typeface="Arial"/>
                <a:ea typeface="Arial"/>
                <a:cs typeface="Arial"/>
              </a:rPr>
              <a:t>Claude research teams for venture investors</a:t>
            </a:r>
          </a:p>
        </p:txBody>
      </p:sp>
      <p:sp>
        <p:nvSpPr>
          <p:cNvPr id="6" name="cover-link">
            <a:extLst xmlns:a="http://schemas.openxmlformats.org/drawingml/2006/main">
              <a:ext uri="{FF2B5EF4-FFF2-40B4-BE49-F238E27FC236}">
                <a16:creationId xmlns:a16="http://schemas.microsoft.com/office/drawing/2014/main" id="{7392F52F-A46B-4464-8F6D-3F9E66BB0264}"/>
              </a:ext>
            </a:extLst>
          </p:cNvPr>
          <p:cNvSpPr>
            <a:spLocks xmlns:a="http://schemas.openxmlformats.org/drawingml/2006/main" noGrp="1"/>
          </p:cNvSpPr>
          <p:nvPr/>
        </p:nvSpPr>
        <p:spPr>
          <a:xfrm xmlns:a="http://schemas.openxmlformats.org/drawingml/2006/main">
            <a:off x="685800" y="6096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ABBDCC"/>
                </a:solidFill>
                <a:latin typeface="Arial"/>
                <a:ea typeface="Arial"/>
                <a:cs typeface="Arial"/>
              </a:defRPr>
            </a:defPPr>
          </a:lstStyle>
          <a:p xmlns:a="http://schemas.openxmlformats.org/drawingml/2006/main">
            <a:pPr>
              <a:defRPr sz="1350" b="0">
                <a:solidFill>
                  <a:srgbClr val="ABBDCC"/>
                </a:solidFill>
                <a:latin typeface="Arial"/>
                <a:ea typeface="Arial"/>
                <a:cs typeface="Arial"/>
              </a:defRPr>
            </a:pPr>
            <a:r>
              <a:rPr sz="1350" b="0">
                <a:solidFill>
                  <a:srgbClr val="ABBDCC"/>
                </a:solidFill>
                <a:latin typeface="Arial"/>
                <a:ea typeface="Arial"/>
                <a:cs typeface="Arial"/>
                <a:hlinkClick xmlns:r="http://schemas.openxmlformats.org/officeDocument/2006/relationships" r:id="R562e0192d8a84594"/>
              </a:rPr>
              <a:t>eliott-crypto.github.io/PARALLAX</a:t>
            </a:r>
          </a:p>
        </p:txBody>
      </p:sp>
    </p:spTree>
    <p:extLst>
      <p:ext uri="{BB962C8B-B14F-4D97-AF65-F5344CB8AC3E}">
        <p14:creationId xmlns:p14="http://schemas.microsoft.com/office/powerpoint/2010/main" val="522328440"/>
      </p:ext>
    </p:extLst>
  </p:cSld>
</p:sld>
</file>

<file path=ppt/slides/slide2.xml><?xml version="1.0" encoding="utf-8"?>
<p:sld xmlns:p="http://schemas.openxmlformats.org/presentationml/2006/main">
  <p:cSld>
    <p:bg>
      <p:bgPr>
        <a:solidFill xmlns:a="http://schemas.openxmlformats.org/drawingml/2006/main">
          <a:srgbClr val="142330"/>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1D383CDA-6B29-48AC-97BA-A6BB04BD0F04}"/>
              </a:ext>
            </a:extLst>
          </p:cNvPr>
          <p:cNvSpPr>
            <a:spLocks xmlns:a="http://schemas.openxmlformats.org/drawingml/2006/main" noGrp="1"/>
          </p:cNvSpPr>
          <p:nvPr/>
        </p:nvSpPr>
        <p:spPr>
          <a:xfrm xmlns:a="http://schemas.openxmlformats.org/drawingml/2006/main">
            <a:off x="11277600" y="62674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BBDCC"/>
                </a:solidFill>
                <a:latin typeface="Arial"/>
                <a:ea typeface="Arial"/>
                <a:cs typeface="Arial"/>
              </a:defRPr>
            </a:defPPr>
          </a:lstStyle>
          <a:p xmlns:a="http://schemas.openxmlformats.org/drawingml/2006/main">
            <a:pPr>
              <a:defRPr sz="1050" b="0">
                <a:solidFill>
                  <a:srgbClr val="ABBDCC"/>
                </a:solidFill>
                <a:latin typeface="Arial"/>
                <a:ea typeface="Arial"/>
                <a:cs typeface="Arial"/>
              </a:defRPr>
            </a:pPr>
            <a:r>
              <a:rPr sz="1050" b="0">
                <a:solidFill>
                  <a:srgbClr val="ABBDCC"/>
                </a:solidFill>
                <a:latin typeface="Arial"/>
                <a:ea typeface="Arial"/>
                <a:cs typeface="Arial"/>
              </a:rPr>
              <a:t>02</a:t>
            </a:r>
          </a:p>
        </p:txBody>
      </p:sp>
      <p:sp>
        <p:nvSpPr>
          <p:cNvPr id="2" name="slide-title">
            <a:extLst xmlns:a="http://schemas.openxmlformats.org/drawingml/2006/main">
              <a:ext uri="{FF2B5EF4-FFF2-40B4-BE49-F238E27FC236}">
                <a16:creationId xmlns:a16="http://schemas.microsoft.com/office/drawing/2014/main" id="{03F7149A-B285-4F7E-96B4-31A29D490D69}"/>
              </a:ext>
            </a:extLst>
          </p:cNvPr>
          <p:cNvSpPr>
            <a:spLocks xmlns:a="http://schemas.openxmlformats.org/drawingml/2006/main" noGrp="1"/>
          </p:cNvSpPr>
          <p:nvPr/>
        </p:nvSpPr>
        <p:spPr>
          <a:xfrm xmlns:a="http://schemas.openxmlformats.org/drawingml/2006/main">
            <a:off x="6096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0">
                <a:solidFill>
                  <a:srgbClr val="F1F7FA"/>
                </a:solidFill>
                <a:latin typeface="Arial"/>
                <a:ea typeface="Arial"/>
                <a:cs typeface="Arial"/>
              </a:defRPr>
            </a:defPPr>
          </a:lstStyle>
          <a:p xmlns:a="http://schemas.openxmlformats.org/drawingml/2006/main">
            <a:pPr>
              <a:defRPr sz="3450" b="0">
                <a:solidFill>
                  <a:srgbClr val="F1F7FA"/>
                </a:solidFill>
                <a:latin typeface="Arial"/>
                <a:ea typeface="Arial"/>
                <a:cs typeface="Arial"/>
              </a:defRPr>
            </a:pPr>
            <a:r>
              <a:rPr sz="3450" b="0">
                <a:solidFill>
                  <a:srgbClr val="F1F7FA"/>
                </a:solidFill>
                <a:latin typeface="Arial"/>
                <a:ea typeface="Arial"/>
                <a:cs typeface="Arial"/>
              </a:rPr>
              <a:t>Business: the next diligence call</a:t>
            </a:r>
          </a:p>
        </p:txBody>
      </p:sp>
      <p:sp>
        <p:nvSpPr>
          <p:cNvPr id="3" name="customer-label">
            <a:extLst xmlns:a="http://schemas.openxmlformats.org/drawingml/2006/main">
              <a:ext uri="{FF2B5EF4-FFF2-40B4-BE49-F238E27FC236}">
                <a16:creationId xmlns:a16="http://schemas.microsoft.com/office/drawing/2014/main" id="{05629D19-B623-4E98-B115-96AD05EB5AAC}"/>
              </a:ext>
            </a:extLst>
          </p:cNvPr>
          <p:cNvSpPr>
            <a:spLocks xmlns:a="http://schemas.openxmlformats.org/drawingml/2006/main" noGrp="1"/>
          </p:cNvSpPr>
          <p:nvPr/>
        </p:nvSpPr>
        <p:spPr>
          <a:xfrm xmlns:a="http://schemas.openxmlformats.org/drawingml/2006/main">
            <a:off x="628650" y="17049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1">
                <a:solidFill>
                  <a:srgbClr val="C6B6F3"/>
                </a:solidFill>
                <a:latin typeface="Arial"/>
                <a:ea typeface="Arial"/>
                <a:cs typeface="Arial"/>
              </a:defRPr>
            </a:defPPr>
          </a:lstStyle>
          <a:p xmlns:a="http://schemas.openxmlformats.org/drawingml/2006/main">
            <a:pPr>
              <a:defRPr sz="1425" b="1">
                <a:solidFill>
                  <a:srgbClr val="C6B6F3"/>
                </a:solidFill>
                <a:latin typeface="Arial"/>
                <a:ea typeface="Arial"/>
                <a:cs typeface="Arial"/>
              </a:defRPr>
            </a:pPr>
            <a:r>
              <a:rPr sz="1425" b="1">
                <a:solidFill>
                  <a:srgbClr val="C6B6F3"/>
                </a:solidFill>
                <a:latin typeface="Arial"/>
                <a:ea typeface="Arial"/>
                <a:cs typeface="Arial"/>
              </a:rPr>
              <a:t>CUSTOMER HYPOTHESIS</a:t>
            </a:r>
          </a:p>
        </p:txBody>
      </p:sp>
      <p:sp>
        <p:nvSpPr>
          <p:cNvPr id="4" name="customer">
            <a:extLst xmlns:a="http://schemas.openxmlformats.org/drawingml/2006/main">
              <a:ext uri="{FF2B5EF4-FFF2-40B4-BE49-F238E27FC236}">
                <a16:creationId xmlns:a16="http://schemas.microsoft.com/office/drawing/2014/main" id="{FA86D496-1CF0-463A-8EDE-A8184715495F}"/>
              </a:ext>
            </a:extLst>
          </p:cNvPr>
          <p:cNvSpPr>
            <a:spLocks xmlns:a="http://schemas.openxmlformats.org/drawingml/2006/main" noGrp="1"/>
          </p:cNvSpPr>
          <p:nvPr/>
        </p:nvSpPr>
        <p:spPr>
          <a:xfrm xmlns:a="http://schemas.openxmlformats.org/drawingml/2006/main">
            <a:off x="609600" y="2276475"/>
            <a:ext cx="5905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75" b="0">
                <a:solidFill>
                  <a:srgbClr val="F1F7FA"/>
                </a:solidFill>
                <a:latin typeface="Arial"/>
                <a:ea typeface="Arial"/>
                <a:cs typeface="Arial"/>
              </a:defRPr>
            </a:defPPr>
          </a:lstStyle>
          <a:p xmlns:a="http://schemas.openxmlformats.org/drawingml/2006/main">
            <a:pPr>
              <a:defRPr sz="3375" b="0">
                <a:solidFill>
                  <a:srgbClr val="F1F7FA"/>
                </a:solidFill>
                <a:latin typeface="Arial"/>
                <a:ea typeface="Arial"/>
                <a:cs typeface="Arial"/>
              </a:defRPr>
            </a:pPr>
            <a:r>
              <a:rPr sz="3375" b="0">
                <a:solidFill>
                  <a:srgbClr val="F1F7FA"/>
                </a:solidFill>
                <a:latin typeface="Arial"/>
                <a:ea typeface="Arial"/>
                <a:cs typeface="Arial"/>
              </a:rPr>
              <a:t>Emerging venture funds</a:t>
            </a:r>
          </a:p>
          <a:p xmlns:a="http://schemas.openxmlformats.org/drawingml/2006/main">
            <a:pPr>
              <a:defRPr sz="3375" b="0">
                <a:solidFill>
                  <a:srgbClr val="F1F7FA"/>
                </a:solidFill>
                <a:latin typeface="Arial"/>
                <a:ea typeface="Arial"/>
                <a:cs typeface="Arial"/>
              </a:defRPr>
            </a:pPr>
            <a:r>
              <a:rPr sz="3375" b="0">
                <a:solidFill>
                  <a:srgbClr val="F1F7FA"/>
                </a:solidFill>
                <a:latin typeface="Arial"/>
                <a:ea typeface="Arial"/>
                <a:cs typeface="Arial"/>
              </a:rPr>
              <a:t>and angel investors</a:t>
            </a:r>
          </a:p>
        </p:txBody>
      </p:sp>
      <p:sp>
        <p:nvSpPr>
          <p:cNvPr id="5" name="customer-job">
            <a:extLst xmlns:a="http://schemas.openxmlformats.org/drawingml/2006/main">
              <a:ext uri="{FF2B5EF4-FFF2-40B4-BE49-F238E27FC236}">
                <a16:creationId xmlns:a16="http://schemas.microsoft.com/office/drawing/2014/main" id="{D2CD3FD2-A7C4-4954-A2C5-0CF47A543E4B}"/>
              </a:ext>
            </a:extLst>
          </p:cNvPr>
          <p:cNvSpPr>
            <a:spLocks xmlns:a="http://schemas.openxmlformats.org/drawingml/2006/main" noGrp="1"/>
          </p:cNvSpPr>
          <p:nvPr/>
        </p:nvSpPr>
        <p:spPr>
          <a:xfrm xmlns:a="http://schemas.openxmlformats.org/drawingml/2006/main">
            <a:off x="638175" y="4219575"/>
            <a:ext cx="6381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ABBDCC"/>
                </a:solidFill>
                <a:latin typeface="Arial"/>
                <a:ea typeface="Arial"/>
                <a:cs typeface="Arial"/>
              </a:defRPr>
            </a:defPPr>
          </a:lstStyle>
          <a:p xmlns:a="http://schemas.openxmlformats.org/drawingml/2006/main">
            <a:pPr>
              <a:defRPr sz="2100" b="0">
                <a:solidFill>
                  <a:srgbClr val="ABBDCC"/>
                </a:solidFill>
                <a:latin typeface="Arial"/>
                <a:ea typeface="Arial"/>
                <a:cs typeface="Arial"/>
              </a:defRPr>
            </a:pPr>
            <a:r>
              <a:rPr sz="2100" b="0">
                <a:solidFill>
                  <a:srgbClr val="ABBDCC"/>
                </a:solidFill>
                <a:latin typeface="Arial"/>
                <a:ea typeface="Arial"/>
                <a:cs typeface="Arial"/>
              </a:rPr>
              <a:t>An investor has a market thesis.</a:t>
            </a:r>
          </a:p>
          <a:p xmlns:a="http://schemas.openxmlformats.org/drawingml/2006/main">
            <a:pPr>
              <a:defRPr sz="2100" b="0">
                <a:solidFill>
                  <a:srgbClr val="ABBDCC"/>
                </a:solidFill>
                <a:latin typeface="Arial"/>
                <a:ea typeface="Arial"/>
                <a:cs typeface="Arial"/>
              </a:defRPr>
            </a:pPr>
            <a:r>
              <a:rPr sz="2100" b="0">
                <a:solidFill>
                  <a:srgbClr val="ABBDCC"/>
                </a:solidFill>
                <a:latin typeface="Arial"/>
                <a:ea typeface="Arial"/>
                <a:cs typeface="Arial"/>
              </a:rPr>
              <a:t>The hard choice is where to spend</a:t>
            </a:r>
          </a:p>
          <a:p xmlns:a="http://schemas.openxmlformats.org/drawingml/2006/main">
            <a:pPr>
              <a:defRPr sz="2100" b="0">
                <a:solidFill>
                  <a:srgbClr val="ABBDCC"/>
                </a:solidFill>
                <a:latin typeface="Arial"/>
                <a:ea typeface="Arial"/>
                <a:cs typeface="Arial"/>
              </a:defRPr>
            </a:pPr>
            <a:r>
              <a:rPr sz="2100" b="0">
                <a:solidFill>
                  <a:srgbClr val="ABBDCC"/>
                </a:solidFill>
                <a:latin typeface="Arial"/>
                <a:ea typeface="Arial"/>
                <a:cs typeface="Arial"/>
              </a:rPr>
              <a:t>the next hour of diligence.</a:t>
            </a:r>
          </a:p>
        </p:txBody>
      </p:sp>
      <p:sp>
        <p:nvSpPr>
          <p:cNvPr id="6" name="decision">
            <a:extLst xmlns:a="http://schemas.openxmlformats.org/drawingml/2006/main">
              <a:ext uri="{FF2B5EF4-FFF2-40B4-BE49-F238E27FC236}">
                <a16:creationId xmlns:a16="http://schemas.microsoft.com/office/drawing/2014/main" id="{858C81E7-66AB-4619-BBF9-6A6441A35629}"/>
              </a:ext>
            </a:extLst>
          </p:cNvPr>
          <p:cNvSpPr>
            <a:spLocks xmlns:a="http://schemas.openxmlformats.org/drawingml/2006/main" noGrp="1"/>
          </p:cNvSpPr>
          <p:nvPr/>
        </p:nvSpPr>
        <p:spPr>
          <a:xfrm xmlns:a="http://schemas.openxmlformats.org/drawingml/2006/main">
            <a:off x="7667625" y="2276475"/>
            <a:ext cx="3857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75" b="0">
                <a:solidFill>
                  <a:srgbClr val="B4E7DD"/>
                </a:solidFill>
                <a:latin typeface="Arial"/>
                <a:ea typeface="Arial"/>
                <a:cs typeface="Arial"/>
              </a:defRPr>
            </a:defPPr>
          </a:lstStyle>
          <a:p xmlns:a="http://schemas.openxmlformats.org/drawingml/2006/main">
            <a:pPr>
              <a:defRPr sz="3075" b="0">
                <a:solidFill>
                  <a:srgbClr val="B4E7DD"/>
                </a:solidFill>
                <a:latin typeface="Arial"/>
                <a:ea typeface="Arial"/>
                <a:cs typeface="Arial"/>
              </a:defRPr>
            </a:pPr>
            <a:r>
              <a:rPr sz="3075" b="0">
                <a:solidFill>
                  <a:srgbClr val="B4E7DD"/>
                </a:solidFill>
                <a:latin typeface="Arial"/>
                <a:ea typeface="Arial"/>
                <a:cs typeface="Arial"/>
              </a:rPr>
              <a:t>Which company</a:t>
            </a:r>
          </a:p>
          <a:p xmlns:a="http://schemas.openxmlformats.org/drawingml/2006/main">
            <a:pPr>
              <a:defRPr sz="3075" b="0">
                <a:solidFill>
                  <a:srgbClr val="B4E7DD"/>
                </a:solidFill>
                <a:latin typeface="Arial"/>
                <a:ea typeface="Arial"/>
                <a:cs typeface="Arial"/>
              </a:defRPr>
            </a:pPr>
            <a:r>
              <a:rPr sz="3075" b="0">
                <a:solidFill>
                  <a:srgbClr val="B4E7DD"/>
                </a:solidFill>
                <a:latin typeface="Arial"/>
                <a:ea typeface="Arial"/>
                <a:cs typeface="Arial"/>
              </a:rPr>
              <a:t>benefits now?</a:t>
            </a:r>
          </a:p>
        </p:txBody>
      </p:sp>
      <p:sp>
        <p:nvSpPr>
          <p:cNvPr id="7" name="decision-risk">
            <a:extLst xmlns:a="http://schemas.openxmlformats.org/drawingml/2006/main">
              <a:ext uri="{FF2B5EF4-FFF2-40B4-BE49-F238E27FC236}">
                <a16:creationId xmlns:a16="http://schemas.microsoft.com/office/drawing/2014/main" id="{9F387E44-0711-469B-B748-99E1D10845E9}"/>
              </a:ext>
            </a:extLst>
          </p:cNvPr>
          <p:cNvSpPr>
            <a:spLocks xmlns:a="http://schemas.openxmlformats.org/drawingml/2006/main" noGrp="1"/>
          </p:cNvSpPr>
          <p:nvPr/>
        </p:nvSpPr>
        <p:spPr>
          <a:xfrm xmlns:a="http://schemas.openxmlformats.org/drawingml/2006/main">
            <a:off x="7667625" y="4010025"/>
            <a:ext cx="38576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0">
                <a:solidFill>
                  <a:srgbClr val="C6B6F3"/>
                </a:solidFill>
                <a:latin typeface="Arial"/>
                <a:ea typeface="Arial"/>
                <a:cs typeface="Arial"/>
              </a:defRPr>
            </a:defPPr>
          </a:lstStyle>
          <a:p xmlns:a="http://schemas.openxmlformats.org/drawingml/2006/main">
            <a:pPr>
              <a:defRPr sz="2925" b="0">
                <a:solidFill>
                  <a:srgbClr val="C6B6F3"/>
                </a:solidFill>
                <a:latin typeface="Arial"/>
                <a:ea typeface="Arial"/>
                <a:cs typeface="Arial"/>
              </a:defRPr>
            </a:pPr>
            <a:r>
              <a:rPr sz="2925" b="0">
                <a:solidFill>
                  <a:srgbClr val="C6B6F3"/>
                </a:solidFill>
                <a:latin typeface="Arial"/>
                <a:ea typeface="Arial"/>
                <a:cs typeface="Arial"/>
              </a:rPr>
              <a:t>What evidence</a:t>
            </a:r>
          </a:p>
          <a:p xmlns:a="http://schemas.openxmlformats.org/drawingml/2006/main">
            <a:pPr>
              <a:defRPr sz="2925" b="0">
                <a:solidFill>
                  <a:srgbClr val="C6B6F3"/>
                </a:solidFill>
                <a:latin typeface="Arial"/>
                <a:ea typeface="Arial"/>
                <a:cs typeface="Arial"/>
              </a:defRPr>
            </a:pPr>
            <a:r>
              <a:rPr sz="2925" b="0">
                <a:solidFill>
                  <a:srgbClr val="C6B6F3"/>
                </a:solidFill>
                <a:latin typeface="Arial"/>
                <a:ea typeface="Arial"/>
                <a:cs typeface="Arial"/>
              </a:rPr>
              <a:t>could change</a:t>
            </a:r>
          </a:p>
          <a:p xmlns:a="http://schemas.openxmlformats.org/drawingml/2006/main">
            <a:pPr>
              <a:defRPr sz="2925" b="0">
                <a:solidFill>
                  <a:srgbClr val="C6B6F3"/>
                </a:solidFill>
                <a:latin typeface="Arial"/>
                <a:ea typeface="Arial"/>
                <a:cs typeface="Arial"/>
              </a:defRPr>
            </a:pPr>
            <a:r>
              <a:rPr sz="2925" b="0">
                <a:solidFill>
                  <a:srgbClr val="C6B6F3"/>
                </a:solidFill>
                <a:latin typeface="Arial"/>
                <a:ea typeface="Arial"/>
                <a:cs typeface="Arial"/>
              </a:rPr>
              <a:t>our minds?</a:t>
            </a:r>
          </a:p>
        </p:txBody>
      </p:sp>
    </p:spTree>
    <p:extLst>
      <p:ext uri="{BB962C8B-B14F-4D97-AF65-F5344CB8AC3E}">
        <p14:creationId xmlns:p14="http://schemas.microsoft.com/office/powerpoint/2010/main" val="2090798616"/>
      </p:ext>
    </p:extLst>
  </p:cSld>
</p:sld>
</file>

<file path=ppt/slides/slide3.xml><?xml version="1.0" encoding="utf-8"?>
<p:sld xmlns:p="http://schemas.openxmlformats.org/presentationml/2006/main">
  <p:cSld>
    <p:bg>
      <p:bgPr>
        <a:solidFill xmlns:a="http://schemas.openxmlformats.org/drawingml/2006/main">
          <a:srgbClr val="142330"/>
        </a:solidFill>
      </p:bgPr>
    </p:bg>
    <p:spTree>
      <p:nvGrpSpPr>
        <p:cNvPr id="1" name=""/>
        <p:cNvGrpSpPr/>
        <p:nvPr/>
      </p:nvGrpSpPr>
      <p:grpSpPr>
        <a:xfrm xmlns:a="http://schemas.openxmlformats.org/drawingml/2006/main"/>
      </p:grpSpPr>
      <p:sp>
        <p:nvSpPr>
          <p:cNvPr id="5" name="slide-number">
            <a:extLst xmlns:a="http://schemas.openxmlformats.org/drawingml/2006/main">
              <a:ext uri="{FF2B5EF4-FFF2-40B4-BE49-F238E27FC236}">
                <a16:creationId xmlns:a16="http://schemas.microsoft.com/office/drawing/2014/main" id="{07A95A5B-09EE-4CBC-B3A6-53DBD47A3551}"/>
              </a:ext>
            </a:extLst>
          </p:cNvPr>
          <p:cNvSpPr>
            <a:spLocks xmlns:a="http://schemas.openxmlformats.org/drawingml/2006/main" noGrp="1"/>
          </p:cNvSpPr>
          <p:nvPr/>
        </p:nvSpPr>
        <p:spPr>
          <a:xfrm xmlns:a="http://schemas.openxmlformats.org/drawingml/2006/main">
            <a:off x="11277600" y="62674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BBDCC"/>
                </a:solidFill>
                <a:latin typeface="Arial"/>
                <a:ea typeface="Arial"/>
                <a:cs typeface="Arial"/>
              </a:defRPr>
            </a:defPPr>
          </a:lstStyle>
          <a:p xmlns:a="http://schemas.openxmlformats.org/drawingml/2006/main">
            <a:pPr>
              <a:defRPr sz="1050" b="0">
                <a:solidFill>
                  <a:srgbClr val="ABBDCC"/>
                </a:solidFill>
                <a:latin typeface="Arial"/>
                <a:ea typeface="Arial"/>
                <a:cs typeface="Arial"/>
              </a:defRPr>
            </a:pPr>
            <a:r>
              <a:rPr sz="1050" b="0">
                <a:solidFill>
                  <a:srgbClr val="ABBDCC"/>
                </a:solidFill>
                <a:latin typeface="Arial"/>
                <a:ea typeface="Arial"/>
                <a:cs typeface="Arial"/>
              </a:rPr>
              <a:t>03</a:t>
            </a:r>
          </a:p>
        </p:txBody>
      </p:sp>
      <p:sp>
        <p:nvSpPr>
          <p:cNvPr id="2" name="slide-title">
            <a:extLst xmlns:a="http://schemas.openxmlformats.org/drawingml/2006/main">
              <a:ext uri="{FF2B5EF4-FFF2-40B4-BE49-F238E27FC236}">
                <a16:creationId xmlns:a16="http://schemas.microsoft.com/office/drawing/2014/main" id="{B3574912-6C40-499D-91CC-3AEAA5B9E89B}"/>
              </a:ext>
            </a:extLst>
          </p:cNvPr>
          <p:cNvSpPr>
            <a:spLocks xmlns:a="http://schemas.openxmlformats.org/drawingml/2006/main" noGrp="1"/>
          </p:cNvSpPr>
          <p:nvPr/>
        </p:nvSpPr>
        <p:spPr>
          <a:xfrm xmlns:a="http://schemas.openxmlformats.org/drawingml/2006/main">
            <a:off x="6096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0">
                <a:solidFill>
                  <a:srgbClr val="F1F7FA"/>
                </a:solidFill>
                <a:latin typeface="Arial"/>
                <a:ea typeface="Arial"/>
                <a:cs typeface="Arial"/>
              </a:defRPr>
            </a:defPPr>
          </a:lstStyle>
          <a:p xmlns:a="http://schemas.openxmlformats.org/drawingml/2006/main">
            <a:pPr>
              <a:defRPr sz="3450" b="0">
                <a:solidFill>
                  <a:srgbClr val="F1F7FA"/>
                </a:solidFill>
                <a:latin typeface="Arial"/>
                <a:ea typeface="Arial"/>
                <a:cs typeface="Arial"/>
              </a:defRPr>
            </a:pPr>
            <a:r>
              <a:rPr sz="3450" b="0">
                <a:solidFill>
                  <a:srgbClr val="F1F7FA"/>
                </a:solidFill>
                <a:latin typeface="Arial"/>
                <a:ea typeface="Arial"/>
                <a:cs typeface="Arial"/>
              </a:rPr>
              <a:t>Real output: a Top 5 you can investigate</a:t>
            </a:r>
          </a:p>
        </p:txBody>
      </p:sp>
      <p:pic>
        <p:nvPicPr>
          <p:cNvPr id="3" name="">
            <a:extLst xmlns:a="http://schemas.openxmlformats.org/drawingml/2006/main">
              <a:ext uri="{FF2B5EF4-FFF2-40B4-BE49-F238E27FC236}">
                <a16:creationId xmlns:a16="http://schemas.microsoft.com/office/drawing/2014/main" id="{93AC20C6-744A-4C46-98D9-55F7F03C628D}"/>
              </a:ext>
            </a:extLst>
          </p:cNvPr>
          <p:cNvPicPr>
            <a:picLocks xmlns:a="http://schemas.openxmlformats.org/drawingml/2006/main" noChangeAspect="1"/>
          </p:cNvPicPr>
          <p:nvPr/>
        </p:nvPicPr>
        <p:blipFill>
          <a:blip xmlns:r="http://schemas.openxmlformats.org/officeDocument/2006/relationships" xmlns:a="http://schemas.openxmlformats.org/drawingml/2006/main" r:embed="Rd03427d214ce45f0"/>
          <a:stretch xmlns:a="http://schemas.openxmlformats.org/drawingml/2006/main"/>
        </p:blipFill>
        <p:spPr>
          <a:xfrm xmlns:a="http://schemas.openxmlformats.org/drawingml/2006/main">
            <a:off x="2914840" y="1409700"/>
            <a:ext cx="6362321" cy="4667250"/>
          </a:xfrm>
          <a:prstGeom xmlns:a="http://schemas.openxmlformats.org/drawingml/2006/main" prst="rect">
            <a:avLst/>
          </a:prstGeom>
        </p:spPr>
      </p:pic>
      <p:sp>
        <p:nvSpPr>
          <p:cNvPr id="4" name="product-caption">
            <a:extLst xmlns:a="http://schemas.openxmlformats.org/drawingml/2006/main">
              <a:ext uri="{FF2B5EF4-FFF2-40B4-BE49-F238E27FC236}">
                <a16:creationId xmlns:a16="http://schemas.microsoft.com/office/drawing/2014/main" id="{EAC3C956-FBA5-4F93-8C19-42FCE30BE34D}"/>
              </a:ext>
            </a:extLst>
          </p:cNvPr>
          <p:cNvSpPr>
            <a:spLocks xmlns:a="http://schemas.openxmlformats.org/drawingml/2006/main" noGrp="1"/>
          </p:cNvSpPr>
          <p:nvPr/>
        </p:nvSpPr>
        <p:spPr>
          <a:xfrm xmlns:a="http://schemas.openxmlformats.org/drawingml/2006/main">
            <a:off x="609600" y="6238875"/>
            <a:ext cx="10906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B4E7DD"/>
                </a:solidFill>
                <a:latin typeface="Arial"/>
                <a:ea typeface="Arial"/>
                <a:cs typeface="Arial"/>
              </a:defRPr>
            </a:defPPr>
          </a:lstStyle>
          <a:p xmlns:a="http://schemas.openxmlformats.org/drawingml/2006/main">
            <a:pPr>
              <a:defRPr sz="1500" b="0">
                <a:solidFill>
                  <a:srgbClr val="B4E7DD"/>
                </a:solidFill>
                <a:latin typeface="Arial"/>
                <a:ea typeface="Arial"/>
                <a:cs typeface="Arial"/>
              </a:defRPr>
            </a:pPr>
            <a:r>
              <a:rPr sz="1500" b="0">
                <a:solidFill>
                  <a:srgbClr val="B4E7DD"/>
                </a:solidFill>
                <a:latin typeface="Arial"/>
                <a:ea typeface="Arial"/>
                <a:cs typeface="Arial"/>
              </a:rPr>
              <a:t>Four companies at $100M or below. Click a company for its evidence and what could break the thesis.</a:t>
            </a:r>
          </a:p>
        </p:txBody>
      </p:sp>
    </p:spTree>
    <p:extLst>
      <p:ext uri="{BB962C8B-B14F-4D97-AF65-F5344CB8AC3E}">
        <p14:creationId xmlns:p14="http://schemas.microsoft.com/office/powerpoint/2010/main" val="791619224"/>
      </p:ext>
    </p:extLst>
  </p:cSld>
</p:sld>
</file>

<file path=ppt/slides/slide4.xml><?xml version="1.0" encoding="utf-8"?>
<p:sld xmlns:p="http://schemas.openxmlformats.org/presentationml/2006/main">
  <p:cSld>
    <p:bg>
      <p:bgPr>
        <a:solidFill xmlns:a="http://schemas.openxmlformats.org/drawingml/2006/main">
          <a:srgbClr val="142330"/>
        </a:solidFill>
      </p:bgPr>
    </p:bg>
    <p:spTree>
      <p:nvGrpSpPr>
        <p:cNvPr id="1" name=""/>
        <p:cNvGrpSpPr/>
        <p:nvPr/>
      </p:nvGrpSpPr>
      <p:grpSpPr>
        <a:xfrm xmlns:a="http://schemas.openxmlformats.org/drawingml/2006/main"/>
      </p:grpSpPr>
      <p:sp>
        <p:nvSpPr>
          <p:cNvPr id="5" name="slide-number">
            <a:extLst xmlns:a="http://schemas.openxmlformats.org/drawingml/2006/main">
              <a:ext uri="{FF2B5EF4-FFF2-40B4-BE49-F238E27FC236}">
                <a16:creationId xmlns:a16="http://schemas.microsoft.com/office/drawing/2014/main" id="{8F4A3096-ABB0-48FC-AB3C-CB8DC3989507}"/>
              </a:ext>
            </a:extLst>
          </p:cNvPr>
          <p:cNvSpPr>
            <a:spLocks xmlns:a="http://schemas.openxmlformats.org/drawingml/2006/main" noGrp="1"/>
          </p:cNvSpPr>
          <p:nvPr/>
        </p:nvSpPr>
        <p:spPr>
          <a:xfrm xmlns:a="http://schemas.openxmlformats.org/drawingml/2006/main">
            <a:off x="11277600" y="62674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BBDCC"/>
                </a:solidFill>
                <a:latin typeface="Arial"/>
                <a:ea typeface="Arial"/>
                <a:cs typeface="Arial"/>
              </a:defRPr>
            </a:defPPr>
          </a:lstStyle>
          <a:p xmlns:a="http://schemas.openxmlformats.org/drawingml/2006/main">
            <a:pPr>
              <a:defRPr sz="1050" b="0">
                <a:solidFill>
                  <a:srgbClr val="ABBDCC"/>
                </a:solidFill>
                <a:latin typeface="Arial"/>
                <a:ea typeface="Arial"/>
                <a:cs typeface="Arial"/>
              </a:defRPr>
            </a:pPr>
            <a:r>
              <a:rPr sz="1050" b="0">
                <a:solidFill>
                  <a:srgbClr val="ABBDCC"/>
                </a:solidFill>
                <a:latin typeface="Arial"/>
                <a:ea typeface="Arial"/>
                <a:cs typeface="Arial"/>
              </a:rPr>
              <a:t>04</a:t>
            </a:r>
          </a:p>
        </p:txBody>
      </p:sp>
      <p:sp>
        <p:nvSpPr>
          <p:cNvPr id="2" name="slide-title">
            <a:extLst xmlns:a="http://schemas.openxmlformats.org/drawingml/2006/main">
              <a:ext uri="{FF2B5EF4-FFF2-40B4-BE49-F238E27FC236}">
                <a16:creationId xmlns:a16="http://schemas.microsoft.com/office/drawing/2014/main" id="{410B53F8-B3BB-4134-84C1-948614818F95}"/>
              </a:ext>
            </a:extLst>
          </p:cNvPr>
          <p:cNvSpPr>
            <a:spLocks xmlns:a="http://schemas.openxmlformats.org/drawingml/2006/main" noGrp="1"/>
          </p:cNvSpPr>
          <p:nvPr/>
        </p:nvSpPr>
        <p:spPr>
          <a:xfrm xmlns:a="http://schemas.openxmlformats.org/drawingml/2006/main">
            <a:off x="6096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0">
                <a:solidFill>
                  <a:srgbClr val="F1F7FA"/>
                </a:solidFill>
                <a:latin typeface="Arial"/>
                <a:ea typeface="Arial"/>
                <a:cs typeface="Arial"/>
              </a:defRPr>
            </a:defPPr>
          </a:lstStyle>
          <a:p xmlns:a="http://schemas.openxmlformats.org/drawingml/2006/main">
            <a:pPr>
              <a:defRPr sz="3450" b="0">
                <a:solidFill>
                  <a:srgbClr val="F1F7FA"/>
                </a:solidFill>
                <a:latin typeface="Arial"/>
                <a:ea typeface="Arial"/>
                <a:cs typeface="Arial"/>
              </a:defRPr>
            </a:pPr>
            <a:r>
              <a:rPr sz="3450" b="0">
                <a:solidFill>
                  <a:srgbClr val="F1F7FA"/>
                </a:solidFill>
                <a:latin typeface="Arial"/>
                <a:ea typeface="Arial"/>
                <a:cs typeface="Arial"/>
              </a:rPr>
              <a:t>Demo: remove the company’s own claims</a:t>
            </a:r>
          </a:p>
        </p:txBody>
      </p:sp>
      <p:pic>
        <p:nvPicPr>
          <p:cNvPr id="3" name="">
            <a:extLst xmlns:a="http://schemas.openxmlformats.org/drawingml/2006/main">
              <a:ext uri="{FF2B5EF4-FFF2-40B4-BE49-F238E27FC236}">
                <a16:creationId xmlns:a16="http://schemas.microsoft.com/office/drawing/2014/main" id="{56A51DA5-153B-4EF2-B774-40AB5F3669C5}"/>
              </a:ext>
            </a:extLst>
          </p:cNvPr>
          <p:cNvPicPr>
            <a:picLocks xmlns:a="http://schemas.openxmlformats.org/drawingml/2006/main" noChangeAspect="1"/>
          </p:cNvPicPr>
          <p:nvPr/>
        </p:nvPicPr>
        <p:blipFill>
          <a:blip xmlns:r="http://schemas.openxmlformats.org/officeDocument/2006/relationships" xmlns:a="http://schemas.openxmlformats.org/drawingml/2006/main" r:embed="R861a398ce6ed4c24"/>
          <a:stretch xmlns:a="http://schemas.openxmlformats.org/drawingml/2006/main"/>
        </p:blipFill>
        <p:spPr>
          <a:xfrm xmlns:a="http://schemas.openxmlformats.org/drawingml/2006/main">
            <a:off x="2901855" y="1381125"/>
            <a:ext cx="6388290" cy="4686300"/>
          </a:xfrm>
          <a:prstGeom xmlns:a="http://schemas.openxmlformats.org/drawingml/2006/main" prst="rect">
            <a:avLst/>
          </a:prstGeom>
        </p:spPr>
      </p:pic>
      <p:sp>
        <p:nvSpPr>
          <p:cNvPr id="4" name="map-caption">
            <a:extLst xmlns:a="http://schemas.openxmlformats.org/drawingml/2006/main">
              <a:ext uri="{FF2B5EF4-FFF2-40B4-BE49-F238E27FC236}">
                <a16:creationId xmlns:a16="http://schemas.microsoft.com/office/drawing/2014/main" id="{1CF30896-4268-466B-A6DE-1A2A95289E1C}"/>
              </a:ext>
            </a:extLst>
          </p:cNvPr>
          <p:cNvSpPr>
            <a:spLocks xmlns:a="http://schemas.openxmlformats.org/drawingml/2006/main" noGrp="1"/>
          </p:cNvSpPr>
          <p:nvPr/>
        </p:nvSpPr>
        <p:spPr>
          <a:xfrm xmlns:a="http://schemas.openxmlformats.org/drawingml/2006/main">
            <a:off x="609600" y="6238875"/>
            <a:ext cx="10906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B4E7DD"/>
                </a:solidFill>
                <a:latin typeface="Arial"/>
                <a:ea typeface="Arial"/>
                <a:cs typeface="Arial"/>
              </a:defRPr>
            </a:defPPr>
          </a:lstStyle>
          <a:p xmlns:a="http://schemas.openxmlformats.org/drawingml/2006/main">
            <a:pPr>
              <a:defRPr sz="1500" b="0">
                <a:solidFill>
                  <a:srgbClr val="B4E7DD"/>
                </a:solidFill>
                <a:latin typeface="Arial"/>
                <a:ea typeface="Arial"/>
                <a:cs typeface="Arial"/>
              </a:defRPr>
            </a:pPr>
            <a:r>
              <a:rPr sz="1500" b="0">
                <a:solidFill>
                  <a:srgbClr val="B4E7DD"/>
                </a:solidFill>
                <a:latin typeface="Arial"/>
                <a:ea typeface="Arial"/>
                <a:cs typeface="Arial"/>
              </a:rPr>
              <a:t>Watch the evidence move. Closer means more cited support. Height means agent confidence.</a:t>
            </a:r>
          </a:p>
        </p:txBody>
      </p:sp>
    </p:spTree>
    <p:extLst>
      <p:ext uri="{BB962C8B-B14F-4D97-AF65-F5344CB8AC3E}">
        <p14:creationId xmlns:p14="http://schemas.microsoft.com/office/powerpoint/2010/main" val="550788838"/>
      </p:ext>
    </p:extLst>
  </p:cSld>
</p:sld>
</file>

<file path=ppt/slides/slide5.xml><?xml version="1.0" encoding="utf-8"?>
<p:sld xmlns:p="http://schemas.openxmlformats.org/presentationml/2006/main">
  <p:cSld>
    <p:bg>
      <p:bgPr>
        <a:solidFill xmlns:a="http://schemas.openxmlformats.org/drawingml/2006/main">
          <a:srgbClr val="142330"/>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1F2B9213-C248-4782-9F45-03C5AA072131}"/>
              </a:ext>
            </a:extLst>
          </p:cNvPr>
          <p:cNvCxnSpPr>
            <a:stCxn xmlns:a="http://schemas.openxmlformats.org/drawingml/2006/main" id="12" idx="3"/>
            <a:endCxn xmlns:a="http://schemas.openxmlformats.org/drawingml/2006/main" id="13" idx="1"/>
          </p:cNvCxnSpPr>
          <p:nvPr/>
        </p:nvCxnSpPr>
        <p:spPr>
          <a:xfrm xmlns:a="http://schemas.openxmlformats.org/drawingml/2006/main">
            <a:off x="9048750" y="5395913"/>
            <a:ext cx="781050" cy="0"/>
          </a:xfrm>
          <a:prstGeom xmlns:a="http://schemas.openxmlformats.org/drawingml/2006/main" prst="straightConnector1">
            <a:avLst/>
          </a:prstGeom>
          <a:ln xmlns:a="http://schemas.openxmlformats.org/drawingml/2006/main" w="16193">
            <a:solidFill>
              <a:srgbClr val="B4E7DD"/>
            </a:solidFill>
            <a:tailEnd type="arrow" w="sm" len="sm"/>
          </a:ln>
        </p:spPr>
      </p:cxnSp>
      <p:cxnSp>
        <p:nvCxnSpPr>
          <p:cNvPr id="22" name="">
            <a:extLst xmlns:a="http://schemas.openxmlformats.org/drawingml/2006/main">
              <a:ext uri="{FF2B5EF4-FFF2-40B4-BE49-F238E27FC236}">
                <a16:creationId xmlns:a16="http://schemas.microsoft.com/office/drawing/2014/main" id="{F1AB8B29-3CC2-47C5-A166-AF02C59ADE97}"/>
              </a:ext>
            </a:extLst>
          </p:cNvPr>
          <p:cNvCxnSpPr>
            <a:stCxn xmlns:a="http://schemas.openxmlformats.org/drawingml/2006/main" id="11" idx="2"/>
            <a:endCxn xmlns:a="http://schemas.openxmlformats.org/drawingml/2006/main" id="12" idx="0"/>
          </p:cNvCxnSpPr>
          <p:nvPr/>
        </p:nvCxnSpPr>
        <p:spPr>
          <a:xfrm xmlns:a="http://schemas.openxmlformats.org/drawingml/2006/main" flipH="1">
            <a:off x="8286750" y="3695700"/>
            <a:ext cx="1614488" cy="1400175"/>
          </a:xfrm>
          <a:prstGeom xmlns:a="http://schemas.openxmlformats.org/drawingml/2006/main" prst="straightConnector1">
            <a:avLst/>
          </a:prstGeom>
          <a:ln xmlns:a="http://schemas.openxmlformats.org/drawingml/2006/main" w="16193">
            <a:solidFill>
              <a:srgbClr val="B4E7DD"/>
            </a:solidFill>
            <a:tailEnd type="arrow" w="sm" len="sm"/>
          </a:ln>
        </p:spPr>
      </p:cxnSp>
      <p:cxnSp>
        <p:nvCxnSpPr>
          <p:cNvPr id="21" name="">
            <a:extLst xmlns:a="http://schemas.openxmlformats.org/drawingml/2006/main">
              <a:ext uri="{FF2B5EF4-FFF2-40B4-BE49-F238E27FC236}">
                <a16:creationId xmlns:a16="http://schemas.microsoft.com/office/drawing/2014/main" id="{2C966A93-1F78-4683-9F92-5BEDACF054CF}"/>
              </a:ext>
            </a:extLst>
          </p:cNvPr>
          <p:cNvCxnSpPr>
            <a:stCxn xmlns:a="http://schemas.openxmlformats.org/drawingml/2006/main" id="10" idx="3"/>
            <a:endCxn xmlns:a="http://schemas.openxmlformats.org/drawingml/2006/main" id="11" idx="1"/>
          </p:cNvCxnSpPr>
          <p:nvPr/>
        </p:nvCxnSpPr>
        <p:spPr>
          <a:xfrm xmlns:a="http://schemas.openxmlformats.org/drawingml/2006/main" flipV="1">
            <a:off x="8715375" y="3395663"/>
            <a:ext cx="447675" cy="733425"/>
          </a:xfrm>
          <a:prstGeom xmlns:a="http://schemas.openxmlformats.org/drawingml/2006/main" prst="bentConnector3">
            <a:avLst>
              <a:gd name="adj1" fmla="val 50000"/>
            </a:avLst>
          </a:prstGeom>
          <a:ln xmlns:a="http://schemas.openxmlformats.org/drawingml/2006/main" w="16193">
            <a:solidFill>
              <a:srgbClr val="B4E7DD"/>
            </a:solidFill>
            <a:tailEnd type="arrow" w="sm" len="sm"/>
          </a:ln>
        </p:spPr>
      </p:cxnSp>
      <p:cxnSp>
        <p:nvCxnSpPr>
          <p:cNvPr id="20" name="">
            <a:extLst xmlns:a="http://schemas.openxmlformats.org/drawingml/2006/main">
              <a:ext uri="{FF2B5EF4-FFF2-40B4-BE49-F238E27FC236}">
                <a16:creationId xmlns:a16="http://schemas.microsoft.com/office/drawing/2014/main" id="{DFB31814-7EC0-4E5B-B383-5B680A720A10}"/>
              </a:ext>
            </a:extLst>
          </p:cNvPr>
          <p:cNvCxnSpPr>
            <a:stCxn xmlns:a="http://schemas.openxmlformats.org/drawingml/2006/main" id="9" idx="3"/>
            <a:endCxn xmlns:a="http://schemas.openxmlformats.org/drawingml/2006/main" id="11" idx="1"/>
          </p:cNvCxnSpPr>
          <p:nvPr/>
        </p:nvCxnSpPr>
        <p:spPr>
          <a:xfrm xmlns:a="http://schemas.openxmlformats.org/drawingml/2006/main">
            <a:off x="8715375" y="2890838"/>
            <a:ext cx="447675" cy="504825"/>
          </a:xfrm>
          <a:prstGeom xmlns:a="http://schemas.openxmlformats.org/drawingml/2006/main" prst="bentConnector3">
            <a:avLst>
              <a:gd name="adj1" fmla="val 50000"/>
            </a:avLst>
          </a:prstGeom>
          <a:ln xmlns:a="http://schemas.openxmlformats.org/drawingml/2006/main" w="16193">
            <a:solidFill>
              <a:srgbClr val="B4E7DD"/>
            </a:solidFill>
            <a:tailEnd type="arrow" w="sm" len="sm"/>
          </a:ln>
        </p:spPr>
      </p:cxnSp>
      <p:cxnSp>
        <p:nvCxnSpPr>
          <p:cNvPr id="19" name="">
            <a:extLst xmlns:a="http://schemas.openxmlformats.org/drawingml/2006/main">
              <a:ext uri="{FF2B5EF4-FFF2-40B4-BE49-F238E27FC236}">
                <a16:creationId xmlns:a16="http://schemas.microsoft.com/office/drawing/2014/main" id="{88F8CD73-DC69-4DD6-9423-EE8BD1EB71AC}"/>
              </a:ext>
            </a:extLst>
          </p:cNvPr>
          <p:cNvCxnSpPr>
            <a:stCxn xmlns:a="http://schemas.openxmlformats.org/drawingml/2006/main" id="8" idx="3"/>
            <a:endCxn xmlns:a="http://schemas.openxmlformats.org/drawingml/2006/main" id="10" idx="1"/>
          </p:cNvCxnSpPr>
          <p:nvPr/>
        </p:nvCxnSpPr>
        <p:spPr>
          <a:xfrm xmlns:a="http://schemas.openxmlformats.org/drawingml/2006/main">
            <a:off x="7077075" y="4129088"/>
            <a:ext cx="447675" cy="0"/>
          </a:xfrm>
          <a:prstGeom xmlns:a="http://schemas.openxmlformats.org/drawingml/2006/main" prst="straightConnector1">
            <a:avLst/>
          </a:prstGeom>
          <a:ln xmlns:a="http://schemas.openxmlformats.org/drawingml/2006/main" w="16193">
            <a:solidFill>
              <a:srgbClr val="B4E7DD"/>
            </a:solidFill>
            <a:tailEnd type="arrow" w="sm" len="sm"/>
          </a:ln>
        </p:spPr>
      </p:cxnSp>
      <p:cxnSp>
        <p:nvCxnSpPr>
          <p:cNvPr id="18" name="">
            <a:extLst xmlns:a="http://schemas.openxmlformats.org/drawingml/2006/main">
              <a:ext uri="{FF2B5EF4-FFF2-40B4-BE49-F238E27FC236}">
                <a16:creationId xmlns:a16="http://schemas.microsoft.com/office/drawing/2014/main" id="{BE24416F-5932-4732-9D3A-75F9E3A7A17D}"/>
              </a:ext>
            </a:extLst>
          </p:cNvPr>
          <p:cNvCxnSpPr>
            <a:stCxn xmlns:a="http://schemas.openxmlformats.org/drawingml/2006/main" id="7" idx="3"/>
            <a:endCxn xmlns:a="http://schemas.openxmlformats.org/drawingml/2006/main" id="9" idx="1"/>
          </p:cNvCxnSpPr>
          <p:nvPr/>
        </p:nvCxnSpPr>
        <p:spPr>
          <a:xfrm xmlns:a="http://schemas.openxmlformats.org/drawingml/2006/main">
            <a:off x="7077075" y="2890838"/>
            <a:ext cx="447675" cy="0"/>
          </a:xfrm>
          <a:prstGeom xmlns:a="http://schemas.openxmlformats.org/drawingml/2006/main" prst="straightConnector1">
            <a:avLst/>
          </a:prstGeom>
          <a:ln xmlns:a="http://schemas.openxmlformats.org/drawingml/2006/main" w="16193">
            <a:solidFill>
              <a:srgbClr val="B4E7DD"/>
            </a:solidFill>
            <a:tailEnd type="arrow" w="sm" len="sm"/>
          </a:ln>
        </p:spPr>
      </p:cxnSp>
      <p:cxnSp>
        <p:nvCxnSpPr>
          <p:cNvPr id="17" name="">
            <a:extLst xmlns:a="http://schemas.openxmlformats.org/drawingml/2006/main">
              <a:ext uri="{FF2B5EF4-FFF2-40B4-BE49-F238E27FC236}">
                <a16:creationId xmlns:a16="http://schemas.microsoft.com/office/drawing/2014/main" id="{646CE45F-7B8D-4A99-B5C0-1A2755E1BE31}"/>
              </a:ext>
            </a:extLst>
          </p:cNvPr>
          <p:cNvCxnSpPr>
            <a:stCxn xmlns:a="http://schemas.openxmlformats.org/drawingml/2006/main" id="6" idx="3"/>
            <a:endCxn xmlns:a="http://schemas.openxmlformats.org/drawingml/2006/main" id="8" idx="1"/>
          </p:cNvCxnSpPr>
          <p:nvPr/>
        </p:nvCxnSpPr>
        <p:spPr>
          <a:xfrm xmlns:a="http://schemas.openxmlformats.org/drawingml/2006/main">
            <a:off x="5114925" y="3395663"/>
            <a:ext cx="428625" cy="733425"/>
          </a:xfrm>
          <a:prstGeom xmlns:a="http://schemas.openxmlformats.org/drawingml/2006/main" prst="bentConnector3">
            <a:avLst>
              <a:gd name="adj1" fmla="val 50000"/>
            </a:avLst>
          </a:prstGeom>
          <a:ln xmlns:a="http://schemas.openxmlformats.org/drawingml/2006/main" w="16193">
            <a:solidFill>
              <a:srgbClr val="B4E7DD"/>
            </a:solidFill>
            <a:tailEnd type="arrow" w="sm" len="sm"/>
          </a:ln>
        </p:spPr>
      </p:cxnSp>
      <p:cxnSp>
        <p:nvCxnSpPr>
          <p:cNvPr id="16" name="">
            <a:extLst xmlns:a="http://schemas.openxmlformats.org/drawingml/2006/main">
              <a:ext uri="{FF2B5EF4-FFF2-40B4-BE49-F238E27FC236}">
                <a16:creationId xmlns:a16="http://schemas.microsoft.com/office/drawing/2014/main" id="{69604A0C-1E64-406C-B2DD-E850D91EED89}"/>
              </a:ext>
            </a:extLst>
          </p:cNvPr>
          <p:cNvCxnSpPr>
            <a:stCxn xmlns:a="http://schemas.openxmlformats.org/drawingml/2006/main" id="6" idx="3"/>
            <a:endCxn xmlns:a="http://schemas.openxmlformats.org/drawingml/2006/main" id="7" idx="1"/>
          </p:cNvCxnSpPr>
          <p:nvPr/>
        </p:nvCxnSpPr>
        <p:spPr>
          <a:xfrm xmlns:a="http://schemas.openxmlformats.org/drawingml/2006/main" flipV="1">
            <a:off x="5114925" y="2890838"/>
            <a:ext cx="428625" cy="504825"/>
          </a:xfrm>
          <a:prstGeom xmlns:a="http://schemas.openxmlformats.org/drawingml/2006/main" prst="bentConnector3">
            <a:avLst>
              <a:gd name="adj1" fmla="val 50000"/>
            </a:avLst>
          </a:prstGeom>
          <a:ln xmlns:a="http://schemas.openxmlformats.org/drawingml/2006/main" w="16193">
            <a:solidFill>
              <a:srgbClr val="B4E7DD"/>
            </a:solidFill>
            <a:tailEnd type="arrow" w="sm" len="sm"/>
          </a:ln>
        </p:spPr>
      </p:cxnSp>
      <p:cxnSp>
        <p:nvCxnSpPr>
          <p:cNvPr id="15" name="">
            <a:extLst xmlns:a="http://schemas.openxmlformats.org/drawingml/2006/main">
              <a:ext uri="{FF2B5EF4-FFF2-40B4-BE49-F238E27FC236}">
                <a16:creationId xmlns:a16="http://schemas.microsoft.com/office/drawing/2014/main" id="{FA823A51-79FF-4424-8240-6B89B5D6011C}"/>
              </a:ext>
            </a:extLst>
          </p:cNvPr>
          <p:cNvCxnSpPr>
            <a:stCxn xmlns:a="http://schemas.openxmlformats.org/drawingml/2006/main" id="5" idx="3"/>
            <a:endCxn xmlns:a="http://schemas.openxmlformats.org/drawingml/2006/main" id="6" idx="1"/>
          </p:cNvCxnSpPr>
          <p:nvPr/>
        </p:nvCxnSpPr>
        <p:spPr>
          <a:xfrm xmlns:a="http://schemas.openxmlformats.org/drawingml/2006/main">
            <a:off x="3448050" y="3395663"/>
            <a:ext cx="285750" cy="0"/>
          </a:xfrm>
          <a:prstGeom xmlns:a="http://schemas.openxmlformats.org/drawingml/2006/main" prst="straightConnector1">
            <a:avLst/>
          </a:prstGeom>
          <a:ln xmlns:a="http://schemas.openxmlformats.org/drawingml/2006/main" w="16193">
            <a:solidFill>
              <a:srgbClr val="B4E7DD"/>
            </a:solidFill>
            <a:tailEnd type="arrow" w="sm" len="sm"/>
          </a:ln>
        </p:spPr>
      </p:cxnSp>
      <p:cxnSp>
        <p:nvCxnSpPr>
          <p:cNvPr id="14" name="">
            <a:extLst xmlns:a="http://schemas.openxmlformats.org/drawingml/2006/main">
              <a:ext uri="{FF2B5EF4-FFF2-40B4-BE49-F238E27FC236}">
                <a16:creationId xmlns:a16="http://schemas.microsoft.com/office/drawing/2014/main" id="{6EB51155-0DFD-4840-AC83-764D2B859072}"/>
              </a:ext>
            </a:extLst>
          </p:cNvPr>
          <p:cNvCxnSpPr>
            <a:stCxn xmlns:a="http://schemas.openxmlformats.org/drawingml/2006/main" id="4" idx="3"/>
            <a:endCxn xmlns:a="http://schemas.openxmlformats.org/drawingml/2006/main" id="5" idx="1"/>
          </p:cNvCxnSpPr>
          <p:nvPr/>
        </p:nvCxnSpPr>
        <p:spPr>
          <a:xfrm xmlns:a="http://schemas.openxmlformats.org/drawingml/2006/main">
            <a:off x="1847850" y="3395663"/>
            <a:ext cx="285750" cy="0"/>
          </a:xfrm>
          <a:prstGeom xmlns:a="http://schemas.openxmlformats.org/drawingml/2006/main" prst="straightConnector1">
            <a:avLst/>
          </a:prstGeom>
          <a:ln xmlns:a="http://schemas.openxmlformats.org/drawingml/2006/main" w="16193">
            <a:solidFill>
              <a:srgbClr val="B4E7DD"/>
            </a:solidFill>
            <a:tailEnd type="arrow" w="sm" len="sm"/>
          </a:ln>
        </p:spPr>
      </p:cxnSp>
      <p:sp>
        <p:nvSpPr>
          <p:cNvPr id="26" name="slide-number">
            <a:extLst xmlns:a="http://schemas.openxmlformats.org/drawingml/2006/main">
              <a:ext uri="{FF2B5EF4-FFF2-40B4-BE49-F238E27FC236}">
                <a16:creationId xmlns:a16="http://schemas.microsoft.com/office/drawing/2014/main" id="{4499C98A-C769-4806-9653-0A9FA540FA16}"/>
              </a:ext>
            </a:extLst>
          </p:cNvPr>
          <p:cNvSpPr>
            <a:spLocks xmlns:a="http://schemas.openxmlformats.org/drawingml/2006/main" noGrp="1"/>
          </p:cNvSpPr>
          <p:nvPr/>
        </p:nvSpPr>
        <p:spPr>
          <a:xfrm xmlns:a="http://schemas.openxmlformats.org/drawingml/2006/main">
            <a:off x="11277600" y="62674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BBDCC"/>
                </a:solidFill>
                <a:latin typeface="Arial"/>
                <a:ea typeface="Arial"/>
                <a:cs typeface="Arial"/>
              </a:defRPr>
            </a:defPPr>
          </a:lstStyle>
          <a:p xmlns:a="http://schemas.openxmlformats.org/drawingml/2006/main">
            <a:pPr>
              <a:defRPr sz="1050" b="0">
                <a:solidFill>
                  <a:srgbClr val="ABBDCC"/>
                </a:solidFill>
                <a:latin typeface="Arial"/>
                <a:ea typeface="Arial"/>
                <a:cs typeface="Arial"/>
              </a:defRPr>
            </a:pPr>
            <a:r>
              <a:rPr sz="1050" b="0">
                <a:solidFill>
                  <a:srgbClr val="ABBDCC"/>
                </a:solidFill>
                <a:latin typeface="Arial"/>
                <a:ea typeface="Arial"/>
                <a:cs typeface="Arial"/>
              </a:rPr>
              <a:t>05</a:t>
            </a:r>
          </a:p>
        </p:txBody>
      </p:sp>
      <p:sp>
        <p:nvSpPr>
          <p:cNvPr id="2" name="slide-title">
            <a:extLst xmlns:a="http://schemas.openxmlformats.org/drawingml/2006/main">
              <a:ext uri="{FF2B5EF4-FFF2-40B4-BE49-F238E27FC236}">
                <a16:creationId xmlns:a16="http://schemas.microsoft.com/office/drawing/2014/main" id="{A53219EB-40C5-452A-AED7-4B50227B4BA7}"/>
              </a:ext>
            </a:extLst>
          </p:cNvPr>
          <p:cNvSpPr>
            <a:spLocks xmlns:a="http://schemas.openxmlformats.org/drawingml/2006/main" noGrp="1"/>
          </p:cNvSpPr>
          <p:nvPr/>
        </p:nvSpPr>
        <p:spPr>
          <a:xfrm xmlns:a="http://schemas.openxmlformats.org/drawingml/2006/main">
            <a:off x="6096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0">
                <a:solidFill>
                  <a:srgbClr val="F1F7FA"/>
                </a:solidFill>
                <a:latin typeface="Arial"/>
                <a:ea typeface="Arial"/>
                <a:cs typeface="Arial"/>
              </a:defRPr>
            </a:defPPr>
          </a:lstStyle>
          <a:p xmlns:a="http://schemas.openxmlformats.org/drawingml/2006/main">
            <a:pPr>
              <a:defRPr sz="3450" b="0">
                <a:solidFill>
                  <a:srgbClr val="F1F7FA"/>
                </a:solidFill>
                <a:latin typeface="Arial"/>
                <a:ea typeface="Arial"/>
                <a:cs typeface="Arial"/>
              </a:defRPr>
            </a:pPr>
            <a:r>
              <a:rPr sz="3450" b="0">
                <a:solidFill>
                  <a:srgbClr val="F1F7FA"/>
                </a:solidFill>
                <a:latin typeface="Arial"/>
                <a:ea typeface="Arial"/>
                <a:cs typeface="Arial"/>
              </a:rPr>
              <a:t>Architecture: nine agents that challenge each other</a:t>
            </a:r>
          </a:p>
        </p:txBody>
      </p:sp>
      <p:sp>
        <p:nvSpPr>
          <p:cNvPr id="3" name="architecture-description">
            <a:extLst xmlns:a="http://schemas.openxmlformats.org/drawingml/2006/main">
              <a:ext uri="{FF2B5EF4-FFF2-40B4-BE49-F238E27FC236}">
                <a16:creationId xmlns:a16="http://schemas.microsoft.com/office/drawing/2014/main" id="{FDA3A85A-E3EA-42F7-872D-E6BA011E9E76}"/>
              </a:ext>
            </a:extLst>
          </p:cNvPr>
          <p:cNvSpPr>
            <a:spLocks xmlns:a="http://schemas.openxmlformats.org/drawingml/2006/main" noGrp="1"/>
          </p:cNvSpPr>
          <p:nvPr/>
        </p:nvSpPr>
        <p:spPr>
          <a:xfrm xmlns:a="http://schemas.openxmlformats.org/drawingml/2006/main">
            <a:off x="619125" y="16287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ABBDCC"/>
                </a:solidFill>
                <a:latin typeface="Arial"/>
                <a:ea typeface="Arial"/>
                <a:cs typeface="Arial"/>
              </a:defRPr>
            </a:defPPr>
          </a:lstStyle>
          <a:p xmlns:a="http://schemas.openxmlformats.org/drawingml/2006/main">
            <a:pPr>
              <a:defRPr sz="1950" b="0">
                <a:solidFill>
                  <a:srgbClr val="ABBDCC"/>
                </a:solidFill>
                <a:latin typeface="Arial"/>
                <a:ea typeface="Arial"/>
                <a:cs typeface="Arial"/>
              </a:defRPr>
            </a:pPr>
            <a:r>
              <a:rPr sz="1950" b="0">
                <a:solidFill>
                  <a:srgbClr val="ABBDCC"/>
                </a:solidFill>
                <a:latin typeface="Arial"/>
                <a:ea typeface="Arial"/>
                <a:cs typeface="Arial"/>
              </a:rPr>
              <a:t>Specialists hand off findings and citations. A fresh verifier challenges the thesis before the committee decides.</a:t>
            </a:r>
          </a:p>
        </p:txBody>
      </p:sp>
      <p:sp>
        <p:nvSpPr>
          <p:cNvPr id="4" name="scout">
            <a:extLst xmlns:a="http://schemas.openxmlformats.org/drawingml/2006/main">
              <a:ext uri="{FF2B5EF4-FFF2-40B4-BE49-F238E27FC236}">
                <a16:creationId xmlns:a16="http://schemas.microsoft.com/office/drawing/2014/main" id="{4D03F4F5-15E4-46D0-A2D2-B5CF524B3ED2}"/>
              </a:ext>
            </a:extLst>
          </p:cNvPr>
          <p:cNvSpPr>
            <a:spLocks xmlns:a="http://schemas.openxmlformats.org/drawingml/2006/main" noGrp="1"/>
          </p:cNvSpPr>
          <p:nvPr/>
        </p:nvSpPr>
        <p:spPr>
          <a:xfrm xmlns:a="http://schemas.openxmlformats.org/drawingml/2006/main">
            <a:off x="590550" y="3095625"/>
            <a:ext cx="1257300" cy="600075"/>
          </a:xfrm>
          <a:prstGeom xmlns:a="http://schemas.openxmlformats.org/drawingml/2006/main" prst="rect">
            <a:avLst/>
          </a:prstGeom>
          <a:solidFill xmlns:a="http://schemas.openxmlformats.org/drawingml/2006/main">
            <a:srgbClr val="1B2D3D"/>
          </a:solidFill>
          <a:ln xmlns:a="http://schemas.openxmlformats.org/drawingml/2006/main" w="7620">
            <a:solidFill>
              <a:srgbClr val="F1F7FA"/>
            </a:solidFill>
          </a:ln>
        </p:spPr>
        <p:txBody>
          <a:bodyPr xmlns:a="http://schemas.openxmlformats.org/drawingml/2006/main" lIns="57150" tIns="57150" rIns="57150" bIns="57150" anchor="ctr"/>
          <a:lstStyle xmlns:a="http://schemas.openxmlformats.org/drawingml/2006/main">
            <a:defPPr algn="ctr">
              <a:defRPr sz="1425">
                <a:solidFill>
                  <a:srgbClr val="F1F7FA"/>
                </a:solidFill>
                <a:latin typeface="Arial"/>
                <a:ea typeface="Arial"/>
                <a:cs typeface="Arial"/>
              </a:defRPr>
            </a:defPPr>
          </a:lstStyle>
          <a:p xmlns:a="http://schemas.openxmlformats.org/drawingml/2006/main">
            <a:pPr algn="ctr">
              <a:defRPr sz="1425">
                <a:solidFill>
                  <a:srgbClr val="F1F7FA"/>
                </a:solidFill>
                <a:latin typeface="Arial"/>
                <a:ea typeface="Arial"/>
                <a:cs typeface="Arial"/>
              </a:defRPr>
            </a:pPr>
            <a:r>
              <a:rPr sz="1425">
                <a:solidFill>
                  <a:srgbClr val="F1F7FA"/>
                </a:solidFill>
                <a:latin typeface="Arial"/>
                <a:ea typeface="Arial"/>
                <a:cs typeface="Arial"/>
              </a:rPr>
              <a:t>Scout</a:t>
            </a:r>
          </a:p>
        </p:txBody>
      </p:sp>
      <p:sp>
        <p:nvSpPr>
          <p:cNvPr id="5" name="causal">
            <a:extLst xmlns:a="http://schemas.openxmlformats.org/drawingml/2006/main">
              <a:ext uri="{FF2B5EF4-FFF2-40B4-BE49-F238E27FC236}">
                <a16:creationId xmlns:a16="http://schemas.microsoft.com/office/drawing/2014/main" id="{248AF589-EEF8-4EC7-B59F-D4EDAD560989}"/>
              </a:ext>
            </a:extLst>
          </p:cNvPr>
          <p:cNvSpPr>
            <a:spLocks xmlns:a="http://schemas.openxmlformats.org/drawingml/2006/main" noGrp="1"/>
          </p:cNvSpPr>
          <p:nvPr/>
        </p:nvSpPr>
        <p:spPr>
          <a:xfrm xmlns:a="http://schemas.openxmlformats.org/drawingml/2006/main">
            <a:off x="2133600" y="3095625"/>
            <a:ext cx="1314450" cy="600075"/>
          </a:xfrm>
          <a:prstGeom xmlns:a="http://schemas.openxmlformats.org/drawingml/2006/main" prst="rect">
            <a:avLst/>
          </a:prstGeom>
          <a:solidFill xmlns:a="http://schemas.openxmlformats.org/drawingml/2006/main">
            <a:srgbClr val="1B2D3D"/>
          </a:solidFill>
          <a:ln xmlns:a="http://schemas.openxmlformats.org/drawingml/2006/main" w="7620">
            <a:solidFill>
              <a:srgbClr val="F1F7FA"/>
            </a:solidFill>
          </a:ln>
        </p:spPr>
        <p:txBody>
          <a:bodyPr xmlns:a="http://schemas.openxmlformats.org/drawingml/2006/main" lIns="57150" tIns="57150" rIns="57150" bIns="57150" anchor="ctr"/>
          <a:lstStyle xmlns:a="http://schemas.openxmlformats.org/drawingml/2006/main">
            <a:defPPr algn="ctr">
              <a:defRPr sz="1425">
                <a:solidFill>
                  <a:srgbClr val="F1F7FA"/>
                </a:solidFill>
                <a:latin typeface="Arial"/>
                <a:ea typeface="Arial"/>
                <a:cs typeface="Arial"/>
              </a:defRPr>
            </a:defPPr>
          </a:lstStyle>
          <a:p xmlns:a="http://schemas.openxmlformats.org/drawingml/2006/main">
            <a:pPr algn="ctr">
              <a:defRPr sz="1425">
                <a:solidFill>
                  <a:srgbClr val="F1F7FA"/>
                </a:solidFill>
                <a:latin typeface="Arial"/>
                <a:ea typeface="Arial"/>
                <a:cs typeface="Arial"/>
              </a:defRPr>
            </a:pPr>
            <a:r>
              <a:rPr sz="1425">
                <a:solidFill>
                  <a:srgbClr val="F1F7FA"/>
                </a:solidFill>
                <a:latin typeface="Arial"/>
                <a:ea typeface="Arial"/>
                <a:cs typeface="Arial"/>
              </a:rPr>
              <a:t>Causal analyst</a:t>
            </a:r>
          </a:p>
        </p:txBody>
      </p:sp>
      <p:sp>
        <p:nvSpPr>
          <p:cNvPr id="6" name="hunter">
            <a:extLst xmlns:a="http://schemas.openxmlformats.org/drawingml/2006/main">
              <a:ext uri="{FF2B5EF4-FFF2-40B4-BE49-F238E27FC236}">
                <a16:creationId xmlns:a16="http://schemas.microsoft.com/office/drawing/2014/main" id="{8F41F6B0-0EE9-40BE-AB56-3ED24C308B68}"/>
              </a:ext>
            </a:extLst>
          </p:cNvPr>
          <p:cNvSpPr>
            <a:spLocks xmlns:a="http://schemas.openxmlformats.org/drawingml/2006/main" noGrp="1"/>
          </p:cNvSpPr>
          <p:nvPr/>
        </p:nvSpPr>
        <p:spPr>
          <a:xfrm xmlns:a="http://schemas.openxmlformats.org/drawingml/2006/main">
            <a:off x="3733800" y="3095625"/>
            <a:ext cx="1381125" cy="600075"/>
          </a:xfrm>
          <a:prstGeom xmlns:a="http://schemas.openxmlformats.org/drawingml/2006/main" prst="rect">
            <a:avLst/>
          </a:prstGeom>
          <a:solidFill xmlns:a="http://schemas.openxmlformats.org/drawingml/2006/main">
            <a:srgbClr val="1B2D3D"/>
          </a:solidFill>
          <a:ln xmlns:a="http://schemas.openxmlformats.org/drawingml/2006/main" w="7620">
            <a:solidFill>
              <a:srgbClr val="F1F7FA"/>
            </a:solidFill>
          </a:ln>
        </p:spPr>
        <p:txBody>
          <a:bodyPr xmlns:a="http://schemas.openxmlformats.org/drawingml/2006/main" lIns="57150" tIns="57150" rIns="57150" bIns="57150" anchor="ctr"/>
          <a:lstStyle xmlns:a="http://schemas.openxmlformats.org/drawingml/2006/main">
            <a:defPPr algn="ctr">
              <a:defRPr sz="1425">
                <a:solidFill>
                  <a:srgbClr val="F1F7FA"/>
                </a:solidFill>
                <a:latin typeface="Arial"/>
                <a:ea typeface="Arial"/>
                <a:cs typeface="Arial"/>
              </a:defRPr>
            </a:defPPr>
          </a:lstStyle>
          <a:p xmlns:a="http://schemas.openxmlformats.org/drawingml/2006/main">
            <a:pPr algn="ctr">
              <a:defRPr sz="1425">
                <a:solidFill>
                  <a:srgbClr val="F1F7FA"/>
                </a:solidFill>
                <a:latin typeface="Arial"/>
                <a:ea typeface="Arial"/>
                <a:cs typeface="Arial"/>
              </a:defRPr>
            </a:pPr>
            <a:r>
              <a:rPr sz="1425">
                <a:solidFill>
                  <a:srgbClr val="F1F7FA"/>
                </a:solidFill>
                <a:latin typeface="Arial"/>
                <a:ea typeface="Arial"/>
                <a:cs typeface="Arial"/>
              </a:rPr>
              <a:t>Company hunter</a:t>
            </a:r>
          </a:p>
        </p:txBody>
      </p:sp>
      <p:sp>
        <p:nvSpPr>
          <p:cNvPr id="7" name="founder">
            <a:extLst xmlns:a="http://schemas.openxmlformats.org/drawingml/2006/main">
              <a:ext uri="{FF2B5EF4-FFF2-40B4-BE49-F238E27FC236}">
                <a16:creationId xmlns:a16="http://schemas.microsoft.com/office/drawing/2014/main" id="{CC15B17F-A0C1-4A5E-AEF8-6EF304CBF775}"/>
              </a:ext>
            </a:extLst>
          </p:cNvPr>
          <p:cNvSpPr>
            <a:spLocks xmlns:a="http://schemas.openxmlformats.org/drawingml/2006/main" noGrp="1"/>
          </p:cNvSpPr>
          <p:nvPr/>
        </p:nvSpPr>
        <p:spPr>
          <a:xfrm xmlns:a="http://schemas.openxmlformats.org/drawingml/2006/main">
            <a:off x="5543550" y="2590800"/>
            <a:ext cx="1533525" cy="600075"/>
          </a:xfrm>
          <a:prstGeom xmlns:a="http://schemas.openxmlformats.org/drawingml/2006/main" prst="rect">
            <a:avLst/>
          </a:prstGeom>
          <a:solidFill xmlns:a="http://schemas.openxmlformats.org/drawingml/2006/main">
            <a:srgbClr val="1B2D3D"/>
          </a:solidFill>
          <a:ln xmlns:a="http://schemas.openxmlformats.org/drawingml/2006/main" w="7620">
            <a:solidFill>
              <a:srgbClr val="C6B6F3"/>
            </a:solidFill>
          </a:ln>
        </p:spPr>
        <p:txBody>
          <a:bodyPr xmlns:a="http://schemas.openxmlformats.org/drawingml/2006/main" lIns="57150" tIns="57150" rIns="57150" bIns="57150" anchor="ctr"/>
          <a:lstStyle xmlns:a="http://schemas.openxmlformats.org/drawingml/2006/main">
            <a:defPPr algn="ctr">
              <a:defRPr sz="1425">
                <a:solidFill>
                  <a:srgbClr val="C6B6F3"/>
                </a:solidFill>
                <a:latin typeface="Arial"/>
                <a:ea typeface="Arial"/>
                <a:cs typeface="Arial"/>
              </a:defRPr>
            </a:defPPr>
          </a:lstStyle>
          <a:p xmlns:a="http://schemas.openxmlformats.org/drawingml/2006/main">
            <a:pPr algn="ctr">
              <a:defRPr sz="1425">
                <a:solidFill>
                  <a:srgbClr val="C6B6F3"/>
                </a:solidFill>
                <a:latin typeface="Arial"/>
                <a:ea typeface="Arial"/>
                <a:cs typeface="Arial"/>
              </a:defRPr>
            </a:pPr>
            <a:r>
              <a:rPr sz="1425">
                <a:solidFill>
                  <a:srgbClr val="C6B6F3"/>
                </a:solidFill>
                <a:latin typeface="Arial"/>
                <a:ea typeface="Arial"/>
                <a:cs typeface="Arial"/>
              </a:rPr>
              <a:t>Founder analyst</a:t>
            </a:r>
          </a:p>
        </p:txBody>
      </p:sp>
      <p:sp>
        <p:nvSpPr>
          <p:cNvPr id="8" name="competitive">
            <a:extLst xmlns:a="http://schemas.openxmlformats.org/drawingml/2006/main">
              <a:ext uri="{FF2B5EF4-FFF2-40B4-BE49-F238E27FC236}">
                <a16:creationId xmlns:a16="http://schemas.microsoft.com/office/drawing/2014/main" id="{7445D332-A3E3-4E9C-92E8-3B9D35AC22C2}"/>
              </a:ext>
            </a:extLst>
          </p:cNvPr>
          <p:cNvSpPr>
            <a:spLocks xmlns:a="http://schemas.openxmlformats.org/drawingml/2006/main" noGrp="1"/>
          </p:cNvSpPr>
          <p:nvPr/>
        </p:nvSpPr>
        <p:spPr>
          <a:xfrm xmlns:a="http://schemas.openxmlformats.org/drawingml/2006/main">
            <a:off x="5543550" y="3829050"/>
            <a:ext cx="1533525" cy="600075"/>
          </a:xfrm>
          <a:prstGeom xmlns:a="http://schemas.openxmlformats.org/drawingml/2006/main" prst="rect">
            <a:avLst/>
          </a:prstGeom>
          <a:solidFill xmlns:a="http://schemas.openxmlformats.org/drawingml/2006/main">
            <a:srgbClr val="1B2D3D"/>
          </a:solidFill>
          <a:ln xmlns:a="http://schemas.openxmlformats.org/drawingml/2006/main" w="7620">
            <a:solidFill>
              <a:srgbClr val="C6B6F3"/>
            </a:solidFill>
          </a:ln>
        </p:spPr>
        <p:txBody>
          <a:bodyPr xmlns:a="http://schemas.openxmlformats.org/drawingml/2006/main" lIns="57150" tIns="57150" rIns="57150" bIns="57150" anchor="ctr"/>
          <a:lstStyle xmlns:a="http://schemas.openxmlformats.org/drawingml/2006/main">
            <a:defPPr algn="ctr">
              <a:defRPr sz="1425">
                <a:solidFill>
                  <a:srgbClr val="C6B6F3"/>
                </a:solidFill>
                <a:latin typeface="Arial"/>
                <a:ea typeface="Arial"/>
                <a:cs typeface="Arial"/>
              </a:defRPr>
            </a:defPPr>
          </a:lstStyle>
          <a:p xmlns:a="http://schemas.openxmlformats.org/drawingml/2006/main">
            <a:pPr algn="ctr">
              <a:defRPr sz="1425">
                <a:solidFill>
                  <a:srgbClr val="C6B6F3"/>
                </a:solidFill>
                <a:latin typeface="Arial"/>
                <a:ea typeface="Arial"/>
                <a:cs typeface="Arial"/>
              </a:defRPr>
            </a:pPr>
            <a:r>
              <a:rPr sz="1425">
                <a:solidFill>
                  <a:srgbClr val="C6B6F3"/>
                </a:solidFill>
                <a:latin typeface="Arial"/>
                <a:ea typeface="Arial"/>
                <a:cs typeface="Arial"/>
              </a:rPr>
              <a:t>Competitive</a:t>
            </a:r>
          </a:p>
          <a:p xmlns:a="http://schemas.openxmlformats.org/drawingml/2006/main">
            <a:pPr algn="ctr">
              <a:defRPr sz="1425">
                <a:solidFill>
                  <a:srgbClr val="C6B6F3"/>
                </a:solidFill>
                <a:latin typeface="Arial"/>
                <a:ea typeface="Arial"/>
                <a:cs typeface="Arial"/>
              </a:defRPr>
            </a:pPr>
            <a:r>
              <a:rPr sz="1425">
                <a:solidFill>
                  <a:srgbClr val="C6B6F3"/>
                </a:solidFill>
                <a:latin typeface="Arial"/>
                <a:ea typeface="Arial"/>
                <a:cs typeface="Arial"/>
              </a:rPr>
              <a:t>analyst</a:t>
            </a:r>
          </a:p>
        </p:txBody>
      </p:sp>
      <p:sp>
        <p:nvSpPr>
          <p:cNvPr id="9" name="bull">
            <a:extLst xmlns:a="http://schemas.openxmlformats.org/drawingml/2006/main">
              <a:ext uri="{FF2B5EF4-FFF2-40B4-BE49-F238E27FC236}">
                <a16:creationId xmlns:a16="http://schemas.microsoft.com/office/drawing/2014/main" id="{F200B432-735E-46C8-883A-761CF4A80C90}"/>
              </a:ext>
            </a:extLst>
          </p:cNvPr>
          <p:cNvSpPr>
            <a:spLocks xmlns:a="http://schemas.openxmlformats.org/drawingml/2006/main" noGrp="1"/>
          </p:cNvSpPr>
          <p:nvPr/>
        </p:nvSpPr>
        <p:spPr>
          <a:xfrm xmlns:a="http://schemas.openxmlformats.org/drawingml/2006/main">
            <a:off x="7524750" y="2590800"/>
            <a:ext cx="1190625" cy="600075"/>
          </a:xfrm>
          <a:prstGeom xmlns:a="http://schemas.openxmlformats.org/drawingml/2006/main" prst="rect">
            <a:avLst/>
          </a:prstGeom>
          <a:solidFill xmlns:a="http://schemas.openxmlformats.org/drawingml/2006/main">
            <a:srgbClr val="1B2D3D"/>
          </a:solidFill>
          <a:ln xmlns:a="http://schemas.openxmlformats.org/drawingml/2006/main" w="7620">
            <a:solidFill>
              <a:srgbClr val="B4E7DD"/>
            </a:solidFill>
          </a:ln>
        </p:spPr>
        <p:txBody>
          <a:bodyPr xmlns:a="http://schemas.openxmlformats.org/drawingml/2006/main" lIns="57150" tIns="57150" rIns="57150" bIns="57150" anchor="ctr"/>
          <a:lstStyle xmlns:a="http://schemas.openxmlformats.org/drawingml/2006/main">
            <a:defPPr algn="ctr">
              <a:defRPr sz="1425">
                <a:solidFill>
                  <a:srgbClr val="B4E7DD"/>
                </a:solidFill>
                <a:latin typeface="Arial"/>
                <a:ea typeface="Arial"/>
                <a:cs typeface="Arial"/>
              </a:defRPr>
            </a:defPPr>
          </a:lstStyle>
          <a:p xmlns:a="http://schemas.openxmlformats.org/drawingml/2006/main">
            <a:pPr algn="ctr">
              <a:defRPr sz="1425">
                <a:solidFill>
                  <a:srgbClr val="B4E7DD"/>
                </a:solidFill>
                <a:latin typeface="Arial"/>
                <a:ea typeface="Arial"/>
                <a:cs typeface="Arial"/>
              </a:defRPr>
            </a:pPr>
            <a:r>
              <a:rPr sz="1425">
                <a:solidFill>
                  <a:srgbClr val="B4E7DD"/>
                </a:solidFill>
                <a:latin typeface="Arial"/>
                <a:ea typeface="Arial"/>
                <a:cs typeface="Arial"/>
              </a:rPr>
              <a:t>Bull</a:t>
            </a:r>
          </a:p>
        </p:txBody>
      </p:sp>
      <p:sp>
        <p:nvSpPr>
          <p:cNvPr id="10" name="bear">
            <a:extLst xmlns:a="http://schemas.openxmlformats.org/drawingml/2006/main">
              <a:ext uri="{FF2B5EF4-FFF2-40B4-BE49-F238E27FC236}">
                <a16:creationId xmlns:a16="http://schemas.microsoft.com/office/drawing/2014/main" id="{30B951E5-7F6B-43F5-892C-1849374DE5AB}"/>
              </a:ext>
            </a:extLst>
          </p:cNvPr>
          <p:cNvSpPr>
            <a:spLocks xmlns:a="http://schemas.openxmlformats.org/drawingml/2006/main" noGrp="1"/>
          </p:cNvSpPr>
          <p:nvPr/>
        </p:nvSpPr>
        <p:spPr>
          <a:xfrm xmlns:a="http://schemas.openxmlformats.org/drawingml/2006/main">
            <a:off x="7524750" y="3829050"/>
            <a:ext cx="1190625" cy="600075"/>
          </a:xfrm>
          <a:prstGeom xmlns:a="http://schemas.openxmlformats.org/drawingml/2006/main" prst="rect">
            <a:avLst/>
          </a:prstGeom>
          <a:solidFill xmlns:a="http://schemas.openxmlformats.org/drawingml/2006/main">
            <a:srgbClr val="1B2D3D"/>
          </a:solidFill>
          <a:ln xmlns:a="http://schemas.openxmlformats.org/drawingml/2006/main" w="7620">
            <a:solidFill>
              <a:srgbClr val="F1AFBA"/>
            </a:solidFill>
          </a:ln>
        </p:spPr>
        <p:txBody>
          <a:bodyPr xmlns:a="http://schemas.openxmlformats.org/drawingml/2006/main" lIns="57150" tIns="57150" rIns="57150" bIns="57150" anchor="ctr"/>
          <a:lstStyle xmlns:a="http://schemas.openxmlformats.org/drawingml/2006/main">
            <a:defPPr algn="ctr">
              <a:defRPr sz="1425">
                <a:solidFill>
                  <a:srgbClr val="F1AFBA"/>
                </a:solidFill>
                <a:latin typeface="Arial"/>
                <a:ea typeface="Arial"/>
                <a:cs typeface="Arial"/>
              </a:defRPr>
            </a:defPPr>
          </a:lstStyle>
          <a:p xmlns:a="http://schemas.openxmlformats.org/drawingml/2006/main">
            <a:pPr algn="ctr">
              <a:defRPr sz="1425">
                <a:solidFill>
                  <a:srgbClr val="F1AFBA"/>
                </a:solidFill>
                <a:latin typeface="Arial"/>
                <a:ea typeface="Arial"/>
                <a:cs typeface="Arial"/>
              </a:defRPr>
            </a:pPr>
            <a:r>
              <a:rPr sz="1425">
                <a:solidFill>
                  <a:srgbClr val="F1AFBA"/>
                </a:solidFill>
                <a:latin typeface="Arial"/>
                <a:ea typeface="Arial"/>
                <a:cs typeface="Arial"/>
              </a:rPr>
              <a:t>Bear</a:t>
            </a:r>
          </a:p>
        </p:txBody>
      </p:sp>
      <p:sp>
        <p:nvSpPr>
          <p:cNvPr id="11" name="verifier">
            <a:extLst xmlns:a="http://schemas.openxmlformats.org/drawingml/2006/main">
              <a:ext uri="{FF2B5EF4-FFF2-40B4-BE49-F238E27FC236}">
                <a16:creationId xmlns:a16="http://schemas.microsoft.com/office/drawing/2014/main" id="{2AA7FE91-D18A-4FFF-8BE4-8E7C511611CA}"/>
              </a:ext>
            </a:extLst>
          </p:cNvPr>
          <p:cNvSpPr>
            <a:spLocks xmlns:a="http://schemas.openxmlformats.org/drawingml/2006/main" noGrp="1"/>
          </p:cNvSpPr>
          <p:nvPr/>
        </p:nvSpPr>
        <p:spPr>
          <a:xfrm xmlns:a="http://schemas.openxmlformats.org/drawingml/2006/main">
            <a:off x="9163050" y="3095625"/>
            <a:ext cx="1476375" cy="600075"/>
          </a:xfrm>
          <a:prstGeom xmlns:a="http://schemas.openxmlformats.org/drawingml/2006/main" prst="rect">
            <a:avLst/>
          </a:prstGeom>
          <a:solidFill xmlns:a="http://schemas.openxmlformats.org/drawingml/2006/main">
            <a:srgbClr val="1B2D3D"/>
          </a:solidFill>
          <a:ln xmlns:a="http://schemas.openxmlformats.org/drawingml/2006/main" w="7620">
            <a:solidFill>
              <a:srgbClr val="B4E7DD"/>
            </a:solidFill>
          </a:ln>
        </p:spPr>
        <p:txBody>
          <a:bodyPr xmlns:a="http://schemas.openxmlformats.org/drawingml/2006/main" lIns="57150" tIns="57150" rIns="57150" bIns="57150" anchor="ctr"/>
          <a:lstStyle xmlns:a="http://schemas.openxmlformats.org/drawingml/2006/main">
            <a:defPPr algn="ctr">
              <a:defRPr sz="1425">
                <a:solidFill>
                  <a:srgbClr val="B4E7DD"/>
                </a:solidFill>
                <a:latin typeface="Arial"/>
                <a:ea typeface="Arial"/>
                <a:cs typeface="Arial"/>
              </a:defRPr>
            </a:defPPr>
          </a:lstStyle>
          <a:p xmlns:a="http://schemas.openxmlformats.org/drawingml/2006/main">
            <a:pPr algn="ctr">
              <a:defRPr sz="1425">
                <a:solidFill>
                  <a:srgbClr val="B4E7DD"/>
                </a:solidFill>
                <a:latin typeface="Arial"/>
                <a:ea typeface="Arial"/>
                <a:cs typeface="Arial"/>
              </a:defRPr>
            </a:pPr>
            <a:r>
              <a:rPr sz="1425">
                <a:solidFill>
                  <a:srgbClr val="B4E7DD"/>
                </a:solidFill>
                <a:latin typeface="Arial"/>
                <a:ea typeface="Arial"/>
                <a:cs typeface="Arial"/>
              </a:rPr>
              <a:t>Verifier</a:t>
            </a:r>
          </a:p>
        </p:txBody>
      </p:sp>
      <p:sp>
        <p:nvSpPr>
          <p:cNvPr id="12" name="revision">
            <a:extLst xmlns:a="http://schemas.openxmlformats.org/drawingml/2006/main">
              <a:ext uri="{FF2B5EF4-FFF2-40B4-BE49-F238E27FC236}">
                <a16:creationId xmlns:a16="http://schemas.microsoft.com/office/drawing/2014/main" id="{CA4442E2-F264-40D5-900D-4CDE2792C272}"/>
              </a:ext>
            </a:extLst>
          </p:cNvPr>
          <p:cNvSpPr>
            <a:spLocks xmlns:a="http://schemas.openxmlformats.org/drawingml/2006/main" noGrp="1"/>
          </p:cNvSpPr>
          <p:nvPr/>
        </p:nvSpPr>
        <p:spPr>
          <a:xfrm xmlns:a="http://schemas.openxmlformats.org/drawingml/2006/main">
            <a:off x="7524750" y="5095875"/>
            <a:ext cx="1524000" cy="600075"/>
          </a:xfrm>
          <a:prstGeom xmlns:a="http://schemas.openxmlformats.org/drawingml/2006/main" prst="rect">
            <a:avLst/>
          </a:prstGeom>
          <a:solidFill xmlns:a="http://schemas.openxmlformats.org/drawingml/2006/main">
            <a:srgbClr val="1B2D3D"/>
          </a:solidFill>
          <a:ln xmlns:a="http://schemas.openxmlformats.org/drawingml/2006/main" w="7620">
            <a:solidFill>
              <a:srgbClr val="B4E7DD"/>
            </a:solidFill>
          </a:ln>
        </p:spPr>
        <p:txBody>
          <a:bodyPr xmlns:a="http://schemas.openxmlformats.org/drawingml/2006/main" lIns="57150" tIns="57150" rIns="57150" bIns="57150" anchor="ctr"/>
          <a:lstStyle xmlns:a="http://schemas.openxmlformats.org/drawingml/2006/main">
            <a:defPPr algn="ctr">
              <a:defRPr sz="1425">
                <a:solidFill>
                  <a:srgbClr val="B4E7DD"/>
                </a:solidFill>
                <a:latin typeface="Arial"/>
                <a:ea typeface="Arial"/>
                <a:cs typeface="Arial"/>
              </a:defRPr>
            </a:defPPr>
          </a:lstStyle>
          <a:p xmlns:a="http://schemas.openxmlformats.org/drawingml/2006/main">
            <a:pPr algn="ctr">
              <a:defRPr sz="1425">
                <a:solidFill>
                  <a:srgbClr val="B4E7DD"/>
                </a:solidFill>
                <a:latin typeface="Arial"/>
                <a:ea typeface="Arial"/>
                <a:cs typeface="Arial"/>
              </a:defRPr>
            </a:pPr>
            <a:r>
              <a:rPr sz="1425">
                <a:solidFill>
                  <a:srgbClr val="B4E7DD"/>
                </a:solidFill>
                <a:latin typeface="Arial"/>
                <a:ea typeface="Arial"/>
                <a:cs typeface="Arial"/>
              </a:rPr>
              <a:t>Bull revision</a:t>
            </a:r>
          </a:p>
        </p:txBody>
      </p:sp>
      <p:sp>
        <p:nvSpPr>
          <p:cNvPr id="13" name="committee">
            <a:extLst xmlns:a="http://schemas.openxmlformats.org/drawingml/2006/main">
              <a:ext uri="{FF2B5EF4-FFF2-40B4-BE49-F238E27FC236}">
                <a16:creationId xmlns:a16="http://schemas.microsoft.com/office/drawing/2014/main" id="{E0DAC068-65F3-4A68-9107-CAC4B50B9E8B}"/>
              </a:ext>
            </a:extLst>
          </p:cNvPr>
          <p:cNvSpPr>
            <a:spLocks xmlns:a="http://schemas.openxmlformats.org/drawingml/2006/main" noGrp="1"/>
          </p:cNvSpPr>
          <p:nvPr/>
        </p:nvSpPr>
        <p:spPr>
          <a:xfrm xmlns:a="http://schemas.openxmlformats.org/drawingml/2006/main">
            <a:off x="9829800" y="5095875"/>
            <a:ext cx="1666875" cy="600075"/>
          </a:xfrm>
          <a:prstGeom xmlns:a="http://schemas.openxmlformats.org/drawingml/2006/main" prst="rect">
            <a:avLst/>
          </a:prstGeom>
          <a:solidFill xmlns:a="http://schemas.openxmlformats.org/drawingml/2006/main">
            <a:srgbClr val="1B2D3D"/>
          </a:solidFill>
          <a:ln xmlns:a="http://schemas.openxmlformats.org/drawingml/2006/main" w="7620">
            <a:solidFill>
              <a:srgbClr val="F1F7FA"/>
            </a:solidFill>
          </a:ln>
        </p:spPr>
        <p:txBody>
          <a:bodyPr xmlns:a="http://schemas.openxmlformats.org/drawingml/2006/main" lIns="57150" tIns="57150" rIns="57150" bIns="57150" anchor="ctr"/>
          <a:lstStyle xmlns:a="http://schemas.openxmlformats.org/drawingml/2006/main">
            <a:defPPr algn="ctr">
              <a:defRPr sz="1425">
                <a:solidFill>
                  <a:srgbClr val="F1F7FA"/>
                </a:solidFill>
                <a:latin typeface="Arial"/>
                <a:ea typeface="Arial"/>
                <a:cs typeface="Arial"/>
              </a:defRPr>
            </a:defPPr>
          </a:lstStyle>
          <a:p xmlns:a="http://schemas.openxmlformats.org/drawingml/2006/main">
            <a:pPr algn="ctr">
              <a:defRPr sz="1425">
                <a:solidFill>
                  <a:srgbClr val="F1F7FA"/>
                </a:solidFill>
                <a:latin typeface="Arial"/>
                <a:ea typeface="Arial"/>
                <a:cs typeface="Arial"/>
              </a:defRPr>
            </a:pPr>
            <a:r>
              <a:rPr sz="1425">
                <a:solidFill>
                  <a:srgbClr val="F1F7FA"/>
                </a:solidFill>
                <a:latin typeface="Arial"/>
                <a:ea typeface="Arial"/>
                <a:cs typeface="Arial"/>
              </a:rPr>
              <a:t>Investment</a:t>
            </a:r>
          </a:p>
          <a:p xmlns:a="http://schemas.openxmlformats.org/drawingml/2006/main">
            <a:pPr algn="ctr">
              <a:defRPr sz="1425">
                <a:solidFill>
                  <a:srgbClr val="F1F7FA"/>
                </a:solidFill>
                <a:latin typeface="Arial"/>
                <a:ea typeface="Arial"/>
                <a:cs typeface="Arial"/>
              </a:defRPr>
            </a:pPr>
            <a:r>
              <a:rPr sz="1425">
                <a:solidFill>
                  <a:srgbClr val="F1F7FA"/>
                </a:solidFill>
                <a:latin typeface="Arial"/>
                <a:ea typeface="Arial"/>
                <a:cs typeface="Arial"/>
              </a:rPr>
              <a:t>committee</a:t>
            </a:r>
          </a:p>
        </p:txBody>
      </p:sp>
      <p:sp>
        <p:nvSpPr>
          <p:cNvPr id="24" name="parallel-research">
            <a:extLst xmlns:a="http://schemas.openxmlformats.org/drawingml/2006/main">
              <a:ext uri="{FF2B5EF4-FFF2-40B4-BE49-F238E27FC236}">
                <a16:creationId xmlns:a16="http://schemas.microsoft.com/office/drawing/2014/main" id="{52F599D0-CB48-46E4-9F5B-5208E9FAAB03}"/>
              </a:ext>
            </a:extLst>
          </p:cNvPr>
          <p:cNvSpPr>
            <a:spLocks xmlns:a="http://schemas.openxmlformats.org/drawingml/2006/main" noGrp="1"/>
          </p:cNvSpPr>
          <p:nvPr/>
        </p:nvSpPr>
        <p:spPr>
          <a:xfrm xmlns:a="http://schemas.openxmlformats.org/drawingml/2006/main">
            <a:off x="5505450" y="2181225"/>
            <a:ext cx="32670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ABBDCC"/>
                </a:solidFill>
                <a:latin typeface="Arial"/>
                <a:ea typeface="Arial"/>
                <a:cs typeface="Arial"/>
              </a:defRPr>
            </a:defPPr>
          </a:lstStyle>
          <a:p xmlns:a="http://schemas.openxmlformats.org/drawingml/2006/main">
            <a:pPr>
              <a:defRPr sz="975" b="0">
                <a:solidFill>
                  <a:srgbClr val="ABBDCC"/>
                </a:solidFill>
                <a:latin typeface="Arial"/>
                <a:ea typeface="Arial"/>
                <a:cs typeface="Arial"/>
              </a:defRPr>
            </a:pPr>
            <a:r>
              <a:rPr sz="975" b="0">
                <a:solidFill>
                  <a:srgbClr val="ABBDCC"/>
                </a:solidFill>
                <a:latin typeface="Arial"/>
                <a:ea typeface="Arial"/>
                <a:cs typeface="Arial"/>
              </a:rPr>
              <a:t>PUBLIC PROFESSIONAL / MARKET RESEARCH</a:t>
            </a:r>
          </a:p>
        </p:txBody>
      </p:sp>
      <p:sp>
        <p:nvSpPr>
          <p:cNvPr id="25" name="architecture-note">
            <a:extLst xmlns:a="http://schemas.openxmlformats.org/drawingml/2006/main">
              <a:ext uri="{FF2B5EF4-FFF2-40B4-BE49-F238E27FC236}">
                <a16:creationId xmlns:a16="http://schemas.microsoft.com/office/drawing/2014/main" id="{55ABDCEC-38B5-487E-8AD5-5A84BB41327C}"/>
              </a:ext>
            </a:extLst>
          </p:cNvPr>
          <p:cNvSpPr>
            <a:spLocks xmlns:a="http://schemas.openxmlformats.org/drawingml/2006/main" noGrp="1"/>
          </p:cNvSpPr>
          <p:nvPr/>
        </p:nvSpPr>
        <p:spPr>
          <a:xfrm xmlns:a="http://schemas.openxmlformats.org/drawingml/2006/main">
            <a:off x="619125" y="6076950"/>
            <a:ext cx="10001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ABBDCC"/>
                </a:solidFill>
                <a:latin typeface="Arial"/>
                <a:ea typeface="Arial"/>
                <a:cs typeface="Arial"/>
              </a:defRPr>
            </a:defPPr>
          </a:lstStyle>
          <a:p xmlns:a="http://schemas.openxmlformats.org/drawingml/2006/main">
            <a:pPr>
              <a:defRPr sz="1500" b="0">
                <a:solidFill>
                  <a:srgbClr val="ABBDCC"/>
                </a:solidFill>
                <a:latin typeface="Arial"/>
                <a:ea typeface="Arial"/>
                <a:cs typeface="Arial"/>
              </a:defRPr>
            </a:pPr>
            <a:r>
              <a:rPr sz="1500" b="0">
                <a:solidFill>
                  <a:srgbClr val="ABBDCC"/>
                </a:solidFill>
                <a:latin typeface="Arial"/>
                <a:ea typeface="Arial"/>
                <a:cs typeface="Arial"/>
              </a:rPr>
              <a:t>Persisted evidence and bounded budgets support long runs, interruption recovery and an inspectable history.</a:t>
            </a:r>
          </a:p>
        </p:txBody>
      </p:sp>
    </p:spTree>
    <p:extLst>
      <p:ext uri="{BB962C8B-B14F-4D97-AF65-F5344CB8AC3E}">
        <p14:creationId xmlns:p14="http://schemas.microsoft.com/office/powerpoint/2010/main" val="772188483"/>
      </p:ext>
    </p:extLst>
  </p:cSld>
</p:sld>
</file>

<file path=ppt/slides/slide6.xml><?xml version="1.0" encoding="utf-8"?>
<p:sld xmlns:p="http://schemas.openxmlformats.org/presentationml/2006/main">
  <p:cSld>
    <p:bg>
      <p:bgPr>
        <a:solidFill xmlns:a="http://schemas.openxmlformats.org/drawingml/2006/main">
          <a:srgbClr val="142330"/>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7E8BCFB8-D441-4EE8-B189-75A9858C745A}"/>
              </a:ext>
            </a:extLst>
          </p:cNvPr>
          <p:cNvSpPr>
            <a:spLocks xmlns:a="http://schemas.openxmlformats.org/drawingml/2006/main" noGrp="1"/>
          </p:cNvSpPr>
          <p:nvPr/>
        </p:nvSpPr>
        <p:spPr>
          <a:xfrm xmlns:a="http://schemas.openxmlformats.org/drawingml/2006/main">
            <a:off x="11277600" y="62674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BBDCC"/>
                </a:solidFill>
                <a:latin typeface="Arial"/>
                <a:ea typeface="Arial"/>
                <a:cs typeface="Arial"/>
              </a:defRPr>
            </a:defPPr>
          </a:lstStyle>
          <a:p xmlns:a="http://schemas.openxmlformats.org/drawingml/2006/main">
            <a:pPr>
              <a:defRPr sz="1050" b="0">
                <a:solidFill>
                  <a:srgbClr val="ABBDCC"/>
                </a:solidFill>
                <a:latin typeface="Arial"/>
                <a:ea typeface="Arial"/>
                <a:cs typeface="Arial"/>
              </a:defRPr>
            </a:pPr>
            <a:r>
              <a:rPr sz="1050" b="0">
                <a:solidFill>
                  <a:srgbClr val="ABBDCC"/>
                </a:solidFill>
                <a:latin typeface="Arial"/>
                <a:ea typeface="Arial"/>
                <a:cs typeface="Arial"/>
              </a:rPr>
              <a:t>06</a:t>
            </a:r>
          </a:p>
        </p:txBody>
      </p:sp>
      <p:sp>
        <p:nvSpPr>
          <p:cNvPr id="2" name="slide-title">
            <a:extLst xmlns:a="http://schemas.openxmlformats.org/drawingml/2006/main">
              <a:ext uri="{FF2B5EF4-FFF2-40B4-BE49-F238E27FC236}">
                <a16:creationId xmlns:a16="http://schemas.microsoft.com/office/drawing/2014/main" id="{F965FC3E-AC9A-4486-A762-06126C3E90FD}"/>
              </a:ext>
            </a:extLst>
          </p:cNvPr>
          <p:cNvSpPr>
            <a:spLocks xmlns:a="http://schemas.openxmlformats.org/drawingml/2006/main" noGrp="1"/>
          </p:cNvSpPr>
          <p:nvPr/>
        </p:nvSpPr>
        <p:spPr>
          <a:xfrm xmlns:a="http://schemas.openxmlformats.org/drawingml/2006/main">
            <a:off x="6096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0">
                <a:solidFill>
                  <a:srgbClr val="F1F7FA"/>
                </a:solidFill>
                <a:latin typeface="Arial"/>
                <a:ea typeface="Arial"/>
                <a:cs typeface="Arial"/>
              </a:defRPr>
            </a:defPPr>
          </a:lstStyle>
          <a:p xmlns:a="http://schemas.openxmlformats.org/drawingml/2006/main">
            <a:pPr>
              <a:defRPr sz="3450" b="0">
                <a:solidFill>
                  <a:srgbClr val="F1F7FA"/>
                </a:solidFill>
                <a:latin typeface="Arial"/>
                <a:ea typeface="Arial"/>
                <a:cs typeface="Arial"/>
              </a:defRPr>
            </a:pPr>
            <a:r>
              <a:rPr sz="3450" b="0">
                <a:solidFill>
                  <a:srgbClr val="F1F7FA"/>
                </a:solidFill>
                <a:latin typeface="Arial"/>
                <a:ea typeface="Arial"/>
                <a:cs typeface="Arial"/>
              </a:rPr>
              <a:t>A real correction changed the thesis</a:t>
            </a:r>
          </a:p>
        </p:txBody>
      </p:sp>
      <p:sp>
        <p:nvSpPr>
          <p:cNvPr id="3" name="case-label">
            <a:extLst xmlns:a="http://schemas.openxmlformats.org/drawingml/2006/main">
              <a:ext uri="{FF2B5EF4-FFF2-40B4-BE49-F238E27FC236}">
                <a16:creationId xmlns:a16="http://schemas.microsoft.com/office/drawing/2014/main" id="{8FC03FE3-0A10-4AD8-AEF7-9FAE1A8CFC95}"/>
              </a:ext>
            </a:extLst>
          </p:cNvPr>
          <p:cNvSpPr>
            <a:spLocks xmlns:a="http://schemas.openxmlformats.org/drawingml/2006/main" noGrp="1"/>
          </p:cNvSpPr>
          <p:nvPr/>
        </p:nvSpPr>
        <p:spPr>
          <a:xfrm xmlns:a="http://schemas.openxmlformats.org/drawingml/2006/main">
            <a:off x="619125" y="1638300"/>
            <a:ext cx="709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C6B6F3"/>
                </a:solidFill>
                <a:latin typeface="Arial"/>
                <a:ea typeface="Arial"/>
                <a:cs typeface="Arial"/>
              </a:defRPr>
            </a:defPPr>
          </a:lstStyle>
          <a:p xmlns:a="http://schemas.openxmlformats.org/drawingml/2006/main">
            <a:pPr>
              <a:defRPr sz="1350" b="1">
                <a:solidFill>
                  <a:srgbClr val="C6B6F3"/>
                </a:solidFill>
                <a:latin typeface="Arial"/>
                <a:ea typeface="Arial"/>
                <a:cs typeface="Arial"/>
              </a:defRPr>
            </a:pPr>
            <a:r>
              <a:rPr sz="1350" b="1">
                <a:solidFill>
                  <a:srgbClr val="C6B6F3"/>
                </a:solidFill>
                <a:latin typeface="Arial"/>
                <a:ea typeface="Arial"/>
                <a:cs typeface="Arial"/>
              </a:rPr>
              <a:t>RECORDED BROWSERBASE INVESTIGATION</a:t>
            </a:r>
          </a:p>
        </p:txBody>
      </p:sp>
      <p:sp>
        <p:nvSpPr>
          <p:cNvPr id="4" name="wrong-attribution">
            <a:extLst xmlns:a="http://schemas.openxmlformats.org/drawingml/2006/main">
              <a:ext uri="{FF2B5EF4-FFF2-40B4-BE49-F238E27FC236}">
                <a16:creationId xmlns:a16="http://schemas.microsoft.com/office/drawing/2014/main" id="{0020743D-3B6A-40CA-92D9-D21CD6087FAD}"/>
              </a:ext>
            </a:extLst>
          </p:cNvPr>
          <p:cNvSpPr>
            <a:spLocks xmlns:a="http://schemas.openxmlformats.org/drawingml/2006/main" noGrp="1"/>
          </p:cNvSpPr>
          <p:nvPr/>
        </p:nvSpPr>
        <p:spPr>
          <a:xfrm xmlns:a="http://schemas.openxmlformats.org/drawingml/2006/main">
            <a:off x="619125" y="2200275"/>
            <a:ext cx="647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0">
                <a:solidFill>
                  <a:srgbClr val="F1AFBA"/>
                </a:solidFill>
                <a:latin typeface="Arial"/>
                <a:ea typeface="Arial"/>
                <a:cs typeface="Arial"/>
              </a:defRPr>
            </a:defPPr>
          </a:lstStyle>
          <a:p xmlns:a="http://schemas.openxmlformats.org/drawingml/2006/main">
            <a:pPr>
              <a:defRPr sz="3150" b="0">
                <a:solidFill>
                  <a:srgbClr val="F1AFBA"/>
                </a:solidFill>
                <a:latin typeface="Arial"/>
                <a:ea typeface="Arial"/>
                <a:cs typeface="Arial"/>
              </a:defRPr>
            </a:pPr>
            <a:r>
              <a:rPr sz="3150" b="0">
                <a:solidFill>
                  <a:srgbClr val="F1AFBA"/>
                </a:solidFill>
                <a:latin typeface="Arial"/>
                <a:ea typeface="Arial"/>
                <a:cs typeface="Arial"/>
              </a:rPr>
              <a:t>Salesforce and Visa</a:t>
            </a:r>
          </a:p>
        </p:txBody>
      </p:sp>
      <p:sp>
        <p:nvSpPr>
          <p:cNvPr id="5" name="case-explanation">
            <a:extLst xmlns:a="http://schemas.openxmlformats.org/drawingml/2006/main">
              <a:ext uri="{FF2B5EF4-FFF2-40B4-BE49-F238E27FC236}">
                <a16:creationId xmlns:a16="http://schemas.microsoft.com/office/drawing/2014/main" id="{1E120CDC-1058-4036-952E-801896F61A83}"/>
              </a:ext>
            </a:extLst>
          </p:cNvPr>
          <p:cNvSpPr>
            <a:spLocks xmlns:a="http://schemas.openxmlformats.org/drawingml/2006/main" noGrp="1"/>
          </p:cNvSpPr>
          <p:nvPr/>
        </p:nvSpPr>
        <p:spPr>
          <a:xfrm xmlns:a="http://schemas.openxmlformats.org/drawingml/2006/main">
            <a:off x="638175" y="2981325"/>
            <a:ext cx="62674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F1F7FA"/>
                </a:solidFill>
                <a:latin typeface="Arial"/>
                <a:ea typeface="Arial"/>
                <a:cs typeface="Arial"/>
              </a:defRPr>
            </a:defPPr>
          </a:lstStyle>
          <a:p xmlns:a="http://schemas.openxmlformats.org/drawingml/2006/main">
            <a:pPr>
              <a:defRPr sz="2100" b="0">
                <a:solidFill>
                  <a:srgbClr val="F1F7FA"/>
                </a:solidFill>
                <a:latin typeface="Arial"/>
                <a:ea typeface="Arial"/>
                <a:cs typeface="Arial"/>
              </a:defRPr>
            </a:pPr>
            <a:r>
              <a:rPr sz="2100" b="0">
                <a:solidFill>
                  <a:srgbClr val="F1F7FA"/>
                </a:solidFill>
                <a:latin typeface="Arial"/>
                <a:ea typeface="Arial"/>
                <a:cs typeface="Arial"/>
              </a:rPr>
              <a:t>The cited article named them under</a:t>
            </a:r>
          </a:p>
          <a:p xmlns:a="http://schemas.openxmlformats.org/drawingml/2006/main">
            <a:pPr>
              <a:defRPr sz="2100" b="0">
                <a:solidFill>
                  <a:srgbClr val="F1F7FA"/>
                </a:solidFill>
                <a:latin typeface="Arial"/>
                <a:ea typeface="Arial"/>
                <a:cs typeface="Arial"/>
              </a:defRPr>
            </a:pPr>
            <a:r>
              <a:rPr sz="2100" b="0">
                <a:solidFill>
                  <a:srgbClr val="F1F7FA"/>
                </a:solidFill>
                <a:latin typeface="Arial"/>
                <a:ea typeface="Arial"/>
                <a:cs typeface="Arial"/>
              </a:rPr>
              <a:t>competitor Sauce Labs. Verification</a:t>
            </a:r>
          </a:p>
          <a:p xmlns:a="http://schemas.openxmlformats.org/drawingml/2006/main">
            <a:pPr>
              <a:defRPr sz="2100" b="0">
                <a:solidFill>
                  <a:srgbClr val="F1F7FA"/>
                </a:solidFill>
                <a:latin typeface="Arial"/>
                <a:ea typeface="Arial"/>
                <a:cs typeface="Arial"/>
              </a:defRPr>
            </a:pPr>
            <a:r>
              <a:rPr sz="2100" b="0">
                <a:solidFill>
                  <a:srgbClr val="F1F7FA"/>
                </a:solidFill>
                <a:latin typeface="Arial"/>
                <a:ea typeface="Arial"/>
                <a:cs typeface="Arial"/>
              </a:rPr>
              <a:t>withdrew the Browserbase attribution.</a:t>
            </a:r>
          </a:p>
        </p:txBody>
      </p:sp>
      <p:sp>
        <p:nvSpPr>
          <p:cNvPr id="6" name="case-verdict">
            <a:extLst xmlns:a="http://schemas.openxmlformats.org/drawingml/2006/main">
              <a:ext uri="{FF2B5EF4-FFF2-40B4-BE49-F238E27FC236}">
                <a16:creationId xmlns:a16="http://schemas.microsoft.com/office/drawing/2014/main" id="{939930A0-DB49-4422-A0B7-6760569E98F4}"/>
              </a:ext>
            </a:extLst>
          </p:cNvPr>
          <p:cNvSpPr>
            <a:spLocks xmlns:a="http://schemas.openxmlformats.org/drawingml/2006/main" noGrp="1"/>
          </p:cNvSpPr>
          <p:nvPr/>
        </p:nvSpPr>
        <p:spPr>
          <a:xfrm xmlns:a="http://schemas.openxmlformats.org/drawingml/2006/main">
            <a:off x="609600" y="4543425"/>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800" b="0">
                <a:solidFill>
                  <a:srgbClr val="B4E7DD"/>
                </a:solidFill>
                <a:latin typeface="Arial"/>
                <a:ea typeface="Arial"/>
                <a:cs typeface="Arial"/>
              </a:defRPr>
            </a:defPPr>
          </a:lstStyle>
          <a:p xmlns:a="http://schemas.openxmlformats.org/drawingml/2006/main">
            <a:pPr>
              <a:defRPr sz="4800" b="0">
                <a:solidFill>
                  <a:srgbClr val="B4E7DD"/>
                </a:solidFill>
                <a:latin typeface="Arial"/>
                <a:ea typeface="Arial"/>
                <a:cs typeface="Arial"/>
              </a:defRPr>
            </a:pPr>
            <a:r>
              <a:rPr sz="4800" b="0">
                <a:solidFill>
                  <a:srgbClr val="B4E7DD"/>
                </a:solidFill>
                <a:latin typeface="Arial"/>
                <a:ea typeface="Arial"/>
                <a:cs typeface="Arial"/>
              </a:rPr>
              <a:t>MONITOR</a:t>
            </a:r>
          </a:p>
        </p:txBody>
      </p:sp>
      <p:sp>
        <p:nvSpPr>
          <p:cNvPr id="7" name="case-confidence">
            <a:extLst xmlns:a="http://schemas.openxmlformats.org/drawingml/2006/main">
              <a:ext uri="{FF2B5EF4-FFF2-40B4-BE49-F238E27FC236}">
                <a16:creationId xmlns:a16="http://schemas.microsoft.com/office/drawing/2014/main" id="{4DF78695-54D3-4042-A53E-BBA921B4B8B6}"/>
              </a:ext>
            </a:extLst>
          </p:cNvPr>
          <p:cNvSpPr>
            <a:spLocks xmlns:a="http://schemas.openxmlformats.org/drawingml/2006/main" noGrp="1"/>
          </p:cNvSpPr>
          <p:nvPr/>
        </p:nvSpPr>
        <p:spPr>
          <a:xfrm xmlns:a="http://schemas.openxmlformats.org/drawingml/2006/main">
            <a:off x="638175" y="5324475"/>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ABBDCC"/>
                </a:solidFill>
                <a:latin typeface="Arial"/>
                <a:ea typeface="Arial"/>
                <a:cs typeface="Arial"/>
              </a:defRPr>
            </a:defPPr>
          </a:lstStyle>
          <a:p xmlns:a="http://schemas.openxmlformats.org/drawingml/2006/main">
            <a:pPr>
              <a:defRPr sz="1950" b="0">
                <a:solidFill>
                  <a:srgbClr val="ABBDCC"/>
                </a:solidFill>
                <a:latin typeface="Arial"/>
                <a:ea typeface="Arial"/>
                <a:cs typeface="Arial"/>
              </a:defRPr>
            </a:pPr>
            <a:r>
              <a:rPr sz="1950" b="0">
                <a:solidFill>
                  <a:srgbClr val="ABBDCC"/>
                </a:solidFill>
                <a:latin typeface="Arial"/>
                <a:ea typeface="Arial"/>
                <a:cs typeface="Arial"/>
              </a:rPr>
              <a:t>Low research confidence</a:t>
            </a:r>
          </a:p>
        </p:txBody>
      </p:sp>
      <p:pic>
        <p:nvPicPr>
          <p:cNvPr id="8" name="">
            <a:extLst xmlns:a="http://schemas.openxmlformats.org/drawingml/2006/main">
              <a:ext uri="{FF2B5EF4-FFF2-40B4-BE49-F238E27FC236}">
                <a16:creationId xmlns:a16="http://schemas.microsoft.com/office/drawing/2014/main" id="{B363DB56-F44F-4CDC-810F-6B11B4CAE640}"/>
              </a:ext>
            </a:extLst>
          </p:cNvPr>
          <p:cNvPicPr>
            <a:picLocks xmlns:a="http://schemas.openxmlformats.org/drawingml/2006/main" noChangeAspect="1"/>
          </p:cNvPicPr>
          <p:nvPr/>
        </p:nvPicPr>
        <p:blipFill>
          <a:blip xmlns:r="http://schemas.openxmlformats.org/officeDocument/2006/relationships" xmlns:a="http://schemas.openxmlformats.org/drawingml/2006/main" r:embed="R43afb6f0afb74d40"/>
          <a:stretch xmlns:a="http://schemas.openxmlformats.org/drawingml/2006/main"/>
        </p:blipFill>
        <p:spPr>
          <a:xfrm xmlns:a="http://schemas.openxmlformats.org/drawingml/2006/main">
            <a:off x="7296150" y="2247066"/>
            <a:ext cx="4248150" cy="3116344"/>
          </a:xfrm>
          <a:prstGeom xmlns:a="http://schemas.openxmlformats.org/drawingml/2006/main" prst="rect">
            <a:avLst/>
          </a:prstGeom>
        </p:spPr>
      </p:pic>
      <p:sp>
        <p:nvSpPr>
          <p:cNvPr id="9" name="case-counts">
            <a:extLst xmlns:a="http://schemas.openxmlformats.org/drawingml/2006/main">
              <a:ext uri="{FF2B5EF4-FFF2-40B4-BE49-F238E27FC236}">
                <a16:creationId xmlns:a16="http://schemas.microsoft.com/office/drawing/2014/main" id="{C3144222-C438-46B7-BF43-D2104FA419AF}"/>
              </a:ext>
            </a:extLst>
          </p:cNvPr>
          <p:cNvSpPr>
            <a:spLocks xmlns:a="http://schemas.openxmlformats.org/drawingml/2006/main" noGrp="1"/>
          </p:cNvSpPr>
          <p:nvPr/>
        </p:nvSpPr>
        <p:spPr>
          <a:xfrm xmlns:a="http://schemas.openxmlformats.org/drawingml/2006/main">
            <a:off x="638175" y="60960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C6B6F3"/>
                </a:solidFill>
                <a:latin typeface="Arial"/>
                <a:ea typeface="Arial"/>
                <a:cs typeface="Arial"/>
              </a:defRPr>
            </a:defPPr>
          </a:lstStyle>
          <a:p xmlns:a="http://schemas.openxmlformats.org/drawingml/2006/main">
            <a:pPr>
              <a:defRPr sz="1575" b="0">
                <a:solidFill>
                  <a:srgbClr val="C6B6F3"/>
                </a:solidFill>
                <a:latin typeface="Arial"/>
                <a:ea typeface="Arial"/>
                <a:cs typeface="Arial"/>
              </a:defRPr>
            </a:pPr>
            <a:r>
              <a:rPr sz="1575" b="0">
                <a:solidFill>
                  <a:srgbClr val="C6B6F3"/>
                </a:solidFill>
                <a:latin typeface="Arial"/>
                <a:ea typeface="Arial"/>
                <a:cs typeface="Arial"/>
              </a:rPr>
              <a:t>9 agent roles     28 evidence records     22 source URLs</a:t>
            </a:r>
          </a:p>
        </p:txBody>
      </p:sp>
    </p:spTree>
    <p:extLst>
      <p:ext uri="{BB962C8B-B14F-4D97-AF65-F5344CB8AC3E}">
        <p14:creationId xmlns:p14="http://schemas.microsoft.com/office/powerpoint/2010/main" val="1043570017"/>
      </p:ext>
    </p:extLst>
  </p:cSld>
</p:sld>
</file>

<file path=ppt/slides/slide7.xml><?xml version="1.0" encoding="utf-8"?>
<p:sld xmlns:p="http://schemas.openxmlformats.org/presentationml/2006/main">
  <p:cSld>
    <p:bg>
      <p:bgPr>
        <a:solidFill xmlns:a="http://schemas.openxmlformats.org/drawingml/2006/main">
          <a:srgbClr val="142330"/>
        </a:solidFill>
      </p:bgPr>
    </p:bg>
    <p:spTree>
      <p:nvGrpSpPr>
        <p:cNvPr id="1" name=""/>
        <p:cNvGrpSpPr/>
        <p:nvPr/>
      </p:nvGrpSpPr>
      <p:grpSpPr>
        <a:xfrm xmlns:a="http://schemas.openxmlformats.org/drawingml/2006/main"/>
      </p:grpSpPr>
      <p:sp>
        <p:nvSpPr>
          <p:cNvPr id="16" name="slide-number">
            <a:extLst xmlns:a="http://schemas.openxmlformats.org/drawingml/2006/main">
              <a:ext uri="{FF2B5EF4-FFF2-40B4-BE49-F238E27FC236}">
                <a16:creationId xmlns:a16="http://schemas.microsoft.com/office/drawing/2014/main" id="{9DDF1E9E-D23B-4709-A58B-28633D660455}"/>
              </a:ext>
            </a:extLst>
          </p:cNvPr>
          <p:cNvSpPr>
            <a:spLocks xmlns:a="http://schemas.openxmlformats.org/drawingml/2006/main" noGrp="1"/>
          </p:cNvSpPr>
          <p:nvPr/>
        </p:nvSpPr>
        <p:spPr>
          <a:xfrm xmlns:a="http://schemas.openxmlformats.org/drawingml/2006/main">
            <a:off x="11277600" y="62674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BBDCC"/>
                </a:solidFill>
                <a:latin typeface="Arial"/>
                <a:ea typeface="Arial"/>
                <a:cs typeface="Arial"/>
              </a:defRPr>
            </a:defPPr>
          </a:lstStyle>
          <a:p xmlns:a="http://schemas.openxmlformats.org/drawingml/2006/main">
            <a:pPr>
              <a:defRPr sz="1050" b="0">
                <a:solidFill>
                  <a:srgbClr val="ABBDCC"/>
                </a:solidFill>
                <a:latin typeface="Arial"/>
                <a:ea typeface="Arial"/>
                <a:cs typeface="Arial"/>
              </a:defRPr>
            </a:pPr>
            <a:r>
              <a:rPr sz="1050" b="0">
                <a:solidFill>
                  <a:srgbClr val="ABBDCC"/>
                </a:solidFill>
                <a:latin typeface="Arial"/>
                <a:ea typeface="Arial"/>
                <a:cs typeface="Arial"/>
              </a:rPr>
              <a:t>07</a:t>
            </a:r>
          </a:p>
        </p:txBody>
      </p:sp>
      <p:sp>
        <p:nvSpPr>
          <p:cNvPr id="2" name="slide-title">
            <a:extLst xmlns:a="http://schemas.openxmlformats.org/drawingml/2006/main">
              <a:ext uri="{FF2B5EF4-FFF2-40B4-BE49-F238E27FC236}">
                <a16:creationId xmlns:a16="http://schemas.microsoft.com/office/drawing/2014/main" id="{376B96F8-920C-420E-B7A1-6D91EB12F760}"/>
              </a:ext>
            </a:extLst>
          </p:cNvPr>
          <p:cNvSpPr>
            <a:spLocks xmlns:a="http://schemas.openxmlformats.org/drawingml/2006/main" noGrp="1"/>
          </p:cNvSpPr>
          <p:nvPr/>
        </p:nvSpPr>
        <p:spPr>
          <a:xfrm xmlns:a="http://schemas.openxmlformats.org/drawingml/2006/main">
            <a:off x="6096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0">
                <a:solidFill>
                  <a:srgbClr val="F1F7FA"/>
                </a:solidFill>
                <a:latin typeface="Arial"/>
                <a:ea typeface="Arial"/>
                <a:cs typeface="Arial"/>
              </a:defRPr>
            </a:defPPr>
          </a:lstStyle>
          <a:p xmlns:a="http://schemas.openxmlformats.org/drawingml/2006/main">
            <a:pPr>
              <a:defRPr sz="3450" b="0">
                <a:solidFill>
                  <a:srgbClr val="F1F7FA"/>
                </a:solidFill>
                <a:latin typeface="Arial"/>
                <a:ea typeface="Arial"/>
                <a:cs typeface="Arial"/>
              </a:defRPr>
            </a:pPr>
            <a:r>
              <a:rPr sz="3450" b="0">
                <a:solidFill>
                  <a:srgbClr val="F1F7FA"/>
                </a:solidFill>
                <a:latin typeface="Arial"/>
                <a:ea typeface="Arial"/>
                <a:cs typeface="Arial"/>
              </a:rPr>
              <a:t>Responsible design: evidence before confidence</a:t>
            </a:r>
          </a:p>
        </p:txBody>
      </p:sp>
      <p:sp>
        <p:nvSpPr>
          <p:cNvPr id="3" name="rule-01">
            <a:extLst xmlns:a="http://schemas.openxmlformats.org/drawingml/2006/main">
              <a:ext uri="{FF2B5EF4-FFF2-40B4-BE49-F238E27FC236}">
                <a16:creationId xmlns:a16="http://schemas.microsoft.com/office/drawing/2014/main" id="{BC35DD34-8A3D-4506-90F0-7AB42F5116FB}"/>
              </a:ext>
            </a:extLst>
          </p:cNvPr>
          <p:cNvSpPr>
            <a:spLocks xmlns:a="http://schemas.openxmlformats.org/drawingml/2006/main" noGrp="1"/>
          </p:cNvSpPr>
          <p:nvPr/>
        </p:nvSpPr>
        <p:spPr>
          <a:xfrm xmlns:a="http://schemas.openxmlformats.org/drawingml/2006/main">
            <a:off x="619125" y="18478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B4E7DD"/>
                </a:solidFill>
                <a:latin typeface="Arial"/>
                <a:ea typeface="Arial"/>
                <a:cs typeface="Arial"/>
              </a:defRPr>
            </a:defPPr>
          </a:lstStyle>
          <a:p xmlns:a="http://schemas.openxmlformats.org/drawingml/2006/main">
            <a:pPr>
              <a:defRPr sz="2175" b="0">
                <a:solidFill>
                  <a:srgbClr val="B4E7DD"/>
                </a:solidFill>
                <a:latin typeface="Arial"/>
                <a:ea typeface="Arial"/>
                <a:cs typeface="Arial"/>
              </a:defRPr>
            </a:pPr>
            <a:r>
              <a:rPr sz="2175" b="0">
                <a:solidFill>
                  <a:srgbClr val="B4E7DD"/>
                </a:solidFill>
                <a:latin typeface="Arial"/>
                <a:ea typeface="Arial"/>
                <a:cs typeface="Arial"/>
              </a:rPr>
              <a:t>01</a:t>
            </a:r>
          </a:p>
        </p:txBody>
      </p:sp>
      <p:sp>
        <p:nvSpPr>
          <p:cNvPr id="4" name="rule-title-01">
            <a:extLst xmlns:a="http://schemas.openxmlformats.org/drawingml/2006/main">
              <a:ext uri="{FF2B5EF4-FFF2-40B4-BE49-F238E27FC236}">
                <a16:creationId xmlns:a16="http://schemas.microsoft.com/office/drawing/2014/main" id="{6168F4AD-C908-4FFA-93F8-253569257B16}"/>
              </a:ext>
            </a:extLst>
          </p:cNvPr>
          <p:cNvSpPr>
            <a:spLocks xmlns:a="http://schemas.openxmlformats.org/drawingml/2006/main" noGrp="1"/>
          </p:cNvSpPr>
          <p:nvPr/>
        </p:nvSpPr>
        <p:spPr>
          <a:xfrm xmlns:a="http://schemas.openxmlformats.org/drawingml/2006/main">
            <a:off x="1381125" y="18478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F1F7FA"/>
                </a:solidFill>
                <a:latin typeface="Arial"/>
                <a:ea typeface="Arial"/>
                <a:cs typeface="Arial"/>
              </a:defRPr>
            </a:defPPr>
          </a:lstStyle>
          <a:p xmlns:a="http://schemas.openxmlformats.org/drawingml/2006/main">
            <a:pPr>
              <a:defRPr sz="2175" b="0">
                <a:solidFill>
                  <a:srgbClr val="F1F7FA"/>
                </a:solidFill>
                <a:latin typeface="Arial"/>
                <a:ea typeface="Arial"/>
                <a:cs typeface="Arial"/>
              </a:defRPr>
            </a:pPr>
            <a:r>
              <a:rPr sz="2175" b="0">
                <a:solidFill>
                  <a:srgbClr val="F1F7FA"/>
                </a:solidFill>
                <a:latin typeface="Arial"/>
                <a:ea typeface="Arial"/>
                <a:cs typeface="Arial"/>
              </a:rPr>
              <a:t>Company, valuation amount and date</a:t>
            </a:r>
          </a:p>
        </p:txBody>
      </p:sp>
      <p:sp>
        <p:nvSpPr>
          <p:cNvPr id="5" name="rule-body-01">
            <a:extLst xmlns:a="http://schemas.openxmlformats.org/drawingml/2006/main">
              <a:ext uri="{FF2B5EF4-FFF2-40B4-BE49-F238E27FC236}">
                <a16:creationId xmlns:a16="http://schemas.microsoft.com/office/drawing/2014/main" id="{26252509-C578-4C9A-8BE1-B70760A2865D}"/>
              </a:ext>
            </a:extLst>
          </p:cNvPr>
          <p:cNvSpPr>
            <a:spLocks xmlns:a="http://schemas.openxmlformats.org/drawingml/2006/main" noGrp="1"/>
          </p:cNvSpPr>
          <p:nvPr/>
        </p:nvSpPr>
        <p:spPr>
          <a:xfrm xmlns:a="http://schemas.openxmlformats.org/drawingml/2006/main">
            <a:off x="1400175" y="2305050"/>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ABBDCC"/>
                </a:solidFill>
                <a:latin typeface="Arial"/>
                <a:ea typeface="Arial"/>
                <a:cs typeface="Arial"/>
              </a:defRPr>
            </a:defPPr>
          </a:lstStyle>
          <a:p xmlns:a="http://schemas.openxmlformats.org/drawingml/2006/main">
            <a:pPr>
              <a:defRPr sz="1650" b="0">
                <a:solidFill>
                  <a:srgbClr val="ABBDCC"/>
                </a:solidFill>
                <a:latin typeface="Arial"/>
                <a:ea typeface="Arial"/>
                <a:cs typeface="Arial"/>
              </a:defRPr>
            </a:pPr>
            <a:r>
              <a:rPr sz="1650" b="0">
                <a:solidFill>
                  <a:srgbClr val="ABBDCC"/>
                </a:solidFill>
                <a:latin typeface="Arial"/>
                <a:ea typeface="Arial"/>
                <a:cs typeface="Arial"/>
              </a:rPr>
              <a:t>A funding amount or SAFE cap cannot substitute for a priced valuation.</a:t>
            </a:r>
          </a:p>
        </p:txBody>
      </p:sp>
      <p:sp>
        <p:nvSpPr>
          <p:cNvPr id="6" name="rule-02">
            <a:extLst xmlns:a="http://schemas.openxmlformats.org/drawingml/2006/main">
              <a:ext uri="{FF2B5EF4-FFF2-40B4-BE49-F238E27FC236}">
                <a16:creationId xmlns:a16="http://schemas.microsoft.com/office/drawing/2014/main" id="{6B7E63BE-3F5B-4833-97D6-326071988BF8}"/>
              </a:ext>
            </a:extLst>
          </p:cNvPr>
          <p:cNvSpPr>
            <a:spLocks xmlns:a="http://schemas.openxmlformats.org/drawingml/2006/main" noGrp="1"/>
          </p:cNvSpPr>
          <p:nvPr/>
        </p:nvSpPr>
        <p:spPr>
          <a:xfrm xmlns:a="http://schemas.openxmlformats.org/drawingml/2006/main">
            <a:off x="619125" y="28765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B4E7DD"/>
                </a:solidFill>
                <a:latin typeface="Arial"/>
                <a:ea typeface="Arial"/>
                <a:cs typeface="Arial"/>
              </a:defRPr>
            </a:defPPr>
          </a:lstStyle>
          <a:p xmlns:a="http://schemas.openxmlformats.org/drawingml/2006/main">
            <a:pPr>
              <a:defRPr sz="2175" b="0">
                <a:solidFill>
                  <a:srgbClr val="B4E7DD"/>
                </a:solidFill>
                <a:latin typeface="Arial"/>
                <a:ea typeface="Arial"/>
                <a:cs typeface="Arial"/>
              </a:defRPr>
            </a:pPr>
            <a:r>
              <a:rPr sz="2175" b="0">
                <a:solidFill>
                  <a:srgbClr val="B4E7DD"/>
                </a:solidFill>
                <a:latin typeface="Arial"/>
                <a:ea typeface="Arial"/>
                <a:cs typeface="Arial"/>
              </a:rPr>
              <a:t>02</a:t>
            </a:r>
          </a:p>
        </p:txBody>
      </p:sp>
      <p:sp>
        <p:nvSpPr>
          <p:cNvPr id="7" name="rule-title-02">
            <a:extLst xmlns:a="http://schemas.openxmlformats.org/drawingml/2006/main">
              <a:ext uri="{FF2B5EF4-FFF2-40B4-BE49-F238E27FC236}">
                <a16:creationId xmlns:a16="http://schemas.microsoft.com/office/drawing/2014/main" id="{BECAB6E2-A61A-42D0-B9DE-FF9BDCCD4C31}"/>
              </a:ext>
            </a:extLst>
          </p:cNvPr>
          <p:cNvSpPr>
            <a:spLocks xmlns:a="http://schemas.openxmlformats.org/drawingml/2006/main" noGrp="1"/>
          </p:cNvSpPr>
          <p:nvPr/>
        </p:nvSpPr>
        <p:spPr>
          <a:xfrm xmlns:a="http://schemas.openxmlformats.org/drawingml/2006/main">
            <a:off x="1381125" y="28765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F1F7FA"/>
                </a:solidFill>
                <a:latin typeface="Arial"/>
                <a:ea typeface="Arial"/>
                <a:cs typeface="Arial"/>
              </a:defRPr>
            </a:defPPr>
          </a:lstStyle>
          <a:p xmlns:a="http://schemas.openxmlformats.org/drawingml/2006/main">
            <a:pPr>
              <a:defRPr sz="2175" b="0">
                <a:solidFill>
                  <a:srgbClr val="F1F7FA"/>
                </a:solidFill>
                <a:latin typeface="Arial"/>
                <a:ea typeface="Arial"/>
                <a:cs typeface="Arial"/>
              </a:defRPr>
            </a:pPr>
            <a:r>
              <a:rPr sz="2175" b="0">
                <a:solidFill>
                  <a:srgbClr val="F1F7FA"/>
                </a:solidFill>
                <a:latin typeface="Arial"/>
                <a:ea typeface="Arial"/>
                <a:cs typeface="Arial"/>
              </a:rPr>
              <a:t>Only admitted research URLs</a:t>
            </a:r>
          </a:p>
        </p:txBody>
      </p:sp>
      <p:sp>
        <p:nvSpPr>
          <p:cNvPr id="8" name="rule-body-02">
            <a:extLst xmlns:a="http://schemas.openxmlformats.org/drawingml/2006/main">
              <a:ext uri="{FF2B5EF4-FFF2-40B4-BE49-F238E27FC236}">
                <a16:creationId xmlns:a16="http://schemas.microsoft.com/office/drawing/2014/main" id="{09E254E3-0330-4BB6-8807-6A90C6998EA6}"/>
              </a:ext>
            </a:extLst>
          </p:cNvPr>
          <p:cNvSpPr>
            <a:spLocks xmlns:a="http://schemas.openxmlformats.org/drawingml/2006/main" noGrp="1"/>
          </p:cNvSpPr>
          <p:nvPr/>
        </p:nvSpPr>
        <p:spPr>
          <a:xfrm xmlns:a="http://schemas.openxmlformats.org/drawingml/2006/main">
            <a:off x="1400175" y="3333750"/>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ABBDCC"/>
                </a:solidFill>
                <a:latin typeface="Arial"/>
                <a:ea typeface="Arial"/>
                <a:cs typeface="Arial"/>
              </a:defRPr>
            </a:defPPr>
          </a:lstStyle>
          <a:p xmlns:a="http://schemas.openxmlformats.org/drawingml/2006/main">
            <a:pPr>
              <a:defRPr sz="1650" b="0">
                <a:solidFill>
                  <a:srgbClr val="ABBDCC"/>
                </a:solidFill>
                <a:latin typeface="Arial"/>
                <a:ea typeface="Arial"/>
                <a:cs typeface="Arial"/>
              </a:defRPr>
            </a:pPr>
            <a:r>
              <a:rPr sz="1650" b="0">
                <a:solidFill>
                  <a:srgbClr val="ABBDCC"/>
                </a:solidFill>
                <a:latin typeface="Arial"/>
                <a:ea typeface="Arial"/>
                <a:cs typeface="Arial"/>
              </a:rPr>
              <a:t>Source corrections retain the original audit trail.</a:t>
            </a:r>
          </a:p>
        </p:txBody>
      </p:sp>
      <p:sp>
        <p:nvSpPr>
          <p:cNvPr id="9" name="rule-03">
            <a:extLst xmlns:a="http://schemas.openxmlformats.org/drawingml/2006/main">
              <a:ext uri="{FF2B5EF4-FFF2-40B4-BE49-F238E27FC236}">
                <a16:creationId xmlns:a16="http://schemas.microsoft.com/office/drawing/2014/main" id="{6EA92F0D-4F70-4403-A085-ABB95D0123EA}"/>
              </a:ext>
            </a:extLst>
          </p:cNvPr>
          <p:cNvSpPr>
            <a:spLocks xmlns:a="http://schemas.openxmlformats.org/drawingml/2006/main" noGrp="1"/>
          </p:cNvSpPr>
          <p:nvPr/>
        </p:nvSpPr>
        <p:spPr>
          <a:xfrm xmlns:a="http://schemas.openxmlformats.org/drawingml/2006/main">
            <a:off x="619125" y="39052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B4E7DD"/>
                </a:solidFill>
                <a:latin typeface="Arial"/>
                <a:ea typeface="Arial"/>
                <a:cs typeface="Arial"/>
              </a:defRPr>
            </a:defPPr>
          </a:lstStyle>
          <a:p xmlns:a="http://schemas.openxmlformats.org/drawingml/2006/main">
            <a:pPr>
              <a:defRPr sz="2175" b="0">
                <a:solidFill>
                  <a:srgbClr val="B4E7DD"/>
                </a:solidFill>
                <a:latin typeface="Arial"/>
                <a:ea typeface="Arial"/>
                <a:cs typeface="Arial"/>
              </a:defRPr>
            </a:pPr>
            <a:r>
              <a:rPr sz="2175" b="0">
                <a:solidFill>
                  <a:srgbClr val="B4E7DD"/>
                </a:solidFill>
                <a:latin typeface="Arial"/>
                <a:ea typeface="Arial"/>
                <a:cs typeface="Arial"/>
              </a:rPr>
              <a:t>03</a:t>
            </a:r>
          </a:p>
        </p:txBody>
      </p:sp>
      <p:sp>
        <p:nvSpPr>
          <p:cNvPr id="10" name="rule-title-03">
            <a:extLst xmlns:a="http://schemas.openxmlformats.org/drawingml/2006/main">
              <a:ext uri="{FF2B5EF4-FFF2-40B4-BE49-F238E27FC236}">
                <a16:creationId xmlns:a16="http://schemas.microsoft.com/office/drawing/2014/main" id="{D16FD2EA-6396-47B8-8767-700114FDEF91}"/>
              </a:ext>
            </a:extLst>
          </p:cNvPr>
          <p:cNvSpPr>
            <a:spLocks xmlns:a="http://schemas.openxmlformats.org/drawingml/2006/main" noGrp="1"/>
          </p:cNvSpPr>
          <p:nvPr/>
        </p:nvSpPr>
        <p:spPr>
          <a:xfrm xmlns:a="http://schemas.openxmlformats.org/drawingml/2006/main">
            <a:off x="1381125" y="39052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F1F7FA"/>
                </a:solidFill>
                <a:latin typeface="Arial"/>
                <a:ea typeface="Arial"/>
                <a:cs typeface="Arial"/>
              </a:defRPr>
            </a:defPPr>
          </a:lstStyle>
          <a:p xmlns:a="http://schemas.openxmlformats.org/drawingml/2006/main">
            <a:pPr>
              <a:defRPr sz="2175" b="0">
                <a:solidFill>
                  <a:srgbClr val="F1F7FA"/>
                </a:solidFill>
                <a:latin typeface="Arial"/>
                <a:ea typeface="Arial"/>
                <a:cs typeface="Arial"/>
              </a:defRPr>
            </a:pPr>
            <a:r>
              <a:rPr sz="2175" b="0">
                <a:solidFill>
                  <a:srgbClr val="F1F7FA"/>
                </a:solidFill>
                <a:latin typeface="Arial"/>
                <a:ea typeface="Arial"/>
                <a:cs typeface="Arial"/>
              </a:rPr>
              <a:t>Unknowns stay visible</a:t>
            </a:r>
          </a:p>
        </p:txBody>
      </p:sp>
      <p:sp>
        <p:nvSpPr>
          <p:cNvPr id="11" name="rule-body-03">
            <a:extLst xmlns:a="http://schemas.openxmlformats.org/drawingml/2006/main">
              <a:ext uri="{FF2B5EF4-FFF2-40B4-BE49-F238E27FC236}">
                <a16:creationId xmlns:a16="http://schemas.microsoft.com/office/drawing/2014/main" id="{4C8F947C-CB9B-4536-B498-AEB4D59A032E}"/>
              </a:ext>
            </a:extLst>
          </p:cNvPr>
          <p:cNvSpPr>
            <a:spLocks xmlns:a="http://schemas.openxmlformats.org/drawingml/2006/main" noGrp="1"/>
          </p:cNvSpPr>
          <p:nvPr/>
        </p:nvSpPr>
        <p:spPr>
          <a:xfrm xmlns:a="http://schemas.openxmlformats.org/drawingml/2006/main">
            <a:off x="1400175" y="4362450"/>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ABBDCC"/>
                </a:solidFill>
                <a:latin typeface="Arial"/>
                <a:ea typeface="Arial"/>
                <a:cs typeface="Arial"/>
              </a:defRPr>
            </a:defPPr>
          </a:lstStyle>
          <a:p xmlns:a="http://schemas.openxmlformats.org/drawingml/2006/main">
            <a:pPr>
              <a:defRPr sz="1650" b="0">
                <a:solidFill>
                  <a:srgbClr val="ABBDCC"/>
                </a:solidFill>
                <a:latin typeface="Arial"/>
                <a:ea typeface="Arial"/>
                <a:cs typeface="Arial"/>
              </a:defRPr>
            </a:pPr>
            <a:r>
              <a:rPr sz="1650" b="0">
                <a:solidFill>
                  <a:srgbClr val="ABBDCC"/>
                </a:solidFill>
                <a:latin typeface="Arial"/>
                <a:ea typeface="Arial"/>
                <a:cs typeface="Arial"/>
              </a:rPr>
              <a:t>Unpriced companies remain outside the ranked list.</a:t>
            </a:r>
          </a:p>
        </p:txBody>
      </p:sp>
      <p:sp>
        <p:nvSpPr>
          <p:cNvPr id="12" name="rule-04">
            <a:extLst xmlns:a="http://schemas.openxmlformats.org/drawingml/2006/main">
              <a:ext uri="{FF2B5EF4-FFF2-40B4-BE49-F238E27FC236}">
                <a16:creationId xmlns:a16="http://schemas.microsoft.com/office/drawing/2014/main" id="{196856BB-13B1-44FF-A34B-02DE77C7EB6F}"/>
              </a:ext>
            </a:extLst>
          </p:cNvPr>
          <p:cNvSpPr>
            <a:spLocks xmlns:a="http://schemas.openxmlformats.org/drawingml/2006/main" noGrp="1"/>
          </p:cNvSpPr>
          <p:nvPr/>
        </p:nvSpPr>
        <p:spPr>
          <a:xfrm xmlns:a="http://schemas.openxmlformats.org/drawingml/2006/main">
            <a:off x="619125" y="49339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B4E7DD"/>
                </a:solidFill>
                <a:latin typeface="Arial"/>
                <a:ea typeface="Arial"/>
                <a:cs typeface="Arial"/>
              </a:defRPr>
            </a:defPPr>
          </a:lstStyle>
          <a:p xmlns:a="http://schemas.openxmlformats.org/drawingml/2006/main">
            <a:pPr>
              <a:defRPr sz="2175" b="0">
                <a:solidFill>
                  <a:srgbClr val="B4E7DD"/>
                </a:solidFill>
                <a:latin typeface="Arial"/>
                <a:ea typeface="Arial"/>
                <a:cs typeface="Arial"/>
              </a:defRPr>
            </a:pPr>
            <a:r>
              <a:rPr sz="2175" b="0">
                <a:solidFill>
                  <a:srgbClr val="B4E7DD"/>
                </a:solidFill>
                <a:latin typeface="Arial"/>
                <a:ea typeface="Arial"/>
                <a:cs typeface="Arial"/>
              </a:rPr>
              <a:t>04</a:t>
            </a:r>
          </a:p>
        </p:txBody>
      </p:sp>
      <p:sp>
        <p:nvSpPr>
          <p:cNvPr id="13" name="rule-title-04">
            <a:extLst xmlns:a="http://schemas.openxmlformats.org/drawingml/2006/main">
              <a:ext uri="{FF2B5EF4-FFF2-40B4-BE49-F238E27FC236}">
                <a16:creationId xmlns:a16="http://schemas.microsoft.com/office/drawing/2014/main" id="{33071821-C8AB-4A62-9EA1-226131938E35}"/>
              </a:ext>
            </a:extLst>
          </p:cNvPr>
          <p:cNvSpPr>
            <a:spLocks xmlns:a="http://schemas.openxmlformats.org/drawingml/2006/main" noGrp="1"/>
          </p:cNvSpPr>
          <p:nvPr/>
        </p:nvSpPr>
        <p:spPr>
          <a:xfrm xmlns:a="http://schemas.openxmlformats.org/drawingml/2006/main">
            <a:off x="1381125" y="49339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F1F7FA"/>
                </a:solidFill>
                <a:latin typeface="Arial"/>
                <a:ea typeface="Arial"/>
                <a:cs typeface="Arial"/>
              </a:defRPr>
            </a:defPPr>
          </a:lstStyle>
          <a:p xmlns:a="http://schemas.openxmlformats.org/drawingml/2006/main">
            <a:pPr>
              <a:defRPr sz="2175" b="0">
                <a:solidFill>
                  <a:srgbClr val="F1F7FA"/>
                </a:solidFill>
                <a:latin typeface="Arial"/>
                <a:ea typeface="Arial"/>
                <a:cs typeface="Arial"/>
              </a:defRPr>
            </a:pPr>
            <a:r>
              <a:rPr sz="2175" b="0">
                <a:solidFill>
                  <a:srgbClr val="F1F7FA"/>
                </a:solidFill>
                <a:latin typeface="Arial"/>
                <a:ea typeface="Arial"/>
                <a:cs typeface="Arial"/>
              </a:rPr>
              <a:t>A bounded research process</a:t>
            </a:r>
          </a:p>
        </p:txBody>
      </p:sp>
      <p:sp>
        <p:nvSpPr>
          <p:cNvPr id="14" name="rule-body-04">
            <a:extLst xmlns:a="http://schemas.openxmlformats.org/drawingml/2006/main">
              <a:ext uri="{FF2B5EF4-FFF2-40B4-BE49-F238E27FC236}">
                <a16:creationId xmlns:a16="http://schemas.microsoft.com/office/drawing/2014/main" id="{C16A35EC-40DC-41B7-AC16-50C009DD2FBE}"/>
              </a:ext>
            </a:extLst>
          </p:cNvPr>
          <p:cNvSpPr>
            <a:spLocks xmlns:a="http://schemas.openxmlformats.org/drawingml/2006/main" noGrp="1"/>
          </p:cNvSpPr>
          <p:nvPr/>
        </p:nvSpPr>
        <p:spPr>
          <a:xfrm xmlns:a="http://schemas.openxmlformats.org/drawingml/2006/main">
            <a:off x="1400175" y="5391150"/>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ABBDCC"/>
                </a:solidFill>
                <a:latin typeface="Arial"/>
                <a:ea typeface="Arial"/>
                <a:cs typeface="Arial"/>
              </a:defRPr>
            </a:defPPr>
          </a:lstStyle>
          <a:p xmlns:a="http://schemas.openxmlformats.org/drawingml/2006/main">
            <a:pPr>
              <a:defRPr sz="1650" b="0">
                <a:solidFill>
                  <a:srgbClr val="ABBDCC"/>
                </a:solidFill>
                <a:latin typeface="Arial"/>
                <a:ea typeface="Arial"/>
                <a:cs typeface="Arial"/>
              </a:defRPr>
            </a:pPr>
            <a:r>
              <a:rPr sz="1650" b="0">
                <a:solidFill>
                  <a:srgbClr val="ABBDCC"/>
                </a:solidFill>
                <a:latin typeface="Arial"/>
                <a:ea typeface="Arial"/>
                <a:cs typeface="Arial"/>
              </a:rPr>
              <a:t>Public professional records, server-side keys and explicit partial results.</a:t>
            </a:r>
          </a:p>
        </p:txBody>
      </p:sp>
      <p:sp>
        <p:nvSpPr>
          <p:cNvPr id="15" name="source-history-limitation">
            <a:extLst xmlns:a="http://schemas.openxmlformats.org/drawingml/2006/main">
              <a:ext uri="{FF2B5EF4-FFF2-40B4-BE49-F238E27FC236}">
                <a16:creationId xmlns:a16="http://schemas.microsoft.com/office/drawing/2014/main" id="{33ED3F77-11F6-4849-BE1D-BCE701E7B272}"/>
              </a:ext>
            </a:extLst>
          </p:cNvPr>
          <p:cNvSpPr>
            <a:spLocks xmlns:a="http://schemas.openxmlformats.org/drawingml/2006/main" noGrp="1"/>
          </p:cNvSpPr>
          <p:nvPr/>
        </p:nvSpPr>
        <p:spPr>
          <a:xfrm xmlns:a="http://schemas.openxmlformats.org/drawingml/2006/main">
            <a:off x="628650" y="62674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C6B6F3"/>
                </a:solidFill>
                <a:latin typeface="Arial"/>
                <a:ea typeface="Arial"/>
                <a:cs typeface="Arial"/>
              </a:defRPr>
            </a:defPPr>
          </a:lstStyle>
          <a:p xmlns:a="http://schemas.openxmlformats.org/drawingml/2006/main">
            <a:pPr>
              <a:defRPr sz="1350" b="0">
                <a:solidFill>
                  <a:srgbClr val="C6B6F3"/>
                </a:solidFill>
                <a:latin typeface="Arial"/>
                <a:ea typeface="Arial"/>
                <a:cs typeface="Arial"/>
              </a:defRPr>
            </a:pPr>
            <a:r>
              <a:rPr sz="1350" b="0">
                <a:solidFill>
                  <a:srgbClr val="C6B6F3"/>
                </a:solidFill>
                <a:latin typeface="Arial"/>
                <a:ea typeface="Arial"/>
                <a:cs typeface="Arial"/>
              </a:rPr>
              <a:t>Publisher investment hit rates remain unmeasured. A citation can still be misread.</a:t>
            </a:r>
          </a:p>
        </p:txBody>
      </p:sp>
    </p:spTree>
    <p:extLst>
      <p:ext uri="{BB962C8B-B14F-4D97-AF65-F5344CB8AC3E}">
        <p14:creationId xmlns:p14="http://schemas.microsoft.com/office/powerpoint/2010/main" val="252148030"/>
      </p:ext>
    </p:extLst>
  </p:cSld>
</p:sld>
</file>

<file path=ppt/slides/slide8.xml><?xml version="1.0" encoding="utf-8"?>
<p:sld xmlns:p="http://schemas.openxmlformats.org/presentationml/2006/main">
  <p:cSld>
    <p:bg>
      <p:bgPr>
        <a:solidFill xmlns:a="http://schemas.openxmlformats.org/drawingml/2006/main">
          <a:srgbClr val="B4E7DD"/>
        </a:solidFill>
      </p:bgPr>
    </p:bg>
    <p:spTree>
      <p:nvGrpSpPr>
        <p:cNvPr id="1" name=""/>
        <p:cNvGrpSpPr/>
        <p:nvPr/>
      </p:nvGrpSpPr>
      <p:grpSpPr>
        <a:xfrm xmlns:a="http://schemas.openxmlformats.org/drawingml/2006/main"/>
      </p:grpSpPr>
      <p:sp>
        <p:nvSpPr>
          <p:cNvPr id="11" name="slide-number">
            <a:extLst xmlns:a="http://schemas.openxmlformats.org/drawingml/2006/main">
              <a:ext uri="{FF2B5EF4-FFF2-40B4-BE49-F238E27FC236}">
                <a16:creationId xmlns:a16="http://schemas.microsoft.com/office/drawing/2014/main" id="{01F0A468-4715-49F8-BFF3-E79659B6A941}"/>
              </a:ext>
            </a:extLst>
          </p:cNvPr>
          <p:cNvSpPr>
            <a:spLocks xmlns:a="http://schemas.openxmlformats.org/drawingml/2006/main" noGrp="1"/>
          </p:cNvSpPr>
          <p:nvPr/>
        </p:nvSpPr>
        <p:spPr>
          <a:xfrm xmlns:a="http://schemas.openxmlformats.org/drawingml/2006/main">
            <a:off x="11277600" y="62674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BBDCC"/>
                </a:solidFill>
                <a:latin typeface="Arial"/>
                <a:ea typeface="Arial"/>
                <a:cs typeface="Arial"/>
              </a:defRPr>
            </a:defPPr>
          </a:lstStyle>
          <a:p xmlns:a="http://schemas.openxmlformats.org/drawingml/2006/main">
            <a:pPr>
              <a:defRPr sz="1050" b="0">
                <a:solidFill>
                  <a:srgbClr val="ABBDCC"/>
                </a:solidFill>
                <a:latin typeface="Arial"/>
                <a:ea typeface="Arial"/>
                <a:cs typeface="Arial"/>
              </a:defRPr>
            </a:pPr>
            <a:r>
              <a:rPr sz="1050" b="0">
                <a:solidFill>
                  <a:srgbClr val="ABBDCC"/>
                </a:solidFill>
                <a:latin typeface="Arial"/>
                <a:ea typeface="Arial"/>
                <a:cs typeface="Arial"/>
              </a:rPr>
              <a:t>08</a:t>
            </a:r>
          </a:p>
        </p:txBody>
      </p:sp>
      <p:sp>
        <p:nvSpPr>
          <p:cNvPr id="2" name="slide-title">
            <a:extLst xmlns:a="http://schemas.openxmlformats.org/drawingml/2006/main">
              <a:ext uri="{FF2B5EF4-FFF2-40B4-BE49-F238E27FC236}">
                <a16:creationId xmlns:a16="http://schemas.microsoft.com/office/drawing/2014/main" id="{B2A32961-B9BB-4436-9255-4846128293DA}"/>
              </a:ext>
            </a:extLst>
          </p:cNvPr>
          <p:cNvSpPr>
            <a:spLocks xmlns:a="http://schemas.openxmlformats.org/drawingml/2006/main" noGrp="1"/>
          </p:cNvSpPr>
          <p:nvPr/>
        </p:nvSpPr>
        <p:spPr>
          <a:xfrm xmlns:a="http://schemas.openxmlformats.org/drawingml/2006/main">
            <a:off x="6096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0">
                <a:solidFill>
                  <a:srgbClr val="142330"/>
                </a:solidFill>
                <a:latin typeface="Arial"/>
                <a:ea typeface="Arial"/>
                <a:cs typeface="Arial"/>
              </a:defRPr>
            </a:defPPr>
          </a:lstStyle>
          <a:p xmlns:a="http://schemas.openxmlformats.org/drawingml/2006/main">
            <a:pPr>
              <a:defRPr sz="3450" b="0">
                <a:solidFill>
                  <a:srgbClr val="142330"/>
                </a:solidFill>
                <a:latin typeface="Arial"/>
                <a:ea typeface="Arial"/>
                <a:cs typeface="Arial"/>
              </a:defRPr>
            </a:pPr>
            <a:r>
              <a:rPr sz="3450" b="0">
                <a:solidFill>
                  <a:srgbClr val="142330"/>
                </a:solidFill>
                <a:latin typeface="Arial"/>
                <a:ea typeface="Arial"/>
                <a:cs typeface="Arial"/>
              </a:rPr>
              <a:t>The pilot proposal</a:t>
            </a:r>
          </a:p>
        </p:txBody>
      </p:sp>
      <p:sp>
        <p:nvSpPr>
          <p:cNvPr id="3" name="pricing-label">
            <a:extLst xmlns:a="http://schemas.openxmlformats.org/drawingml/2006/main">
              <a:ext uri="{FF2B5EF4-FFF2-40B4-BE49-F238E27FC236}">
                <a16:creationId xmlns:a16="http://schemas.microsoft.com/office/drawing/2014/main" id="{BADB134F-5D3A-487C-9A21-AE281A777FE0}"/>
              </a:ext>
            </a:extLst>
          </p:cNvPr>
          <p:cNvSpPr>
            <a:spLocks xmlns:a="http://schemas.openxmlformats.org/drawingml/2006/main" noGrp="1"/>
          </p:cNvSpPr>
          <p:nvPr/>
        </p:nvSpPr>
        <p:spPr>
          <a:xfrm xmlns:a="http://schemas.openxmlformats.org/drawingml/2006/main">
            <a:off x="619125" y="1819275"/>
            <a:ext cx="561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1">
                <a:solidFill>
                  <a:srgbClr val="45626C"/>
                </a:solidFill>
                <a:latin typeface="Arial"/>
                <a:ea typeface="Arial"/>
                <a:cs typeface="Arial"/>
              </a:defRPr>
            </a:defPPr>
          </a:lstStyle>
          <a:p xmlns:a="http://schemas.openxmlformats.org/drawingml/2006/main">
            <a:pPr>
              <a:defRPr sz="1425" b="1">
                <a:solidFill>
                  <a:srgbClr val="45626C"/>
                </a:solidFill>
                <a:latin typeface="Arial"/>
                <a:ea typeface="Arial"/>
                <a:cs typeface="Arial"/>
              </a:defRPr>
            </a:pPr>
            <a:r>
              <a:rPr sz="1425" b="1">
                <a:solidFill>
                  <a:srgbClr val="45626C"/>
                </a:solidFill>
                <a:latin typeface="Arial"/>
                <a:ea typeface="Arial"/>
                <a:cs typeface="Arial"/>
              </a:rPr>
              <a:t>PROPOSED PRICING</a:t>
            </a:r>
          </a:p>
        </p:txBody>
      </p:sp>
      <p:sp>
        <p:nvSpPr>
          <p:cNvPr id="4" name="pricing">
            <a:extLst xmlns:a="http://schemas.openxmlformats.org/drawingml/2006/main">
              <a:ext uri="{FF2B5EF4-FFF2-40B4-BE49-F238E27FC236}">
                <a16:creationId xmlns:a16="http://schemas.microsoft.com/office/drawing/2014/main" id="{8E078C22-5F49-4954-A29E-3C3FB97BE3BB}"/>
              </a:ext>
            </a:extLst>
          </p:cNvPr>
          <p:cNvSpPr>
            <a:spLocks xmlns:a="http://schemas.openxmlformats.org/drawingml/2006/main" noGrp="1"/>
          </p:cNvSpPr>
          <p:nvPr/>
        </p:nvSpPr>
        <p:spPr>
          <a:xfrm xmlns:a="http://schemas.openxmlformats.org/drawingml/2006/main">
            <a:off x="571500" y="2476500"/>
            <a:ext cx="5619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950" b="0">
                <a:solidFill>
                  <a:srgbClr val="142330"/>
                </a:solidFill>
                <a:latin typeface="Arial"/>
                <a:ea typeface="Arial"/>
                <a:cs typeface="Arial"/>
              </a:defRPr>
            </a:defPPr>
          </a:lstStyle>
          <a:p xmlns:a="http://schemas.openxmlformats.org/drawingml/2006/main">
            <a:pPr>
              <a:defRPr sz="7950" b="0">
                <a:solidFill>
                  <a:srgbClr val="142330"/>
                </a:solidFill>
                <a:latin typeface="Arial"/>
                <a:ea typeface="Arial"/>
                <a:cs typeface="Arial"/>
              </a:defRPr>
            </a:pPr>
            <a:r>
              <a:rPr sz="7950" b="0">
                <a:solidFill>
                  <a:srgbClr val="142330"/>
                </a:solidFill>
                <a:latin typeface="Arial"/>
                <a:ea typeface="Arial"/>
                <a:cs typeface="Arial"/>
              </a:rPr>
              <a:t>$299</a:t>
            </a:r>
          </a:p>
        </p:txBody>
      </p:sp>
      <p:sp>
        <p:nvSpPr>
          <p:cNvPr id="5" name="pricing-unit">
            <a:extLst xmlns:a="http://schemas.openxmlformats.org/drawingml/2006/main">
              <a:ext uri="{FF2B5EF4-FFF2-40B4-BE49-F238E27FC236}">
                <a16:creationId xmlns:a16="http://schemas.microsoft.com/office/drawing/2014/main" id="{AEC91702-C71F-4A48-A58C-FC4EF9868341}"/>
              </a:ext>
            </a:extLst>
          </p:cNvPr>
          <p:cNvSpPr>
            <a:spLocks xmlns:a="http://schemas.openxmlformats.org/drawingml/2006/main" noGrp="1"/>
          </p:cNvSpPr>
          <p:nvPr/>
        </p:nvSpPr>
        <p:spPr>
          <a:xfrm xmlns:a="http://schemas.openxmlformats.org/drawingml/2006/main">
            <a:off x="647700" y="3914775"/>
            <a:ext cx="542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42330"/>
                </a:solidFill>
                <a:latin typeface="Arial"/>
                <a:ea typeface="Arial"/>
                <a:cs typeface="Arial"/>
              </a:defRPr>
            </a:defPPr>
          </a:lstStyle>
          <a:p xmlns:a="http://schemas.openxmlformats.org/drawingml/2006/main">
            <a:pPr>
              <a:defRPr sz="2400" b="0">
                <a:solidFill>
                  <a:srgbClr val="142330"/>
                </a:solidFill>
                <a:latin typeface="Arial"/>
                <a:ea typeface="Arial"/>
                <a:cs typeface="Arial"/>
              </a:defRPr>
            </a:pPr>
            <a:r>
              <a:rPr sz="2400" b="0">
                <a:solidFill>
                  <a:srgbClr val="142330"/>
                </a:solidFill>
                <a:latin typeface="Arial"/>
                <a:ea typeface="Arial"/>
                <a:cs typeface="Arial"/>
              </a:rPr>
              <a:t>per analyst / month</a:t>
            </a:r>
          </a:p>
        </p:txBody>
      </p:sp>
      <p:sp>
        <p:nvSpPr>
          <p:cNvPr id="6" name="pricing-team">
            <a:extLst xmlns:a="http://schemas.openxmlformats.org/drawingml/2006/main">
              <a:ext uri="{FF2B5EF4-FFF2-40B4-BE49-F238E27FC236}">
                <a16:creationId xmlns:a16="http://schemas.microsoft.com/office/drawing/2014/main" id="{34B5B5C3-09DB-42BE-A4C1-376B5654D8B5}"/>
              </a:ext>
            </a:extLst>
          </p:cNvPr>
          <p:cNvSpPr>
            <a:spLocks xmlns:a="http://schemas.openxmlformats.org/drawingml/2006/main" noGrp="1"/>
          </p:cNvSpPr>
          <p:nvPr/>
        </p:nvSpPr>
        <p:spPr>
          <a:xfrm xmlns:a="http://schemas.openxmlformats.org/drawingml/2006/main">
            <a:off x="647700" y="4695825"/>
            <a:ext cx="5334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5626C"/>
                </a:solidFill>
                <a:latin typeface="Arial"/>
                <a:ea typeface="Arial"/>
                <a:cs typeface="Arial"/>
              </a:defRPr>
            </a:defPPr>
          </a:lstStyle>
          <a:p xmlns:a="http://schemas.openxmlformats.org/drawingml/2006/main">
            <a:pPr>
              <a:defRPr sz="1875" b="0">
                <a:solidFill>
                  <a:srgbClr val="45626C"/>
                </a:solidFill>
                <a:latin typeface="Arial"/>
                <a:ea typeface="Arial"/>
                <a:cs typeface="Arial"/>
              </a:defRPr>
            </a:pPr>
            <a:r>
              <a:rPr sz="1875" b="0">
                <a:solidFill>
                  <a:srgbClr val="45626C"/>
                </a:solidFill>
                <a:latin typeface="Arial"/>
                <a:ea typeface="Arial"/>
                <a:cs typeface="Arial"/>
              </a:rPr>
              <a:t>Team plan with shared themes</a:t>
            </a:r>
          </a:p>
          <a:p xmlns:a="http://schemas.openxmlformats.org/drawingml/2006/main">
            <a:pPr>
              <a:defRPr sz="1875" b="0">
                <a:solidFill>
                  <a:srgbClr val="45626C"/>
                </a:solidFill>
                <a:latin typeface="Arial"/>
                <a:ea typeface="Arial"/>
                <a:cs typeface="Arial"/>
              </a:defRPr>
            </a:pPr>
            <a:r>
              <a:rPr sz="1875" b="0">
                <a:solidFill>
                  <a:srgbClr val="45626C"/>
                </a:solidFill>
                <a:latin typeface="Arial"/>
                <a:ea typeface="Arial"/>
                <a:cs typeface="Arial"/>
              </a:rPr>
              <a:t>and research usage limits</a:t>
            </a:r>
          </a:p>
        </p:txBody>
      </p:sp>
      <p:sp>
        <p:nvSpPr>
          <p:cNvPr id="7" name="pilot-ask">
            <a:extLst xmlns:a="http://schemas.openxmlformats.org/drawingml/2006/main">
              <a:ext uri="{FF2B5EF4-FFF2-40B4-BE49-F238E27FC236}">
                <a16:creationId xmlns:a16="http://schemas.microsoft.com/office/drawing/2014/main" id="{72344EC5-436E-44DB-BDA4-25F19A201F35}"/>
              </a:ext>
            </a:extLst>
          </p:cNvPr>
          <p:cNvSpPr>
            <a:spLocks xmlns:a="http://schemas.openxmlformats.org/drawingml/2006/main" noGrp="1"/>
          </p:cNvSpPr>
          <p:nvPr/>
        </p:nvSpPr>
        <p:spPr>
          <a:xfrm xmlns:a="http://schemas.openxmlformats.org/drawingml/2006/main">
            <a:off x="7048500" y="2305050"/>
            <a:ext cx="4714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0">
                <a:solidFill>
                  <a:srgbClr val="142330"/>
                </a:solidFill>
                <a:latin typeface="Arial"/>
                <a:ea typeface="Arial"/>
                <a:cs typeface="Arial"/>
              </a:defRPr>
            </a:defPPr>
          </a:lstStyle>
          <a:p xmlns:a="http://schemas.openxmlformats.org/drawingml/2006/main">
            <a:pPr>
              <a:defRPr sz="3600" b="0">
                <a:solidFill>
                  <a:srgbClr val="142330"/>
                </a:solidFill>
                <a:latin typeface="Arial"/>
                <a:ea typeface="Arial"/>
                <a:cs typeface="Arial"/>
              </a:defRPr>
            </a:pPr>
            <a:r>
              <a:rPr sz="3600" b="0">
                <a:solidFill>
                  <a:srgbClr val="142330"/>
                </a:solidFill>
                <a:latin typeface="Arial"/>
                <a:ea typeface="Arial"/>
                <a:cs typeface="Arial"/>
              </a:rPr>
              <a:t>Five pilot funds</a:t>
            </a:r>
          </a:p>
        </p:txBody>
      </p:sp>
      <p:sp>
        <p:nvSpPr>
          <p:cNvPr id="8" name="pilot-description">
            <a:extLst xmlns:a="http://schemas.openxmlformats.org/drawingml/2006/main">
              <a:ext uri="{FF2B5EF4-FFF2-40B4-BE49-F238E27FC236}">
                <a16:creationId xmlns:a16="http://schemas.microsoft.com/office/drawing/2014/main" id="{B35CCFF6-3325-4D04-A1D0-51EA0BA75DF2}"/>
              </a:ext>
            </a:extLst>
          </p:cNvPr>
          <p:cNvSpPr>
            <a:spLocks xmlns:a="http://schemas.openxmlformats.org/drawingml/2006/main" noGrp="1"/>
          </p:cNvSpPr>
          <p:nvPr/>
        </p:nvSpPr>
        <p:spPr>
          <a:xfrm xmlns:a="http://schemas.openxmlformats.org/drawingml/2006/main">
            <a:off x="7077075" y="3752850"/>
            <a:ext cx="4429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45626C"/>
                </a:solidFill>
                <a:latin typeface="Arial"/>
                <a:ea typeface="Arial"/>
                <a:cs typeface="Arial"/>
              </a:defRPr>
            </a:defPPr>
          </a:lstStyle>
          <a:p xmlns:a="http://schemas.openxmlformats.org/drawingml/2006/main">
            <a:pPr>
              <a:defRPr sz="2100" b="0">
                <a:solidFill>
                  <a:srgbClr val="45626C"/>
                </a:solidFill>
                <a:latin typeface="Arial"/>
                <a:ea typeface="Arial"/>
                <a:cs typeface="Arial"/>
              </a:defRPr>
            </a:pPr>
            <a:r>
              <a:rPr sz="2100" b="0">
                <a:solidFill>
                  <a:srgbClr val="45626C"/>
                </a:solidFill>
                <a:latin typeface="Arial"/>
                <a:ea typeface="Arial"/>
                <a:cs typeface="Arial"/>
              </a:rPr>
              <a:t>Test one real investment theme</a:t>
            </a:r>
          </a:p>
          <a:p xmlns:a="http://schemas.openxmlformats.org/drawingml/2006/main">
            <a:pPr>
              <a:defRPr sz="2100" b="0">
                <a:solidFill>
                  <a:srgbClr val="45626C"/>
                </a:solidFill>
                <a:latin typeface="Arial"/>
                <a:ea typeface="Arial"/>
                <a:cs typeface="Arial"/>
              </a:defRPr>
            </a:pPr>
            <a:r>
              <a:rPr sz="2100" b="0">
                <a:solidFill>
                  <a:srgbClr val="45626C"/>
                </a:solidFill>
                <a:latin typeface="Arial"/>
                <a:ea typeface="Arial"/>
                <a:cs typeface="Arial"/>
              </a:rPr>
              <a:t>with your own diligence questions.</a:t>
            </a:r>
          </a:p>
        </p:txBody>
      </p:sp>
      <p:sp>
        <p:nvSpPr>
          <p:cNvPr id="9" name="pilot-evaluation">
            <a:extLst xmlns:a="http://schemas.openxmlformats.org/drawingml/2006/main">
              <a:ext uri="{FF2B5EF4-FFF2-40B4-BE49-F238E27FC236}">
                <a16:creationId xmlns:a16="http://schemas.microsoft.com/office/drawing/2014/main" id="{C77AABC5-C6DB-4816-B0EE-C2383B65CA45}"/>
              </a:ext>
            </a:extLst>
          </p:cNvPr>
          <p:cNvSpPr>
            <a:spLocks xmlns:a="http://schemas.openxmlformats.org/drawingml/2006/main" noGrp="1"/>
          </p:cNvSpPr>
          <p:nvPr/>
        </p:nvSpPr>
        <p:spPr>
          <a:xfrm xmlns:a="http://schemas.openxmlformats.org/drawingml/2006/main">
            <a:off x="7077075" y="5019675"/>
            <a:ext cx="4429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42330"/>
                </a:solidFill>
                <a:latin typeface="Arial"/>
                <a:ea typeface="Arial"/>
                <a:cs typeface="Arial"/>
              </a:defRPr>
            </a:defPPr>
          </a:lstStyle>
          <a:p xmlns:a="http://schemas.openxmlformats.org/drawingml/2006/main">
            <a:pPr>
              <a:defRPr sz="1800" b="0">
                <a:solidFill>
                  <a:srgbClr val="142330"/>
                </a:solidFill>
                <a:latin typeface="Arial"/>
                <a:ea typeface="Arial"/>
                <a:cs typeface="Arial"/>
              </a:defRPr>
            </a:pPr>
            <a:r>
              <a:rPr sz="1800" b="0">
                <a:solidFill>
                  <a:srgbClr val="142330"/>
                </a:solidFill>
                <a:latin typeface="Arial"/>
                <a:ea typeface="Arial"/>
                <a:cs typeface="Arial"/>
              </a:rPr>
              <a:t>Measure the decision: time spent,</a:t>
            </a:r>
          </a:p>
          <a:p xmlns:a="http://schemas.openxmlformats.org/drawingml/2006/main">
            <a:pPr>
              <a:defRPr sz="1800" b="0">
                <a:solidFill>
                  <a:srgbClr val="142330"/>
                </a:solidFill>
                <a:latin typeface="Arial"/>
                <a:ea typeface="Arial"/>
                <a:cs typeface="Arial"/>
              </a:defRPr>
            </a:pPr>
            <a:r>
              <a:rPr sz="1800" b="0">
                <a:solidFill>
                  <a:srgbClr val="142330"/>
                </a:solidFill>
                <a:latin typeface="Arial"/>
                <a:ea typeface="Arial"/>
                <a:cs typeface="Arial"/>
              </a:rPr>
              <a:t>source coverage and whether a</a:t>
            </a:r>
          </a:p>
          <a:p xmlns:a="http://schemas.openxmlformats.org/drawingml/2006/main">
            <a:pPr>
              <a:defRPr sz="1800" b="0">
                <a:solidFill>
                  <a:srgbClr val="142330"/>
                </a:solidFill>
                <a:latin typeface="Arial"/>
                <a:ea typeface="Arial"/>
                <a:cs typeface="Arial"/>
              </a:defRPr>
            </a:pPr>
            <a:r>
              <a:rPr sz="1800" b="0">
                <a:solidFill>
                  <a:srgbClr val="142330"/>
                </a:solidFill>
                <a:latin typeface="Arial"/>
                <a:ea typeface="Arial"/>
                <a:cs typeface="Arial"/>
              </a:rPr>
              <a:t>challenge changes the priority order.</a:t>
            </a:r>
          </a:p>
        </p:txBody>
      </p:sp>
      <p:sp>
        <p:nvSpPr>
          <p:cNvPr id="10" name="pricing-limitation">
            <a:extLst xmlns:a="http://schemas.openxmlformats.org/drawingml/2006/main">
              <a:ext uri="{FF2B5EF4-FFF2-40B4-BE49-F238E27FC236}">
                <a16:creationId xmlns:a16="http://schemas.microsoft.com/office/drawing/2014/main" id="{3928D6AD-E6A2-4938-B047-34BF7B40BF95}"/>
              </a:ext>
            </a:extLst>
          </p:cNvPr>
          <p:cNvSpPr>
            <a:spLocks xmlns:a="http://schemas.openxmlformats.org/drawingml/2006/main" noGrp="1"/>
          </p:cNvSpPr>
          <p:nvPr/>
        </p:nvSpPr>
        <p:spPr>
          <a:xfrm xmlns:a="http://schemas.openxmlformats.org/drawingml/2006/main">
            <a:off x="647700" y="62674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5626C"/>
                </a:solidFill>
                <a:latin typeface="Arial"/>
                <a:ea typeface="Arial"/>
                <a:cs typeface="Arial"/>
              </a:defRPr>
            </a:defPPr>
          </a:lstStyle>
          <a:p xmlns:a="http://schemas.openxmlformats.org/drawingml/2006/main">
            <a:pPr>
              <a:defRPr sz="1350" b="0">
                <a:solidFill>
                  <a:srgbClr val="45626C"/>
                </a:solidFill>
                <a:latin typeface="Arial"/>
                <a:ea typeface="Arial"/>
                <a:cs typeface="Arial"/>
              </a:defRPr>
            </a:pPr>
            <a:r>
              <a:rPr sz="1350" b="0">
                <a:solidFill>
                  <a:srgbClr val="45626C"/>
                </a:solidFill>
                <a:latin typeface="Arial"/>
                <a:ea typeface="Arial"/>
                <a:cs typeface="Arial"/>
              </a:rPr>
              <a:t>Pricing and demand are hypotheses. No verified customers or revenue claimed.</a:t>
            </a:r>
          </a:p>
        </p:txBody>
      </p:sp>
    </p:spTree>
    <p:extLst>
      <p:ext uri="{BB962C8B-B14F-4D97-AF65-F5344CB8AC3E}">
        <p14:creationId xmlns:p14="http://schemas.microsoft.com/office/powerpoint/2010/main" val="14302768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2026-10-15T13:57:51.4140000Z</dcterms:created>
  <dcterms:modified xsi:type="dcterms:W3CDTF">2026-10-15T13:57:51.4140000Z</dcterms:modified>
</coreProperties>
</file>
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ecf5ca738384e5a" /><Relationship Type="http://schemas.openxmlformats.org/officeDocument/2006/relationships/extended-properties" Target="/docProps/app.xml" Id="R43403912679c4a80" /><Relationship Type="http://schemas.openxmlformats.org/officeDocument/2006/relationships/officeDocument" Target="/ppt/presentation.xml" Id="R26fce3e9a347448c" /></Relationships>
</file>

<file path=ppt/presentation.xml><?xml version="1.0" encoding="utf-8"?>
<p:presentation xmlns:p="http://schemas.openxmlformats.org/presentationml/2006/main">
  <p:sldMasterIdLst>
    <p:sldMasterId xmlns:r="http://schemas.openxmlformats.org/officeDocument/2006/relationships" id="2147483648" r:id="R67fca93ff55d4721"/>
  </p:sldMasterIdLst>
  <p:notesMasterIdLst>
    <p:notesMasterId xmlns:r="http://schemas.openxmlformats.org/officeDocument/2006/relationships" r:id="Re32aa4f957b04e56"/>
  </p:notesMasterIdLst>
  <p:sldIdLst>
    <p:sldId xmlns:r="http://schemas.openxmlformats.org/officeDocument/2006/relationships" id="256" r:id="R6128a18c6d0d448c"/>
    <p:sldId xmlns:r="http://schemas.openxmlformats.org/officeDocument/2006/relationships" id="257" r:id="Rdedbae05d20c458a"/>
    <p:sldId xmlns:r="http://schemas.openxmlformats.org/officeDocument/2006/relationships" id="258" r:id="R1ed5b1b365a24a54"/>
    <p:sldId xmlns:r="http://schemas.openxmlformats.org/officeDocument/2006/relationships" id="259" r:id="Rc63c1b3bf6bc4a32"/>
    <p:sldId xmlns:r="http://schemas.openxmlformats.org/officeDocument/2006/relationships" id="260" r:id="R999cc49ae8804fcc"/>
    <p:sldId xmlns:r="http://schemas.openxmlformats.org/officeDocument/2006/relationships" id="261" r:id="R90680c1ecc154162"/>
    <p:sldId xmlns:r="http://schemas.openxmlformats.org/officeDocument/2006/relationships" id="262" r:id="Rf2506e8861114a22"/>
    <p:sldId xmlns:r="http://schemas.openxmlformats.org/officeDocument/2006/relationships" id="263" r:id="R88d7e878b8d54e1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0ff4a576f7c48b2" /><Relationship Type="http://schemas.openxmlformats.org/officeDocument/2006/relationships/slideMaster" Target="/ppt/slideMasters/slideMaster1.xml" Id="R67fca93ff55d4721" /><Relationship Type="http://schemas.openxmlformats.org/officeDocument/2006/relationships/notesMaster" Target="/ppt/notesMasters/notesMaster1.xml" Id="Re32aa4f957b04e56" /><Relationship Type="http://schemas.openxmlformats.org/officeDocument/2006/relationships/presProps" Target="/ppt/presProps.xml" Id="Rb5e71adea11445e5" /><Relationship Type="http://schemas.openxmlformats.org/officeDocument/2006/relationships/tableStyles" Target="/ppt/tableStyles.xml" Id="Ra84240b907384e56" /><Relationship Type="http://schemas.openxmlformats.org/officeDocument/2006/relationships/slide" Target="/ppt/slides/slide1.xml" Id="R6128a18c6d0d448c" /><Relationship Type="http://schemas.openxmlformats.org/officeDocument/2006/relationships/slide" Target="/ppt/slides/slide2.xml" Id="Rdedbae05d20c458a" /><Relationship Type="http://schemas.openxmlformats.org/officeDocument/2006/relationships/slide" Target="/ppt/slides/slide3.xml" Id="R1ed5b1b365a24a54" /><Relationship Type="http://schemas.openxmlformats.org/officeDocument/2006/relationships/slide" Target="/ppt/slides/slide4.xml" Id="Rc63c1b3bf6bc4a32" /><Relationship Type="http://schemas.openxmlformats.org/officeDocument/2006/relationships/slide" Target="/ppt/slides/slide5.xml" Id="R999cc49ae8804fcc" /><Relationship Type="http://schemas.openxmlformats.org/officeDocument/2006/relationships/slide" Target="/ppt/slides/slide6.xml" Id="R90680c1ecc154162" /><Relationship Type="http://schemas.openxmlformats.org/officeDocument/2006/relationships/slide" Target="/ppt/slides/slide7.xml" Id="Rf2506e8861114a22" /><Relationship Type="http://schemas.openxmlformats.org/officeDocument/2006/relationships/slide" Target="/ppt/slides/slide8.xml" Id="R88d7e878b8d54e1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dfc9bc729374df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1e64ace0e274459" /><Relationship Type="http://schemas.openxmlformats.org/officeDocument/2006/relationships/notesMaster" Target="/ppt/notesMasters/notesMaster1.xml" Id="R520445ac29ec4889" /></Relationships>
</file>

<file path=ppt/notesSlides/_rels/notesSlide2.xml.rels>&#65279;<?xml version="1.0" encoding="utf-8"?><Relationships xmlns="http://schemas.openxmlformats.org/package/2006/relationships"><Relationship Type="http://schemas.openxmlformats.org/officeDocument/2006/relationships/slide" Target="/ppt/slides/slide2.xml" Id="R83cd1b264cd046d2" /><Relationship Type="http://schemas.openxmlformats.org/officeDocument/2006/relationships/notesMaster" Target="/ppt/notesMasters/notesMaster1.xml" Id="Rd0c8c3f942694b88" /></Relationships>
</file>

<file path=ppt/notesSlides/_rels/notesSlide3.xml.rels>&#65279;<?xml version="1.0" encoding="utf-8"?><Relationships xmlns="http://schemas.openxmlformats.org/package/2006/relationships"><Relationship Type="http://schemas.openxmlformats.org/officeDocument/2006/relationships/slide" Target="/ppt/slides/slide3.xml" Id="Rae29ff0412434527" /><Relationship Type="http://schemas.openxmlformats.org/officeDocument/2006/relationships/notesMaster" Target="/ppt/notesMasters/notesMaster1.xml" Id="R208c6b3116cd4f30" /></Relationships>
</file>

<file path=ppt/notesSlides/_rels/notesSlide4.xml.rels>&#65279;<?xml version="1.0" encoding="utf-8"?><Relationships xmlns="http://schemas.openxmlformats.org/package/2006/relationships"><Relationship Type="http://schemas.openxmlformats.org/officeDocument/2006/relationships/slide" Target="/ppt/slides/slide4.xml" Id="Rc44bf6de4edf4447" /><Relationship Type="http://schemas.openxmlformats.org/officeDocument/2006/relationships/notesMaster" Target="/ppt/notesMasters/notesMaster1.xml" Id="Re5ae471fd9794a0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4e24f4299748fb" /><Relationship Type="http://schemas.openxmlformats.org/officeDocument/2006/relationships/notesMaster" Target="/ppt/notesMasters/notesMaster1.xml" Id="R63434019b20c4945" /></Relationships>
</file>

<file path=ppt/notesSlides/_rels/notesSlide6.xml.rels>&#65279;<?xml version="1.0" encoding="utf-8"?><Relationships xmlns="http://schemas.openxmlformats.org/package/2006/relationships"><Relationship Type="http://schemas.openxmlformats.org/officeDocument/2006/relationships/slide" Target="/ppt/slides/slide6.xml" Id="R33516508866a486e" /><Relationship Type="http://schemas.openxmlformats.org/officeDocument/2006/relationships/notesMaster" Target="/ppt/notesMasters/notesMaster1.xml" Id="Rd7b15b101e5f4748" /></Relationships>
</file>

<file path=ppt/notesSlides/_rels/notesSlide7.xml.rels>&#65279;<?xml version="1.0" encoding="utf-8"?><Relationships xmlns="http://schemas.openxmlformats.org/package/2006/relationships"><Relationship Type="http://schemas.openxmlformats.org/officeDocument/2006/relationships/slide" Target="/ppt/slides/slide7.xml" Id="Rc7465fd0cc5c4692" /><Relationship Type="http://schemas.openxmlformats.org/officeDocument/2006/relationships/notesMaster" Target="/ppt/notesMasters/notesMaster1.xml" Id="R15f9c14a75bd488c"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4849ec35e24936" /><Relationship Type="http://schemas.openxmlformats.org/officeDocument/2006/relationships/notesMaster" Target="/ppt/notesMasters/notesMaster1.xml" Id="R461089535ce243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PARALLAX is a hackathon prototype for emerging venture funds and angel investors. Present the live app alongside this deck. The intended customer benefit is a clearer next diligence decision, not a validated forecast of investment returns.</a:t>
            </a:r>
          </a:p>
          <a:p xmlns:a="http://schemas.openxmlformats.org/drawingml/2006/main">
            <a:r>
              <a:t/>
            </a:r>
          </a:p>
          <a:p xmlns:a="http://schemas.openxmlformats.org/drawingml/2006/main">
            <a:r>
              <a:t>Sources:</a:t>
            </a:r>
          </a:p>
          <a:p xmlns:a="http://schemas.openxmlformats.org/drawingml/2006/main">
            <a:r>
              <a:t>https://github.com/eliott-crypto/PARALLAX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target customer and pain hypothesis. We have not supplied verified user interviews, customers, revenue, market size or time-saved results. The prototype focuses on turning a market belief into an evidenced research priority. Sources are product requirements and implementation, not a customer survey.</a:t>
            </a:r>
          </a:p>
          <a:p xmlns:a="http://schemas.openxmlformats.org/drawingml/2006/main">
            <a:r>
              <a:t/>
            </a:r>
          </a:p>
          <a:p xmlns:a="http://schemas.openxmlformats.org/drawingml/2006/main">
            <a:r>
              <a:t>Sources:</a:t>
            </a:r>
          </a:p>
          <a:p xmlns:a="http://schemas.openxmlformats.org/drawingml/2006/main">
            <a:r>
              <a:t>https://github.com/eliott-crypto/PARALLAX/blob/main/README.md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Themes, choose a theme, and open a company. The preferred valuation ceiling is a preference, not a guarantee. A lower disclosed valuation alone does not establish relative value. The board may admit fewer than five when evidence is missing. Manual priority ordering stays distinct from the agent ranking. This screenshot reflects the actual prepared workspace, and the presenter must state its actual shortlist size.</a:t>
            </a:r>
          </a:p>
          <a:p xmlns:a="http://schemas.openxmlformats.org/drawingml/2006/main">
            <a:r>
              <a:t/>
            </a:r>
          </a:p>
          <a:p xmlns:a="http://schemas.openxmlformats.org/drawingml/2006/main">
            <a:r>
              <a:t>Sources:</a:t>
            </a:r>
          </a:p>
          <a:p xmlns:a="http://schemas.openxmlformats.org/drawingml/2006/main">
            <a:r>
              <a:t>https://github.com/eliott-crypto/PARALLAX/blob/main/shared/boards.ts</a:t>
            </a:r>
          </a:p>
          <a:p xmlns:a="http://schemas.openxmlformats.org/drawingml/2006/main">
            <a:r>
              <a:t>https://github.com/eliott-crypto/PARALLAX/blob/main/server/boards.ts</a:t>
            </a:r>
          </a:p>
          <a:p xmlns:a="http://schemas.openxmlformats.org/drawingml/2006/main">
            <a:r>
              <a:t>/Users/pascalboneu/Desktop/PARALLAX/docs/screenshots/overview.jpg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Click Remove company claims in Universe. The independent lens retains supported INDEPENDENT_REPORT, RESEARCH_PUBLICATION and PUBLIC_PROFESSIONAL_RECORD records. Distance uses supported records divided by unique cited evidence IDs. Height uses the latest completed linked review confidence when present, otherwise the shortlist assessment. Horizontal direction is layout only. Ghost markers preserve the original position. The lens is a reversible deterministic scenario, not new live research or a probability of success.</a:t>
            </a:r>
          </a:p>
          <a:p xmlns:a="http://schemas.openxmlformats.org/drawingml/2006/main">
            <a:r>
              <a:t/>
            </a:r>
          </a:p>
          <a:p xmlns:a="http://schemas.openxmlformats.org/drawingml/2006/main">
            <a:r>
              <a:t>Sources:</a:t>
            </a:r>
          </a:p>
          <a:p xmlns:a="http://schemas.openxmlformats.org/drawingml/2006/main">
            <a:r>
              <a:t>https://github.com/eliott-crypto/PARALLAX/blob/main/src/lib/universe.ts</a:t>
            </a:r>
          </a:p>
          <a:p xmlns:a="http://schemas.openxmlformats.org/drawingml/2006/main">
            <a:r>
              <a:t>https://github.com/eliott-crypto/PARALLAX/blob/main/src/components/ThesisUniverse.tsx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uses native editable PowerPoint shapes and connectors. There are nine distinct research roles. Bull revision is a feedback pass, not a tenth distinct role. Founder and Competitive run in parallel, then Bull and Bear run in parallel. Verifier performs fresh search. Orchestration persists actual provider usage, budgets, events and admitted evidence. Theme shortlist discovery is a separate smaller team with parallel scouts, price verification, adversarial review and ranking.</a:t>
            </a:r>
          </a:p>
          <a:p xmlns:a="http://schemas.openxmlformats.org/drawingml/2006/main">
            <a:r>
              <a:t/>
            </a:r>
          </a:p>
          <a:p xmlns:a="http://schemas.openxmlformats.org/drawingml/2006/main">
            <a:r>
              <a:t>Sources:</a:t>
            </a:r>
          </a:p>
          <a:p xmlns:a="http://schemas.openxmlformats.org/drawingml/2006/main">
            <a:r>
              <a:t>https://github.com/eliott-crypto/PARALLAX/blob/main/server/orchestrator.ts</a:t>
            </a:r>
          </a:p>
          <a:p xmlns:a="http://schemas.openxmlformats.org/drawingml/2006/main">
            <a:r>
              <a:t>https://github.com/eliott-crypto/PARALLAX/blob/main/server/store.ts</a:t>
            </a:r>
          </a:p>
          <a:p xmlns:a="http://schemas.openxmlformats.org/drawingml/2006/main">
            <a:r>
              <a:t>https://github.com/eliott-crypto/PARALLAX/blob/main/server/claude.ts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saved Claude execution: recordings/6b8771ef-7394-40b7-b702-222cbbad204f.json. Completed final decision MONITOR, confidence LOW. Input tokens303540 plus output44738 =348278 total provider tokens. 28 evidence records and22 distinct stored URLs. The later committee used claude-opus-5-5. A source-quality review flagged the customer-attribution problem, then a real Verifier pass retrieved sources and a Bull revision incorporated the correction. Preserve that distinction: the entire discovery was not an unassisted first-pass success. Original outputs, the token-budget interruption and later recovery remain in the trace. The cited Contrary source places Salesforce and Visa in the Sauce Labs competitive section, not Browserbase. The final memo withdraws the claim.</a:t>
            </a:r>
          </a:p>
          <a:p xmlns:a="http://schemas.openxmlformats.org/drawingml/2006/main">
            <a:r>
              <a:t/>
            </a:r>
          </a:p>
          <a:p xmlns:a="http://schemas.openxmlformats.org/drawingml/2006/main">
            <a:r>
              <a:t>Sources:</a:t>
            </a:r>
          </a:p>
          <a:p xmlns:a="http://schemas.openxmlformats.org/drawingml/2006/main">
            <a:r>
              <a:t>https://github.com/eliott-crypto/PARALLAX/blob/main/recordings/6b8771ef-7394-40b7-b702-222cbbad204f.json</a:t>
            </a:r>
          </a:p>
          <a:p xmlns:a="http://schemas.openxmlformats.org/drawingml/2006/main">
            <a:r>
              <a:t>https://github.com/eliott-crypto/PARALLAX/blob/main/docs/LIVE_RESEARCH_REVIEW.md</a:t>
            </a:r>
          </a:p>
          <a:p xmlns:a="http://schemas.openxmlformats.org/drawingml/2006/main">
            <a:r>
              <a:t>https://github.com/eliott-crypto/PARALLAX/blob/main/docs/RECORDED_INVESTIGATION.md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current prototype controls, not a guarantee that every source is correct or that all current company information is complete. Valuation gates require sourced amounts and dates, reject unsupported candidate references and exclude proposed rounds, SAFE caps and asking prices. Research URLs must derive from retrieved search/citation protocol sources. Private credentials remain server-side. Professional investigation uses public work records. Source history is a history of agent-assigned claim assessments and corrected interpretations, not independently audited publisher accuracy or investment returns.</a:t>
            </a:r>
          </a:p>
          <a:p xmlns:a="http://schemas.openxmlformats.org/drawingml/2006/main">
            <a:r>
              <a:t/>
            </a:r>
          </a:p>
          <a:p xmlns:a="http://schemas.openxmlformats.org/drawingml/2006/main">
            <a:r>
              <a:t>Sources:</a:t>
            </a:r>
          </a:p>
          <a:p xmlns:a="http://schemas.openxmlformats.org/drawingml/2006/main">
            <a:r>
              <a:t>https://github.com/eliott-crypto/PARALLAX/blob/main/server/boards.ts</a:t>
            </a:r>
          </a:p>
          <a:p xmlns:a="http://schemas.openxmlformats.org/drawingml/2006/main">
            <a:r>
              <a:t>https://github.com/eliott-crypto/PARALLAX/blob/main/server/claude.ts</a:t>
            </a:r>
          </a:p>
          <a:p xmlns:a="http://schemas.openxmlformats.org/drawingml/2006/main">
            <a:r>
              <a:t>https://github.com/eliott-crypto/PARALLAX/blob/main/src/lib/source-intelligence.ts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Pricing is a proposed hypothesis:299 USD per analyst per month, plus a team plan to be specified. No verified paying customers, contracted pilot funds, revenue, margin or willingness-to-pay evidence has been provided. The ask is an invitation to recruit five pilot funds. Usage limits and unit economics need measurement because long Claude investigations can be token-intensive. Success criteria are proposed pilot measures rather than achieved results. The demo app runs locally unless a separate external deployment is configured.</a:t>
            </a:r>
          </a:p>
          <a:p xmlns:a="http://schemas.openxmlformats.org/drawingml/2006/main">
            <a:r>
              <a:t/>
            </a:r>
          </a:p>
          <a:p xmlns:a="http://schemas.openxmlformats.org/drawingml/2006/main">
            <a:r>
              <a:t>Sources:</a:t>
            </a:r>
          </a:p>
          <a:p xmlns:a="http://schemas.openxmlformats.org/drawingml/2006/main">
            <a:r>
              <a:t>https://github.com/eliott-crypto/PARALLAX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30f15fbe7e04af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31c7ad0987349f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488f6939d6b488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72467b0472d4fd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e6e134ead9f440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cae28c4b1004c2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386034-5171-4950-A093-D183F1E63E3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B3106CA-72F7-45BA-A453-91C81A916C2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8DD24D9-8FEF-4510-AE63-B182EA5FA01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050E8A4-ABA7-4C0A-A3E2-405EE683A5D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45A5F02-BA64-4A48-9EAE-86FF59A3F7C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96A1AED-E103-486B-9324-A9A27C06D63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F898D39-68BC-4B13-BEF8-D1E348B9F3F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4966A25-99CF-4E46-925D-7E3E50B2C4D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B4CDFC-306A-44FC-A474-EB954C8F251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184AA08-50A8-45B3-AFE3-CC547F8ED37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1d05ed29ca4fa8" /><Relationship Type="http://schemas.openxmlformats.org/officeDocument/2006/relationships/slideLayout" Target="/ppt/slideLayouts/slideLayout1.xml" Id="Re968f68099824bc5" /><Relationship Type="http://schemas.openxmlformats.org/officeDocument/2006/relationships/slideLayout" Target="/ppt/slideLayouts/slideLayout2.xml" Id="R10e853c8de48485c" /><Relationship Type="http://schemas.openxmlformats.org/officeDocument/2006/relationships/slideLayout" Target="/ppt/slideLayouts/slideLayout3.xml" Id="R27a635b5301345f4" /><Relationship Type="http://schemas.openxmlformats.org/officeDocument/2006/relationships/slideLayout" Target="/ppt/slideLayouts/slideLayout4.xml" Id="Ra515cf26dd224c59" /><Relationship Type="http://schemas.openxmlformats.org/officeDocument/2006/relationships/slideLayout" Target="/ppt/slideLayouts/slideLayout5.xml" Id="R3c423c903f344062" /><Relationship Type="http://schemas.openxmlformats.org/officeDocument/2006/relationships/slideLayout" Target="/ppt/slideLayouts/slideLayout6.xml" Id="R8ffa2aaf700e49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68f68099824bc5"/>
    <p:sldLayoutId xmlns:r="http://schemas.openxmlformats.org/officeDocument/2006/relationships" id="2147483650" r:id="R10e853c8de48485c"/>
    <p:sldLayoutId xmlns:r="http://schemas.openxmlformats.org/officeDocument/2006/relationships" id="2147483651" r:id="R27a635b5301345f4"/>
    <p:sldLayoutId xmlns:r="http://schemas.openxmlformats.org/officeDocument/2006/relationships" id="2147483652" r:id="Ra515cf26dd224c59"/>
    <p:sldLayoutId xmlns:r="http://schemas.openxmlformats.org/officeDocument/2006/relationships" id="2147483653" r:id="R3c423c903f344062"/>
    <p:sldLayoutId xmlns:r="http://schemas.openxmlformats.org/officeDocument/2006/relationships" id="2147483654" r:id="R8ffa2aaf700e49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404262f3c274dbf" /><Relationship Type="http://schemas.openxmlformats.org/officeDocument/2006/relationships/image" Target="/ppt/media/image.png" Id="R9e6f9defcbbf413e" /><Relationship Type="http://schemas.openxmlformats.org/officeDocument/2006/relationships/image" Target="/ppt/media/image.svg" Id="R2bf7d9f4198542eb" /><Relationship Type="http://schemas.openxmlformats.org/officeDocument/2006/relationships/notesSlide" Target="/ppt/notesSlides/notesSlide1.xml" Id="Rd88d245f4a604e4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4cc1c273298467e" /><Relationship Type="http://schemas.openxmlformats.org/officeDocument/2006/relationships/notesSlide" Target="/ppt/notesSlides/notesSlide2.xml" Id="R3961fe2b85234cc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96aa9e490ec47bf" /><Relationship Type="http://schemas.openxmlformats.org/officeDocument/2006/relationships/image" Target="/ppt/media/image.jpeg" Id="R7cf94e9f5da54a2b" /><Relationship Type="http://schemas.openxmlformats.org/officeDocument/2006/relationships/notesSlide" Target="/ppt/notesSlides/notesSlide3.xml" Id="Rdfeb5bee823f461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fb1b44224b6466d" /><Relationship Type="http://schemas.openxmlformats.org/officeDocument/2006/relationships/notesSlide" Target="/ppt/notesSlides/notesSlide4.xml" Id="Rb26d3b9beb184a1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2bde60a4d904e80" /><Relationship Type="http://schemas.openxmlformats.org/officeDocument/2006/relationships/notesSlide" Target="/ppt/notesSlides/notesSlide5.xml" Id="Rc08f9d56325d433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a0c661e509c4c21" /><Relationship Type="http://schemas.openxmlformats.org/officeDocument/2006/relationships/image" Target="/ppt/media/image2.jpeg" Id="R90179436aa9045af" /><Relationship Type="http://schemas.openxmlformats.org/officeDocument/2006/relationships/notesSlide" Target="/ppt/notesSlides/notesSlide6.xml" Id="Rc5bbf5db7f904ee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630298828174fe1" /><Relationship Type="http://schemas.openxmlformats.org/officeDocument/2006/relationships/notesSlide" Target="/ppt/notesSlides/notesSlide7.xml" Id="R938b680cea204d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4b2d96bb6e4401c" /><Relationship Type="http://schemas.openxmlformats.org/officeDocument/2006/relationships/notesSlide" Target="/ppt/notesSlides/notesSlide8.xml" Id="R1bc5a8f55c9742b3" /></Relationships>
</file>

<file path=ppt/slides/slide1.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7" name="slide-number">
            <a:extLst xmlns:a="http://schemas.openxmlformats.org/drawingml/2006/main">
              <a:ext uri="{FF2B5EF4-FFF2-40B4-BE49-F238E27FC236}">
                <a16:creationId xmlns:a16="http://schemas.microsoft.com/office/drawing/2014/main" id="{E056F826-894E-448E-B7D1-B1FE7FF336BA}"/>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01</a:t>
            </a:r>
          </a:p>
        </p:txBody>
      </p:sp>
      <p:pic>
        <p:nvPicPr>
          <p:cNvPr id="2" name="">
            <a:extLst xmlns:a="http://schemas.openxmlformats.org/drawingml/2006/main">
              <a:ext uri="{FF2B5EF4-FFF2-40B4-BE49-F238E27FC236}">
                <a16:creationId xmlns:a16="http://schemas.microsoft.com/office/drawing/2014/main" id="{C20437BC-4904-47BF-B0E2-8F0380195815}"/>
              </a:ext>
            </a:extLst>
          </p:cNvPr>
          <p:cNvPicPr>
            <a:picLocks xmlns:a="http://schemas.openxmlformats.org/drawingml/2006/main" noChangeAspect="1"/>
          </p:cNvPicPr>
          <p:nvPr/>
        </p:nvPicPr>
        <p:blipFill>
          <a:blip xmlns:r="http://schemas.openxmlformats.org/officeDocument/2006/relationships" xmlns:a="http://schemas.openxmlformats.org/drawingml/2006/main" r:embed="R9e6f9defcbbf413e">
            <a:extLst>
              <a:ext uri="{96DAC541-7B7A-43D3-8B79-37D633B846F1}">
                <asvg:svgBlip xmlns:asvg="http://schemas.microsoft.com/office/drawing/2016/SVG/main" r:embed="R2bf7d9f4198542eb"/>
              </a:ext>
            </a:extLst>
          </a:blip>
          <a:stretch xmlns:a="http://schemas.openxmlformats.org/drawingml/2006/main"/>
        </p:blipFill>
        <p:spPr>
          <a:xfrm xmlns:a="http://schemas.openxmlformats.org/drawingml/2006/main">
            <a:off x="647700" y="733425"/>
            <a:ext cx="600075" cy="600075"/>
          </a:xfrm>
          <a:prstGeom xmlns:a="http://schemas.openxmlformats.org/drawingml/2006/main" prst="rect">
            <a:avLst/>
          </a:prstGeom>
        </p:spPr>
      </p:pic>
      <p:sp>
        <p:nvSpPr>
          <p:cNvPr id="3" name="wordmark">
            <a:extLst xmlns:a="http://schemas.openxmlformats.org/drawingml/2006/main">
              <a:ext uri="{FF2B5EF4-FFF2-40B4-BE49-F238E27FC236}">
                <a16:creationId xmlns:a16="http://schemas.microsoft.com/office/drawing/2014/main" id="{CDC802F2-F94D-4BCF-AB4E-C7DD998785C9}"/>
              </a:ext>
            </a:extLst>
          </p:cNvPr>
          <p:cNvSpPr>
            <a:spLocks xmlns:a="http://schemas.openxmlformats.org/drawingml/2006/main" noGrp="1"/>
          </p:cNvSpPr>
          <p:nvPr/>
        </p:nvSpPr>
        <p:spPr>
          <a:xfrm xmlns:a="http://schemas.openxmlformats.org/drawingml/2006/main">
            <a:off x="1466850" y="781050"/>
            <a:ext cx="8572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875" b="1">
                <a:solidFill>
                  <a:srgbClr val="F1F7FA"/>
                </a:solidFill>
                <a:latin typeface="Arial"/>
                <a:ea typeface="Arial"/>
                <a:cs typeface="Arial"/>
              </a:defRPr>
            </a:defPPr>
          </a:lstStyle>
          <a:p xmlns:a="http://schemas.openxmlformats.org/drawingml/2006/main">
            <a:pPr>
              <a:defRPr sz="4875" b="1">
                <a:solidFill>
                  <a:srgbClr val="F1F7FA"/>
                </a:solidFill>
                <a:latin typeface="Arial"/>
                <a:ea typeface="Arial"/>
                <a:cs typeface="Arial"/>
              </a:defRPr>
            </a:pPr>
            <a:r>
              <a:rPr sz="4875" b="1">
                <a:solidFill>
                  <a:srgbClr val="F1F7FA"/>
                </a:solidFill>
                <a:latin typeface="Arial"/>
                <a:ea typeface="Arial"/>
                <a:cs typeface="Arial"/>
              </a:rPr>
              <a:t>PARALLAX</a:t>
            </a:r>
          </a:p>
        </p:txBody>
      </p:sp>
      <p:sp>
        <p:nvSpPr>
          <p:cNvPr id="4" name="cover-title">
            <a:extLst xmlns:a="http://schemas.openxmlformats.org/drawingml/2006/main">
              <a:ext uri="{FF2B5EF4-FFF2-40B4-BE49-F238E27FC236}">
                <a16:creationId xmlns:a16="http://schemas.microsoft.com/office/drawing/2014/main" id="{D53A9689-4133-4D3A-8D88-367209A16FD6}"/>
              </a:ext>
            </a:extLst>
          </p:cNvPr>
          <p:cNvSpPr>
            <a:spLocks xmlns:a="http://schemas.openxmlformats.org/drawingml/2006/main" noGrp="1"/>
          </p:cNvSpPr>
          <p:nvPr/>
        </p:nvSpPr>
        <p:spPr>
          <a:xfrm xmlns:a="http://schemas.openxmlformats.org/drawingml/2006/main">
            <a:off x="647700" y="2181225"/>
            <a:ext cx="10572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400" b="0">
                <a:solidFill>
                  <a:srgbClr val="F1F7FA"/>
                </a:solidFill>
                <a:latin typeface="Arial"/>
                <a:ea typeface="Arial"/>
                <a:cs typeface="Arial"/>
              </a:defRPr>
            </a:defPPr>
          </a:lstStyle>
          <a:p xmlns:a="http://schemas.openxmlformats.org/drawingml/2006/main">
            <a:pPr>
              <a:defRPr sz="5400" b="0">
                <a:solidFill>
                  <a:srgbClr val="F1F7FA"/>
                </a:solidFill>
                <a:latin typeface="Arial"/>
                <a:ea typeface="Arial"/>
                <a:cs typeface="Arial"/>
              </a:defRPr>
            </a:pPr>
            <a:r>
              <a:rPr sz="5400" b="0">
                <a:solidFill>
                  <a:srgbClr val="F1F7FA"/>
                </a:solidFill>
                <a:latin typeface="Arial"/>
                <a:ea typeface="Arial"/>
                <a:cs typeface="Arial"/>
              </a:rPr>
              <a:t>The next company</a:t>
            </a:r>
          </a:p>
          <a:p xmlns:a="http://schemas.openxmlformats.org/drawingml/2006/main">
            <a:pPr>
              <a:defRPr sz="5400" b="0">
                <a:solidFill>
                  <a:srgbClr val="F1F7FA"/>
                </a:solidFill>
                <a:latin typeface="Arial"/>
                <a:ea typeface="Arial"/>
                <a:cs typeface="Arial"/>
              </a:defRPr>
            </a:pPr>
            <a:r>
              <a:rPr sz="5400" b="0">
                <a:solidFill>
                  <a:srgbClr val="F1F7FA"/>
                </a:solidFill>
                <a:latin typeface="Arial"/>
                <a:ea typeface="Arial"/>
                <a:cs typeface="Arial"/>
              </a:rPr>
              <a:t>worth your conviction</a:t>
            </a:r>
          </a:p>
        </p:txBody>
      </p:sp>
      <p:sp>
        <p:nvSpPr>
          <p:cNvPr id="5" name="cover-description">
            <a:extLst xmlns:a="http://schemas.openxmlformats.org/drawingml/2006/main">
              <a:ext uri="{FF2B5EF4-FFF2-40B4-BE49-F238E27FC236}">
                <a16:creationId xmlns:a16="http://schemas.microsoft.com/office/drawing/2014/main" id="{8A88691F-19A5-42B4-B0DA-050409A44250}"/>
              </a:ext>
            </a:extLst>
          </p:cNvPr>
          <p:cNvSpPr>
            <a:spLocks xmlns:a="http://schemas.openxmlformats.org/drawingml/2006/main" noGrp="1"/>
          </p:cNvSpPr>
          <p:nvPr/>
        </p:nvSpPr>
        <p:spPr>
          <a:xfrm xmlns:a="http://schemas.openxmlformats.org/drawingml/2006/main">
            <a:off x="685800" y="454342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0">
                <a:solidFill>
                  <a:srgbClr val="B4E7DD"/>
                </a:solidFill>
                <a:latin typeface="Arial"/>
                <a:ea typeface="Arial"/>
                <a:cs typeface="Arial"/>
              </a:defRPr>
            </a:defPPr>
          </a:lstStyle>
          <a:p xmlns:a="http://schemas.openxmlformats.org/drawingml/2006/main">
            <a:pPr>
              <a:defRPr sz="2325" b="0">
                <a:solidFill>
                  <a:srgbClr val="B4E7DD"/>
                </a:solidFill>
                <a:latin typeface="Arial"/>
                <a:ea typeface="Arial"/>
                <a:cs typeface="Arial"/>
              </a:defRPr>
            </a:pPr>
            <a:r>
              <a:rPr sz="2325" b="0">
                <a:solidFill>
                  <a:srgbClr val="B4E7DD"/>
                </a:solidFill>
                <a:latin typeface="Arial"/>
                <a:ea typeface="Arial"/>
                <a:cs typeface="Arial"/>
              </a:rPr>
              <a:t>Claude research teams for venture investors</a:t>
            </a:r>
          </a:p>
        </p:txBody>
      </p:sp>
      <p:sp>
        <p:nvSpPr>
          <p:cNvPr id="6" name="cover-link">
            <a:extLst xmlns:a="http://schemas.openxmlformats.org/drawingml/2006/main">
              <a:ext uri="{FF2B5EF4-FFF2-40B4-BE49-F238E27FC236}">
                <a16:creationId xmlns:a16="http://schemas.microsoft.com/office/drawing/2014/main" id="{72C8DC9F-E9F4-46E2-B817-B740EBFCF341}"/>
              </a:ext>
            </a:extLst>
          </p:cNvPr>
          <p:cNvSpPr>
            <a:spLocks xmlns:a="http://schemas.openxmlformats.org/drawingml/2006/main" noGrp="1"/>
          </p:cNvSpPr>
          <p:nvPr/>
        </p:nvSpPr>
        <p:spPr>
          <a:xfrm xmlns:a="http://schemas.openxmlformats.org/drawingml/2006/main">
            <a:off x="685800" y="60960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ABBDCC"/>
                </a:solidFill>
                <a:latin typeface="Arial"/>
                <a:ea typeface="Arial"/>
                <a:cs typeface="Arial"/>
              </a:defRPr>
            </a:defPPr>
          </a:lstStyle>
          <a:p xmlns:a="http://schemas.openxmlformats.org/drawingml/2006/main">
            <a:pPr>
              <a:defRPr sz="1350" b="0">
                <a:solidFill>
                  <a:srgbClr val="ABBDCC"/>
                </a:solidFill>
                <a:latin typeface="Arial"/>
                <a:ea typeface="Arial"/>
                <a:cs typeface="Arial"/>
              </a:defRPr>
            </a:pPr>
            <a:r>
              <a:rPr sz="1350" b="0">
                <a:solidFill>
                  <a:srgbClr val="ABBDCC"/>
                </a:solidFill>
                <a:latin typeface="Arial"/>
                <a:ea typeface="Arial"/>
                <a:cs typeface="Arial"/>
              </a:rPr>
              <a:t>github.com/eliott-crypto/PARALLAX</a:t>
            </a:r>
          </a:p>
        </p:txBody>
      </p:sp>
    </p:spTree>
    <p:extLst>
      <p:ext uri="{BB962C8B-B14F-4D97-AF65-F5344CB8AC3E}">
        <p14:creationId xmlns:p14="http://schemas.microsoft.com/office/powerpoint/2010/main" val="503302537"/>
      </p:ext>
    </p:extLst>
  </p:cSld>
</p:sld>
</file>

<file path=ppt/slides/slide2.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1C9CCE2D-F312-4E8C-A697-2EEB413B801D}"/>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02</a:t>
            </a:r>
          </a:p>
        </p:txBody>
      </p:sp>
      <p:sp>
        <p:nvSpPr>
          <p:cNvPr id="2" name="slide-title">
            <a:extLst xmlns:a="http://schemas.openxmlformats.org/drawingml/2006/main">
              <a:ext uri="{FF2B5EF4-FFF2-40B4-BE49-F238E27FC236}">
                <a16:creationId xmlns:a16="http://schemas.microsoft.com/office/drawing/2014/main" id="{3C6B4750-853D-4A9F-A2B8-B903DDAE0B11}"/>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The next diligence call</a:t>
            </a:r>
          </a:p>
        </p:txBody>
      </p:sp>
      <p:sp>
        <p:nvSpPr>
          <p:cNvPr id="3" name="customer-label">
            <a:extLst xmlns:a="http://schemas.openxmlformats.org/drawingml/2006/main">
              <a:ext uri="{FF2B5EF4-FFF2-40B4-BE49-F238E27FC236}">
                <a16:creationId xmlns:a16="http://schemas.microsoft.com/office/drawing/2014/main" id="{C7A0AA4C-CFBE-4465-8AC6-F086645F1205}"/>
              </a:ext>
            </a:extLst>
          </p:cNvPr>
          <p:cNvSpPr>
            <a:spLocks xmlns:a="http://schemas.openxmlformats.org/drawingml/2006/main" noGrp="1"/>
          </p:cNvSpPr>
          <p:nvPr/>
        </p:nvSpPr>
        <p:spPr>
          <a:xfrm xmlns:a="http://schemas.openxmlformats.org/drawingml/2006/main">
            <a:off x="628650" y="17049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1">
                <a:solidFill>
                  <a:srgbClr val="C6B6F3"/>
                </a:solidFill>
                <a:latin typeface="Arial"/>
                <a:ea typeface="Arial"/>
                <a:cs typeface="Arial"/>
              </a:defRPr>
            </a:defPPr>
          </a:lstStyle>
          <a:p xmlns:a="http://schemas.openxmlformats.org/drawingml/2006/main">
            <a:pPr>
              <a:defRPr sz="1425" b="1">
                <a:solidFill>
                  <a:srgbClr val="C6B6F3"/>
                </a:solidFill>
                <a:latin typeface="Arial"/>
                <a:ea typeface="Arial"/>
                <a:cs typeface="Arial"/>
              </a:defRPr>
            </a:pPr>
            <a:r>
              <a:rPr sz="1425" b="1">
                <a:solidFill>
                  <a:srgbClr val="C6B6F3"/>
                </a:solidFill>
                <a:latin typeface="Arial"/>
                <a:ea typeface="Arial"/>
                <a:cs typeface="Arial"/>
              </a:rPr>
              <a:t>CUSTOMER HYPOTHESIS</a:t>
            </a:r>
          </a:p>
        </p:txBody>
      </p:sp>
      <p:sp>
        <p:nvSpPr>
          <p:cNvPr id="4" name="customer">
            <a:extLst xmlns:a="http://schemas.openxmlformats.org/drawingml/2006/main">
              <a:ext uri="{FF2B5EF4-FFF2-40B4-BE49-F238E27FC236}">
                <a16:creationId xmlns:a16="http://schemas.microsoft.com/office/drawing/2014/main" id="{C36C8DA5-D67B-45A5-A18B-C4ADBD005BD5}"/>
              </a:ext>
            </a:extLst>
          </p:cNvPr>
          <p:cNvSpPr>
            <a:spLocks xmlns:a="http://schemas.openxmlformats.org/drawingml/2006/main" noGrp="1"/>
          </p:cNvSpPr>
          <p:nvPr/>
        </p:nvSpPr>
        <p:spPr>
          <a:xfrm xmlns:a="http://schemas.openxmlformats.org/drawingml/2006/main">
            <a:off x="609600" y="2276475"/>
            <a:ext cx="5905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75" b="0">
                <a:solidFill>
                  <a:srgbClr val="F1F7FA"/>
                </a:solidFill>
                <a:latin typeface="Arial"/>
                <a:ea typeface="Arial"/>
                <a:cs typeface="Arial"/>
              </a:defRPr>
            </a:defPPr>
          </a:lstStyle>
          <a:p xmlns:a="http://schemas.openxmlformats.org/drawingml/2006/main">
            <a:pPr>
              <a:defRPr sz="3375" b="0">
                <a:solidFill>
                  <a:srgbClr val="F1F7FA"/>
                </a:solidFill>
                <a:latin typeface="Arial"/>
                <a:ea typeface="Arial"/>
                <a:cs typeface="Arial"/>
              </a:defRPr>
            </a:pPr>
            <a:r>
              <a:rPr sz="3375" b="0">
                <a:solidFill>
                  <a:srgbClr val="F1F7FA"/>
                </a:solidFill>
                <a:latin typeface="Arial"/>
                <a:ea typeface="Arial"/>
                <a:cs typeface="Arial"/>
              </a:rPr>
              <a:t>Emerging venture funds</a:t>
            </a:r>
          </a:p>
          <a:p xmlns:a="http://schemas.openxmlformats.org/drawingml/2006/main">
            <a:pPr>
              <a:defRPr sz="3375" b="0">
                <a:solidFill>
                  <a:srgbClr val="F1F7FA"/>
                </a:solidFill>
                <a:latin typeface="Arial"/>
                <a:ea typeface="Arial"/>
                <a:cs typeface="Arial"/>
              </a:defRPr>
            </a:pPr>
            <a:r>
              <a:rPr sz="3375" b="0">
                <a:solidFill>
                  <a:srgbClr val="F1F7FA"/>
                </a:solidFill>
                <a:latin typeface="Arial"/>
                <a:ea typeface="Arial"/>
                <a:cs typeface="Arial"/>
              </a:rPr>
              <a:t>and angel investors</a:t>
            </a:r>
          </a:p>
        </p:txBody>
      </p:sp>
      <p:sp>
        <p:nvSpPr>
          <p:cNvPr id="5" name="customer-job">
            <a:extLst xmlns:a="http://schemas.openxmlformats.org/drawingml/2006/main">
              <a:ext uri="{FF2B5EF4-FFF2-40B4-BE49-F238E27FC236}">
                <a16:creationId xmlns:a16="http://schemas.microsoft.com/office/drawing/2014/main" id="{A12F55AC-C556-44F0-89CD-FB40F10BDC06}"/>
              </a:ext>
            </a:extLst>
          </p:cNvPr>
          <p:cNvSpPr>
            <a:spLocks xmlns:a="http://schemas.openxmlformats.org/drawingml/2006/main" noGrp="1"/>
          </p:cNvSpPr>
          <p:nvPr/>
        </p:nvSpPr>
        <p:spPr>
          <a:xfrm xmlns:a="http://schemas.openxmlformats.org/drawingml/2006/main">
            <a:off x="638175" y="4219575"/>
            <a:ext cx="6381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ABBDCC"/>
                </a:solidFill>
                <a:latin typeface="Arial"/>
                <a:ea typeface="Arial"/>
                <a:cs typeface="Arial"/>
              </a:defRPr>
            </a:defPPr>
          </a:lstStyle>
          <a:p xmlns:a="http://schemas.openxmlformats.org/drawingml/2006/main">
            <a:pPr>
              <a:defRPr sz="2100" b="0">
                <a:solidFill>
                  <a:srgbClr val="ABBDCC"/>
                </a:solidFill>
                <a:latin typeface="Arial"/>
                <a:ea typeface="Arial"/>
                <a:cs typeface="Arial"/>
              </a:defRPr>
            </a:pPr>
            <a:r>
              <a:rPr sz="2100" b="0">
                <a:solidFill>
                  <a:srgbClr val="ABBDCC"/>
                </a:solidFill>
                <a:latin typeface="Arial"/>
                <a:ea typeface="Arial"/>
                <a:cs typeface="Arial"/>
              </a:rPr>
              <a:t>An investor has a market thesis.</a:t>
            </a:r>
          </a:p>
          <a:p xmlns:a="http://schemas.openxmlformats.org/drawingml/2006/main">
            <a:pPr>
              <a:defRPr sz="2100" b="0">
                <a:solidFill>
                  <a:srgbClr val="ABBDCC"/>
                </a:solidFill>
                <a:latin typeface="Arial"/>
                <a:ea typeface="Arial"/>
                <a:cs typeface="Arial"/>
              </a:defRPr>
            </a:pPr>
            <a:r>
              <a:rPr sz="2100" b="0">
                <a:solidFill>
                  <a:srgbClr val="ABBDCC"/>
                </a:solidFill>
                <a:latin typeface="Arial"/>
                <a:ea typeface="Arial"/>
                <a:cs typeface="Arial"/>
              </a:rPr>
              <a:t>The hard choice is where to spend</a:t>
            </a:r>
          </a:p>
          <a:p xmlns:a="http://schemas.openxmlformats.org/drawingml/2006/main">
            <a:pPr>
              <a:defRPr sz="2100" b="0">
                <a:solidFill>
                  <a:srgbClr val="ABBDCC"/>
                </a:solidFill>
                <a:latin typeface="Arial"/>
                <a:ea typeface="Arial"/>
                <a:cs typeface="Arial"/>
              </a:defRPr>
            </a:pPr>
            <a:r>
              <a:rPr sz="2100" b="0">
                <a:solidFill>
                  <a:srgbClr val="ABBDCC"/>
                </a:solidFill>
                <a:latin typeface="Arial"/>
                <a:ea typeface="Arial"/>
                <a:cs typeface="Arial"/>
              </a:rPr>
              <a:t>the next hour of diligence.</a:t>
            </a:r>
          </a:p>
        </p:txBody>
      </p:sp>
      <p:sp>
        <p:nvSpPr>
          <p:cNvPr id="6" name="decision">
            <a:extLst xmlns:a="http://schemas.openxmlformats.org/drawingml/2006/main">
              <a:ext uri="{FF2B5EF4-FFF2-40B4-BE49-F238E27FC236}">
                <a16:creationId xmlns:a16="http://schemas.microsoft.com/office/drawing/2014/main" id="{47A4EEC2-93E3-4C70-B888-A82804DD9988}"/>
              </a:ext>
            </a:extLst>
          </p:cNvPr>
          <p:cNvSpPr>
            <a:spLocks xmlns:a="http://schemas.openxmlformats.org/drawingml/2006/main" noGrp="1"/>
          </p:cNvSpPr>
          <p:nvPr/>
        </p:nvSpPr>
        <p:spPr>
          <a:xfrm xmlns:a="http://schemas.openxmlformats.org/drawingml/2006/main">
            <a:off x="7667625" y="2276475"/>
            <a:ext cx="38576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75" b="0">
                <a:solidFill>
                  <a:srgbClr val="B4E7DD"/>
                </a:solidFill>
                <a:latin typeface="Arial"/>
                <a:ea typeface="Arial"/>
                <a:cs typeface="Arial"/>
              </a:defRPr>
            </a:defPPr>
          </a:lstStyle>
          <a:p xmlns:a="http://schemas.openxmlformats.org/drawingml/2006/main">
            <a:pPr>
              <a:defRPr sz="3075" b="0">
                <a:solidFill>
                  <a:srgbClr val="B4E7DD"/>
                </a:solidFill>
                <a:latin typeface="Arial"/>
                <a:ea typeface="Arial"/>
                <a:cs typeface="Arial"/>
              </a:defRPr>
            </a:pPr>
            <a:r>
              <a:rPr sz="3075" b="0">
                <a:solidFill>
                  <a:srgbClr val="B4E7DD"/>
                </a:solidFill>
                <a:latin typeface="Arial"/>
                <a:ea typeface="Arial"/>
                <a:cs typeface="Arial"/>
              </a:rPr>
              <a:t>Which company</a:t>
            </a:r>
          </a:p>
          <a:p xmlns:a="http://schemas.openxmlformats.org/drawingml/2006/main">
            <a:pPr>
              <a:defRPr sz="3075" b="0">
                <a:solidFill>
                  <a:srgbClr val="B4E7DD"/>
                </a:solidFill>
                <a:latin typeface="Arial"/>
                <a:ea typeface="Arial"/>
                <a:cs typeface="Arial"/>
              </a:defRPr>
            </a:pPr>
            <a:r>
              <a:rPr sz="3075" b="0">
                <a:solidFill>
                  <a:srgbClr val="B4E7DD"/>
                </a:solidFill>
                <a:latin typeface="Arial"/>
                <a:ea typeface="Arial"/>
                <a:cs typeface="Arial"/>
              </a:rPr>
              <a:t>benefits now?</a:t>
            </a:r>
          </a:p>
        </p:txBody>
      </p:sp>
      <p:sp>
        <p:nvSpPr>
          <p:cNvPr id="7" name="decision-risk">
            <a:extLst xmlns:a="http://schemas.openxmlformats.org/drawingml/2006/main">
              <a:ext uri="{FF2B5EF4-FFF2-40B4-BE49-F238E27FC236}">
                <a16:creationId xmlns:a16="http://schemas.microsoft.com/office/drawing/2014/main" id="{898D5867-FB0F-4147-8BFC-2195E2D81B5F}"/>
              </a:ext>
            </a:extLst>
          </p:cNvPr>
          <p:cNvSpPr>
            <a:spLocks xmlns:a="http://schemas.openxmlformats.org/drawingml/2006/main" noGrp="1"/>
          </p:cNvSpPr>
          <p:nvPr/>
        </p:nvSpPr>
        <p:spPr>
          <a:xfrm xmlns:a="http://schemas.openxmlformats.org/drawingml/2006/main">
            <a:off x="7667625" y="4010025"/>
            <a:ext cx="3857625"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925" b="0">
                <a:solidFill>
                  <a:srgbClr val="C6B6F3"/>
                </a:solidFill>
                <a:latin typeface="Arial"/>
                <a:ea typeface="Arial"/>
                <a:cs typeface="Arial"/>
              </a:defRPr>
            </a:defPPr>
          </a:lstStyle>
          <a:p xmlns:a="http://schemas.openxmlformats.org/drawingml/2006/main">
            <a:pPr>
              <a:defRPr sz="2925" b="0">
                <a:solidFill>
                  <a:srgbClr val="C6B6F3"/>
                </a:solidFill>
                <a:latin typeface="Arial"/>
                <a:ea typeface="Arial"/>
                <a:cs typeface="Arial"/>
              </a:defRPr>
            </a:pPr>
            <a:r>
              <a:rPr sz="2925" b="0">
                <a:solidFill>
                  <a:srgbClr val="C6B6F3"/>
                </a:solidFill>
                <a:latin typeface="Arial"/>
                <a:ea typeface="Arial"/>
                <a:cs typeface="Arial"/>
              </a:rPr>
              <a:t>What evidence</a:t>
            </a:r>
          </a:p>
          <a:p xmlns:a="http://schemas.openxmlformats.org/drawingml/2006/main">
            <a:pPr>
              <a:defRPr sz="2925" b="0">
                <a:solidFill>
                  <a:srgbClr val="C6B6F3"/>
                </a:solidFill>
                <a:latin typeface="Arial"/>
                <a:ea typeface="Arial"/>
                <a:cs typeface="Arial"/>
              </a:defRPr>
            </a:pPr>
            <a:r>
              <a:rPr sz="2925" b="0">
                <a:solidFill>
                  <a:srgbClr val="C6B6F3"/>
                </a:solidFill>
                <a:latin typeface="Arial"/>
                <a:ea typeface="Arial"/>
                <a:cs typeface="Arial"/>
              </a:rPr>
              <a:t>could change</a:t>
            </a:r>
          </a:p>
          <a:p xmlns:a="http://schemas.openxmlformats.org/drawingml/2006/main">
            <a:pPr>
              <a:defRPr sz="2925" b="0">
                <a:solidFill>
                  <a:srgbClr val="C6B6F3"/>
                </a:solidFill>
                <a:latin typeface="Arial"/>
                <a:ea typeface="Arial"/>
                <a:cs typeface="Arial"/>
              </a:defRPr>
            </a:pPr>
            <a:r>
              <a:rPr sz="2925" b="0">
                <a:solidFill>
                  <a:srgbClr val="C6B6F3"/>
                </a:solidFill>
                <a:latin typeface="Arial"/>
                <a:ea typeface="Arial"/>
                <a:cs typeface="Arial"/>
              </a:rPr>
              <a:t>our minds?</a:t>
            </a:r>
          </a:p>
        </p:txBody>
      </p:sp>
    </p:spTree>
    <p:extLst>
      <p:ext uri="{BB962C8B-B14F-4D97-AF65-F5344CB8AC3E}">
        <p14:creationId xmlns:p14="http://schemas.microsoft.com/office/powerpoint/2010/main" val="373451662"/>
      </p:ext>
    </p:extLst>
  </p:cSld>
</p:sld>
</file>

<file path=ppt/slides/slide3.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A204FA22-973F-4E6C-A41C-D5801243E2E4}"/>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03</a:t>
            </a:r>
          </a:p>
        </p:txBody>
      </p:sp>
      <p:sp>
        <p:nvSpPr>
          <p:cNvPr id="2" name="slide-title">
            <a:extLst xmlns:a="http://schemas.openxmlformats.org/drawingml/2006/main">
              <a:ext uri="{FF2B5EF4-FFF2-40B4-BE49-F238E27FC236}">
                <a16:creationId xmlns:a16="http://schemas.microsoft.com/office/drawing/2014/main" id="{5BB0B68B-73C1-4C2B-AD9A-F38995214D04}"/>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A ranked shortlist for each theme</a:t>
            </a:r>
          </a:p>
        </p:txBody>
      </p:sp>
      <p:sp>
        <p:nvSpPr>
          <p:cNvPr id="3" name="shortlist-description">
            <a:extLst xmlns:a="http://schemas.openxmlformats.org/drawingml/2006/main">
              <a:ext uri="{FF2B5EF4-FFF2-40B4-BE49-F238E27FC236}">
                <a16:creationId xmlns:a16="http://schemas.microsoft.com/office/drawing/2014/main" id="{DA190B53-0C0E-4A41-BF8B-5192AB835E3E}"/>
              </a:ext>
            </a:extLst>
          </p:cNvPr>
          <p:cNvSpPr>
            <a:spLocks xmlns:a="http://schemas.openxmlformats.org/drawingml/2006/main" noGrp="1"/>
          </p:cNvSpPr>
          <p:nvPr/>
        </p:nvSpPr>
        <p:spPr>
          <a:xfrm xmlns:a="http://schemas.openxmlformats.org/drawingml/2006/main">
            <a:off x="619125" y="1695450"/>
            <a:ext cx="37909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0">
                <a:solidFill>
                  <a:srgbClr val="B4E7DD"/>
                </a:solidFill>
                <a:latin typeface="Arial"/>
                <a:ea typeface="Arial"/>
                <a:cs typeface="Arial"/>
              </a:defRPr>
            </a:defPPr>
          </a:lstStyle>
          <a:p xmlns:a="http://schemas.openxmlformats.org/drawingml/2006/main">
            <a:pPr>
              <a:defRPr sz="2550" b="0">
                <a:solidFill>
                  <a:srgbClr val="B4E7DD"/>
                </a:solidFill>
                <a:latin typeface="Arial"/>
                <a:ea typeface="Arial"/>
                <a:cs typeface="Arial"/>
              </a:defRPr>
            </a:pPr>
            <a:r>
              <a:rPr sz="2550" b="0">
                <a:solidFill>
                  <a:srgbClr val="B4E7DD"/>
                </a:solidFill>
                <a:latin typeface="Arial"/>
                <a:ea typeface="Arial"/>
                <a:cs typeface="Arial"/>
              </a:rPr>
              <a:t>Niche private companies,</a:t>
            </a:r>
          </a:p>
          <a:p xmlns:a="http://schemas.openxmlformats.org/drawingml/2006/main">
            <a:pPr>
              <a:defRPr sz="2550" b="0">
                <a:solidFill>
                  <a:srgbClr val="B4E7DD"/>
                </a:solidFill>
                <a:latin typeface="Arial"/>
                <a:ea typeface="Arial"/>
                <a:cs typeface="Arial"/>
              </a:defRPr>
            </a:pPr>
            <a:r>
              <a:rPr sz="2550" b="0">
                <a:solidFill>
                  <a:srgbClr val="B4E7DD"/>
                </a:solidFill>
                <a:latin typeface="Arial"/>
                <a:ea typeface="Arial"/>
                <a:cs typeface="Arial"/>
              </a:rPr>
              <a:t>with a reason to care now</a:t>
            </a:r>
          </a:p>
        </p:txBody>
      </p:sp>
      <p:sp>
        <p:nvSpPr>
          <p:cNvPr id="4" name="shortlist-body">
            <a:extLst xmlns:a="http://schemas.openxmlformats.org/drawingml/2006/main">
              <a:ext uri="{FF2B5EF4-FFF2-40B4-BE49-F238E27FC236}">
                <a16:creationId xmlns:a16="http://schemas.microsoft.com/office/drawing/2014/main" id="{243AF324-BBED-4FF1-AC5C-DC88C1A29D4D}"/>
              </a:ext>
            </a:extLst>
          </p:cNvPr>
          <p:cNvSpPr>
            <a:spLocks xmlns:a="http://schemas.openxmlformats.org/drawingml/2006/main" noGrp="1"/>
          </p:cNvSpPr>
          <p:nvPr/>
        </p:nvSpPr>
        <p:spPr>
          <a:xfrm xmlns:a="http://schemas.openxmlformats.org/drawingml/2006/main">
            <a:off x="638175" y="3248025"/>
            <a:ext cx="3705225"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ABBDCC"/>
                </a:solidFill>
                <a:latin typeface="Arial"/>
                <a:ea typeface="Arial"/>
                <a:cs typeface="Arial"/>
              </a:defRPr>
            </a:defPPr>
          </a:lstStyle>
          <a:p xmlns:a="http://schemas.openxmlformats.org/drawingml/2006/main">
            <a:pPr>
              <a:defRPr sz="1875" b="0">
                <a:solidFill>
                  <a:srgbClr val="ABBDCC"/>
                </a:solidFill>
                <a:latin typeface="Arial"/>
                <a:ea typeface="Arial"/>
                <a:cs typeface="Arial"/>
              </a:defRPr>
            </a:pPr>
            <a:r>
              <a:rPr sz="1875" b="0">
                <a:solidFill>
                  <a:srgbClr val="ABBDCC"/>
                </a:solidFill>
                <a:latin typeface="Arial"/>
                <a:ea typeface="Arial"/>
                <a:cs typeface="Arial"/>
              </a:rPr>
              <a:t>A dated financing valuation</a:t>
            </a:r>
          </a:p>
          <a:p xmlns:a="http://schemas.openxmlformats.org/drawingml/2006/main">
            <a:pPr>
              <a:defRPr sz="1875" b="0">
                <a:solidFill>
                  <a:srgbClr val="ABBDCC"/>
                </a:solidFill>
                <a:latin typeface="Arial"/>
                <a:ea typeface="Arial"/>
                <a:cs typeface="Arial"/>
              </a:defRPr>
            </a:pPr>
            <a:r>
              <a:rPr sz="1875" b="0">
                <a:solidFill>
                  <a:srgbClr val="ABBDCC"/>
                </a:solidFill>
                <a:latin typeface="Arial"/>
                <a:ea typeface="Arial"/>
                <a:cs typeface="Arial"/>
              </a:rPr>
              <a:t>The commercial hypothesis</a:t>
            </a:r>
          </a:p>
          <a:p xmlns:a="http://schemas.openxmlformats.org/drawingml/2006/main">
            <a:pPr>
              <a:defRPr sz="1875" b="0">
                <a:solidFill>
                  <a:srgbClr val="ABBDCC"/>
                </a:solidFill>
                <a:latin typeface="Arial"/>
                <a:ea typeface="Arial"/>
                <a:cs typeface="Arial"/>
              </a:defRPr>
            </a:pPr>
            <a:r>
              <a:rPr sz="1875" b="0">
                <a:solidFill>
                  <a:srgbClr val="ABBDCC"/>
                </a:solidFill>
                <a:latin typeface="Arial"/>
                <a:ea typeface="Arial"/>
                <a:cs typeface="Arial"/>
              </a:rPr>
              <a:t>The strongest objection</a:t>
            </a:r>
          </a:p>
          <a:p xmlns:a="http://schemas.openxmlformats.org/drawingml/2006/main">
            <a:pPr>
              <a:defRPr sz="1875" b="0">
                <a:solidFill>
                  <a:srgbClr val="ABBDCC"/>
                </a:solidFill>
                <a:latin typeface="Arial"/>
                <a:ea typeface="Arial"/>
                <a:cs typeface="Arial"/>
              </a:defRPr>
            </a:pPr>
            <a:r>
              <a:rPr sz="1875" b="0">
                <a:solidFill>
                  <a:srgbClr val="ABBDCC"/>
                </a:solidFill>
                <a:latin typeface="Arial"/>
                <a:ea typeface="Arial"/>
                <a:cs typeface="Arial"/>
              </a:rPr>
              <a:t>The next proof to collect</a:t>
            </a:r>
          </a:p>
        </p:txBody>
      </p:sp>
      <p:sp>
        <p:nvSpPr>
          <p:cNvPr id="5" name="shortlist-preference">
            <a:extLst xmlns:a="http://schemas.openxmlformats.org/drawingml/2006/main">
              <a:ext uri="{FF2B5EF4-FFF2-40B4-BE49-F238E27FC236}">
                <a16:creationId xmlns:a16="http://schemas.microsoft.com/office/drawing/2014/main" id="{1026B1E8-2069-44CB-A2E8-064690280770}"/>
              </a:ext>
            </a:extLst>
          </p:cNvPr>
          <p:cNvSpPr>
            <a:spLocks xmlns:a="http://schemas.openxmlformats.org/drawingml/2006/main" noGrp="1"/>
          </p:cNvSpPr>
          <p:nvPr/>
        </p:nvSpPr>
        <p:spPr>
          <a:xfrm xmlns:a="http://schemas.openxmlformats.org/drawingml/2006/main">
            <a:off x="638175" y="5305425"/>
            <a:ext cx="3524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C6B6F3"/>
                </a:solidFill>
                <a:latin typeface="Arial"/>
                <a:ea typeface="Arial"/>
                <a:cs typeface="Arial"/>
              </a:defRPr>
            </a:defPPr>
          </a:lstStyle>
          <a:p xmlns:a="http://schemas.openxmlformats.org/drawingml/2006/main">
            <a:pPr>
              <a:defRPr sz="1950" b="0">
                <a:solidFill>
                  <a:srgbClr val="C6B6F3"/>
                </a:solidFill>
                <a:latin typeface="Arial"/>
                <a:ea typeface="Arial"/>
                <a:cs typeface="Arial"/>
              </a:defRPr>
            </a:pPr>
            <a:r>
              <a:rPr sz="1950" b="0">
                <a:solidFill>
                  <a:srgbClr val="C6B6F3"/>
                </a:solidFill>
                <a:latin typeface="Arial"/>
                <a:ea typeface="Arial"/>
                <a:cs typeface="Arial"/>
              </a:rPr>
              <a:t>Default preference</a:t>
            </a:r>
          </a:p>
          <a:p xmlns:a="http://schemas.openxmlformats.org/drawingml/2006/main">
            <a:pPr>
              <a:defRPr sz="1950" b="0">
                <a:solidFill>
                  <a:srgbClr val="C6B6F3"/>
                </a:solidFill>
                <a:latin typeface="Arial"/>
                <a:ea typeface="Arial"/>
                <a:cs typeface="Arial"/>
              </a:defRPr>
            </a:pPr>
            <a:r>
              <a:rPr sz="1950" b="0">
                <a:solidFill>
                  <a:srgbClr val="C6B6F3"/>
                </a:solidFill>
                <a:latin typeface="Arial"/>
                <a:ea typeface="Arial"/>
                <a:cs typeface="Arial"/>
              </a:rPr>
              <a:t>$100M or below</a:t>
            </a:r>
          </a:p>
        </p:txBody>
      </p:sp>
      <p:pic>
        <p:nvPicPr>
          <p:cNvPr id="6" name="">
            <a:extLst xmlns:a="http://schemas.openxmlformats.org/drawingml/2006/main">
              <a:ext uri="{FF2B5EF4-FFF2-40B4-BE49-F238E27FC236}">
                <a16:creationId xmlns:a16="http://schemas.microsoft.com/office/drawing/2014/main" id="{06DD1C01-01AB-4A32-B9CC-038EED6C2DF3}"/>
              </a:ext>
            </a:extLst>
          </p:cNvPr>
          <p:cNvPicPr>
            <a:picLocks xmlns:a="http://schemas.openxmlformats.org/drawingml/2006/main" noChangeAspect="1"/>
          </p:cNvPicPr>
          <p:nvPr/>
        </p:nvPicPr>
        <p:blipFill>
          <a:blip xmlns:r="http://schemas.openxmlformats.org/officeDocument/2006/relationships" xmlns:a="http://schemas.openxmlformats.org/drawingml/2006/main" r:embed="R7cf94e9f5da54a2b"/>
          <a:stretch xmlns:a="http://schemas.openxmlformats.org/drawingml/2006/main"/>
        </p:blipFill>
        <p:spPr>
          <a:xfrm xmlns:a="http://schemas.openxmlformats.org/drawingml/2006/main">
            <a:off x="5262634" y="1714500"/>
            <a:ext cx="5648183" cy="4143375"/>
          </a:xfrm>
          <a:prstGeom xmlns:a="http://schemas.openxmlformats.org/drawingml/2006/main" prst="rect">
            <a:avLst/>
          </a:prstGeom>
        </p:spPr>
      </p:pic>
      <p:sp>
        <p:nvSpPr>
          <p:cNvPr id="7" name="financing-note">
            <a:extLst xmlns:a="http://schemas.openxmlformats.org/drawingml/2006/main">
              <a:ext uri="{FF2B5EF4-FFF2-40B4-BE49-F238E27FC236}">
                <a16:creationId xmlns:a16="http://schemas.microsoft.com/office/drawing/2014/main" id="{5FFC7084-66F9-40DE-B7E5-2D92A617DDD9}"/>
              </a:ext>
            </a:extLst>
          </p:cNvPr>
          <p:cNvSpPr>
            <a:spLocks xmlns:a="http://schemas.openxmlformats.org/drawingml/2006/main" noGrp="1"/>
          </p:cNvSpPr>
          <p:nvPr/>
        </p:nvSpPr>
        <p:spPr>
          <a:xfrm xmlns:a="http://schemas.openxmlformats.org/drawingml/2006/main">
            <a:off x="4552950" y="5924550"/>
            <a:ext cx="6838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ABBDCC"/>
                </a:solidFill>
                <a:latin typeface="Arial"/>
                <a:ea typeface="Arial"/>
                <a:cs typeface="Arial"/>
              </a:defRPr>
            </a:defPPr>
          </a:lstStyle>
          <a:p xmlns:a="http://schemas.openxmlformats.org/drawingml/2006/main">
            <a:pPr>
              <a:defRPr sz="1275" b="0">
                <a:solidFill>
                  <a:srgbClr val="ABBDCC"/>
                </a:solidFill>
                <a:latin typeface="Arial"/>
                <a:ea typeface="Arial"/>
                <a:cs typeface="Arial"/>
              </a:defRPr>
            </a:pPr>
            <a:r>
              <a:rPr sz="1275" b="0">
                <a:solidFill>
                  <a:srgbClr val="ABBDCC"/>
                </a:solidFill>
                <a:latin typeface="Arial"/>
                <a:ea typeface="Arial"/>
                <a:cs typeface="Arial"/>
              </a:rPr>
              <a:t>Historical financing marks. Up to five qualify. Investment access and current entry terms need separate diligence.</a:t>
            </a:r>
          </a:p>
        </p:txBody>
      </p:sp>
    </p:spTree>
    <p:extLst>
      <p:ext uri="{BB962C8B-B14F-4D97-AF65-F5344CB8AC3E}">
        <p14:creationId xmlns:p14="http://schemas.microsoft.com/office/powerpoint/2010/main" val="1129750673"/>
      </p:ext>
    </p:extLst>
  </p:cSld>
</p:sld>
</file>

<file path=ppt/slides/slide4.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10" name="slide-number">
            <a:extLst xmlns:a="http://schemas.openxmlformats.org/drawingml/2006/main">
              <a:ext uri="{FF2B5EF4-FFF2-40B4-BE49-F238E27FC236}">
                <a16:creationId xmlns:a16="http://schemas.microsoft.com/office/drawing/2014/main" id="{38DDF5F5-D7E3-4FB9-BA2A-5225D54C49BA}"/>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04</a:t>
            </a:r>
          </a:p>
        </p:txBody>
      </p:sp>
      <p:sp>
        <p:nvSpPr>
          <p:cNvPr id="2" name="slide-title">
            <a:extLst xmlns:a="http://schemas.openxmlformats.org/drawingml/2006/main">
              <a:ext uri="{FF2B5EF4-FFF2-40B4-BE49-F238E27FC236}">
                <a16:creationId xmlns:a16="http://schemas.microsoft.com/office/drawing/2014/main" id="{147D9130-7E4F-4725-92B4-6B98D5B74D94}"/>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Conviction Universe</a:t>
            </a:r>
          </a:p>
        </p:txBody>
      </p:sp>
      <p:sp>
        <p:nvSpPr>
          <p:cNvPr id="3" name="universe-question">
            <a:extLst xmlns:a="http://schemas.openxmlformats.org/drawingml/2006/main">
              <a:ext uri="{FF2B5EF4-FFF2-40B4-BE49-F238E27FC236}">
                <a16:creationId xmlns:a16="http://schemas.microsoft.com/office/drawing/2014/main" id="{1B6A3874-5B91-4180-9068-CE559DD5D23E}"/>
              </a:ext>
            </a:extLst>
          </p:cNvPr>
          <p:cNvSpPr>
            <a:spLocks xmlns:a="http://schemas.openxmlformats.org/drawingml/2006/main" noGrp="1"/>
          </p:cNvSpPr>
          <p:nvPr/>
        </p:nvSpPr>
        <p:spPr>
          <a:xfrm xmlns:a="http://schemas.openxmlformats.org/drawingml/2006/main">
            <a:off x="619125" y="16573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0">
                <a:solidFill>
                  <a:srgbClr val="B4E7DD"/>
                </a:solidFill>
                <a:latin typeface="Arial"/>
                <a:ea typeface="Arial"/>
                <a:cs typeface="Arial"/>
              </a:defRPr>
            </a:defPPr>
          </a:lstStyle>
          <a:p xmlns:a="http://schemas.openxmlformats.org/drawingml/2006/main">
            <a:pPr>
              <a:defRPr sz="3225" b="0">
                <a:solidFill>
                  <a:srgbClr val="B4E7DD"/>
                </a:solidFill>
                <a:latin typeface="Arial"/>
                <a:ea typeface="Arial"/>
                <a:cs typeface="Arial"/>
              </a:defRPr>
            </a:pPr>
            <a:r>
              <a:rPr sz="3225" b="0">
                <a:solidFill>
                  <a:srgbClr val="B4E7DD"/>
                </a:solidFill>
                <a:latin typeface="Arial"/>
                <a:ea typeface="Arial"/>
                <a:cs typeface="Arial"/>
              </a:rPr>
              <a:t>What survives without</a:t>
            </a:r>
          </a:p>
          <a:p xmlns:a="http://schemas.openxmlformats.org/drawingml/2006/main">
            <a:pPr>
              <a:defRPr sz="3225" b="0">
                <a:solidFill>
                  <a:srgbClr val="B4E7DD"/>
                </a:solidFill>
                <a:latin typeface="Arial"/>
                <a:ea typeface="Arial"/>
                <a:cs typeface="Arial"/>
              </a:defRPr>
            </a:pPr>
            <a:r>
              <a:rPr sz="3225" b="0">
                <a:solidFill>
                  <a:srgbClr val="B4E7DD"/>
                </a:solidFill>
                <a:latin typeface="Arial"/>
                <a:ea typeface="Arial"/>
                <a:cs typeface="Arial"/>
              </a:rPr>
              <a:t>company claims?</a:t>
            </a:r>
          </a:p>
        </p:txBody>
      </p:sp>
      <p:sp>
        <p:nvSpPr>
          <p:cNvPr id="4" name="universe-fallback">
            <a:extLst xmlns:a="http://schemas.openxmlformats.org/drawingml/2006/main">
              <a:ext uri="{FF2B5EF4-FFF2-40B4-BE49-F238E27FC236}">
                <a16:creationId xmlns:a16="http://schemas.microsoft.com/office/drawing/2014/main" id="{BBBE698E-1AB5-4385-9910-F343A69531C7}"/>
              </a:ext>
            </a:extLst>
          </p:cNvPr>
          <p:cNvSpPr>
            <a:spLocks xmlns:a="http://schemas.openxmlformats.org/drawingml/2006/main" noGrp="1"/>
          </p:cNvSpPr>
          <p:nvPr/>
        </p:nvSpPr>
        <p:spPr>
          <a:xfrm xmlns:a="http://schemas.openxmlformats.org/drawingml/2006/main">
            <a:off x="647700" y="3162300"/>
            <a:ext cx="6810375"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550" b="0">
                <a:solidFill>
                  <a:srgbClr val="F1F7FA"/>
                </a:solidFill>
                <a:latin typeface="Arial"/>
                <a:ea typeface="Arial"/>
                <a:cs typeface="Arial"/>
              </a:defRPr>
            </a:defPPr>
          </a:lstStyle>
          <a:p xmlns:a="http://schemas.openxmlformats.org/drawingml/2006/main">
            <a:pPr>
              <a:defRPr sz="2550" b="0">
                <a:solidFill>
                  <a:srgbClr val="F1F7FA"/>
                </a:solidFill>
                <a:latin typeface="Arial"/>
                <a:ea typeface="Arial"/>
                <a:cs typeface="Arial"/>
              </a:defRPr>
            </a:pPr>
            <a:r>
              <a:rPr sz="2550" b="0">
                <a:solidFill>
                  <a:srgbClr val="F1F7FA"/>
                </a:solidFill>
                <a:latin typeface="Arial"/>
                <a:ea typeface="Arial"/>
                <a:cs typeface="Arial"/>
              </a:rPr>
              <a:t>The evidence map shows companies</a:t>
            </a:r>
          </a:p>
          <a:p xmlns:a="http://schemas.openxmlformats.org/drawingml/2006/main">
            <a:pPr>
              <a:defRPr sz="2550" b="0">
                <a:solidFill>
                  <a:srgbClr val="F1F7FA"/>
                </a:solidFill>
                <a:latin typeface="Arial"/>
                <a:ea typeface="Arial"/>
                <a:cs typeface="Arial"/>
              </a:defRPr>
            </a:pPr>
            <a:r>
              <a:rPr sz="2550" b="0">
                <a:solidFill>
                  <a:srgbClr val="F1F7FA"/>
                </a:solidFill>
                <a:latin typeface="Arial"/>
                <a:ea typeface="Arial"/>
                <a:cs typeface="Arial"/>
              </a:rPr>
              <a:t>across the investor’s themes.</a:t>
            </a:r>
          </a:p>
          <a:p xmlns:a="http://schemas.openxmlformats.org/drawingml/2006/main">
            <a:pPr>
              <a:defRPr sz="2550" b="0">
                <a:solidFill>
                  <a:srgbClr val="F1F7FA"/>
                </a:solidFill>
                <a:latin typeface="Arial"/>
                <a:ea typeface="Arial"/>
                <a:cs typeface="Arial"/>
              </a:defRPr>
            </a:pPr>
            <a:r>
              <a:rPr sz="2550" b="0">
                <a:solidFill>
                  <a:srgbClr val="F1F7FA"/>
                </a:solidFill>
                <a:latin typeface="Arial"/>
                <a:ea typeface="Arial"/>
                <a:cs typeface="Arial"/>
              </a:rPr>
              <a:t>A reversible lens removes</a:t>
            </a:r>
          </a:p>
          <a:p xmlns:a="http://schemas.openxmlformats.org/drawingml/2006/main">
            <a:pPr>
              <a:defRPr sz="2550" b="0">
                <a:solidFill>
                  <a:srgbClr val="F1F7FA"/>
                </a:solidFill>
                <a:latin typeface="Arial"/>
                <a:ea typeface="Arial"/>
                <a:cs typeface="Arial"/>
              </a:defRPr>
            </a:pPr>
            <a:r>
              <a:rPr sz="2550" b="0">
                <a:solidFill>
                  <a:srgbClr val="F1F7FA"/>
                </a:solidFill>
                <a:latin typeface="Arial"/>
                <a:ea typeface="Arial"/>
                <a:cs typeface="Arial"/>
              </a:rPr>
              <a:t>company claims.</a:t>
            </a:r>
          </a:p>
        </p:txBody>
      </p:sp>
      <p:sp>
        <p:nvSpPr>
          <p:cNvPr id="5" name="universe-radius">
            <a:extLst xmlns:a="http://schemas.openxmlformats.org/drawingml/2006/main">
              <a:ext uri="{FF2B5EF4-FFF2-40B4-BE49-F238E27FC236}">
                <a16:creationId xmlns:a16="http://schemas.microsoft.com/office/drawing/2014/main" id="{D5E4B860-8E63-4432-850C-F0359EF00999}"/>
              </a:ext>
            </a:extLst>
          </p:cNvPr>
          <p:cNvSpPr>
            <a:spLocks xmlns:a="http://schemas.openxmlformats.org/drawingml/2006/main" noGrp="1"/>
          </p:cNvSpPr>
          <p:nvPr/>
        </p:nvSpPr>
        <p:spPr>
          <a:xfrm xmlns:a="http://schemas.openxmlformats.org/drawingml/2006/main">
            <a:off x="8677275" y="2876550"/>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C6B6F3"/>
                </a:solidFill>
                <a:latin typeface="Arial"/>
                <a:ea typeface="Arial"/>
                <a:cs typeface="Arial"/>
              </a:defRPr>
            </a:defPPr>
          </a:lstStyle>
          <a:p xmlns:a="http://schemas.openxmlformats.org/drawingml/2006/main">
            <a:pPr>
              <a:defRPr sz="1275" b="1">
                <a:solidFill>
                  <a:srgbClr val="C6B6F3"/>
                </a:solidFill>
                <a:latin typeface="Arial"/>
                <a:ea typeface="Arial"/>
                <a:cs typeface="Arial"/>
              </a:defRPr>
            </a:pPr>
            <a:r>
              <a:rPr sz="1275" b="1">
                <a:solidFill>
                  <a:srgbClr val="C6B6F3"/>
                </a:solidFill>
                <a:latin typeface="Arial"/>
                <a:ea typeface="Arial"/>
                <a:cs typeface="Arial"/>
              </a:rPr>
              <a:t>CLOSER TO THE CORE</a:t>
            </a:r>
          </a:p>
        </p:txBody>
      </p:sp>
      <p:sp>
        <p:nvSpPr>
          <p:cNvPr id="6" name="universe-radius-body">
            <a:extLst xmlns:a="http://schemas.openxmlformats.org/drawingml/2006/main">
              <a:ext uri="{FF2B5EF4-FFF2-40B4-BE49-F238E27FC236}">
                <a16:creationId xmlns:a16="http://schemas.microsoft.com/office/drawing/2014/main" id="{3CD6B479-B360-4BAB-8BA5-BE4F6E75CC2A}"/>
              </a:ext>
            </a:extLst>
          </p:cNvPr>
          <p:cNvSpPr>
            <a:spLocks xmlns:a="http://schemas.openxmlformats.org/drawingml/2006/main" noGrp="1"/>
          </p:cNvSpPr>
          <p:nvPr/>
        </p:nvSpPr>
        <p:spPr>
          <a:xfrm xmlns:a="http://schemas.openxmlformats.org/drawingml/2006/main">
            <a:off x="8677275" y="3257550"/>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F1F7FA"/>
                </a:solidFill>
                <a:latin typeface="Arial"/>
                <a:ea typeface="Arial"/>
                <a:cs typeface="Arial"/>
              </a:defRPr>
            </a:defPPr>
          </a:lstStyle>
          <a:p xmlns:a="http://schemas.openxmlformats.org/drawingml/2006/main">
            <a:pPr>
              <a:defRPr sz="1875" b="0">
                <a:solidFill>
                  <a:srgbClr val="F1F7FA"/>
                </a:solidFill>
                <a:latin typeface="Arial"/>
                <a:ea typeface="Arial"/>
                <a:cs typeface="Arial"/>
              </a:defRPr>
            </a:pPr>
            <a:r>
              <a:rPr sz="1875" b="0">
                <a:solidFill>
                  <a:srgbClr val="F1F7FA"/>
                </a:solidFill>
                <a:latin typeface="Arial"/>
                <a:ea typeface="Arial"/>
                <a:cs typeface="Arial"/>
              </a:rPr>
              <a:t>More cited evidence</a:t>
            </a:r>
          </a:p>
          <a:p xmlns:a="http://schemas.openxmlformats.org/drawingml/2006/main">
            <a:pPr>
              <a:defRPr sz="1875" b="0">
                <a:solidFill>
                  <a:srgbClr val="F1F7FA"/>
                </a:solidFill>
                <a:latin typeface="Arial"/>
                <a:ea typeface="Arial"/>
                <a:cs typeface="Arial"/>
              </a:defRPr>
            </a:pPr>
            <a:r>
              <a:rPr sz="1875" b="0">
                <a:solidFill>
                  <a:srgbClr val="F1F7FA"/>
                </a:solidFill>
                <a:latin typeface="Arial"/>
                <a:ea typeface="Arial"/>
                <a:cs typeface="Arial"/>
              </a:rPr>
              <a:t>records supported</a:t>
            </a:r>
          </a:p>
        </p:txBody>
      </p:sp>
      <p:sp>
        <p:nvSpPr>
          <p:cNvPr id="7" name="universe-height">
            <a:extLst xmlns:a="http://schemas.openxmlformats.org/drawingml/2006/main">
              <a:ext uri="{FF2B5EF4-FFF2-40B4-BE49-F238E27FC236}">
                <a16:creationId xmlns:a16="http://schemas.microsoft.com/office/drawing/2014/main" id="{515AAB42-55E8-4E7B-BDB5-6E54ADF09DE9}"/>
              </a:ext>
            </a:extLst>
          </p:cNvPr>
          <p:cNvSpPr>
            <a:spLocks xmlns:a="http://schemas.openxmlformats.org/drawingml/2006/main" noGrp="1"/>
          </p:cNvSpPr>
          <p:nvPr/>
        </p:nvSpPr>
        <p:spPr>
          <a:xfrm xmlns:a="http://schemas.openxmlformats.org/drawingml/2006/main">
            <a:off x="8677275" y="429577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C6B6F3"/>
                </a:solidFill>
                <a:latin typeface="Arial"/>
                <a:ea typeface="Arial"/>
                <a:cs typeface="Arial"/>
              </a:defRPr>
            </a:defPPr>
          </a:lstStyle>
          <a:p xmlns:a="http://schemas.openxmlformats.org/drawingml/2006/main">
            <a:pPr>
              <a:defRPr sz="1275" b="1">
                <a:solidFill>
                  <a:srgbClr val="C6B6F3"/>
                </a:solidFill>
                <a:latin typeface="Arial"/>
                <a:ea typeface="Arial"/>
                <a:cs typeface="Arial"/>
              </a:defRPr>
            </a:pPr>
            <a:r>
              <a:rPr sz="1275" b="1">
                <a:solidFill>
                  <a:srgbClr val="C6B6F3"/>
                </a:solidFill>
                <a:latin typeface="Arial"/>
                <a:ea typeface="Arial"/>
                <a:cs typeface="Arial"/>
              </a:rPr>
              <a:t>HIGHER POSITION</a:t>
            </a:r>
          </a:p>
        </p:txBody>
      </p:sp>
      <p:sp>
        <p:nvSpPr>
          <p:cNvPr id="8" name="universe-height-body">
            <a:extLst xmlns:a="http://schemas.openxmlformats.org/drawingml/2006/main">
              <a:ext uri="{FF2B5EF4-FFF2-40B4-BE49-F238E27FC236}">
                <a16:creationId xmlns:a16="http://schemas.microsoft.com/office/drawing/2014/main" id="{0753EFDF-4EB9-4CD0-8C90-60340D4AC88B}"/>
              </a:ext>
            </a:extLst>
          </p:cNvPr>
          <p:cNvSpPr>
            <a:spLocks xmlns:a="http://schemas.openxmlformats.org/drawingml/2006/main" noGrp="1"/>
          </p:cNvSpPr>
          <p:nvPr/>
        </p:nvSpPr>
        <p:spPr>
          <a:xfrm xmlns:a="http://schemas.openxmlformats.org/drawingml/2006/main">
            <a:off x="8677275" y="4676775"/>
            <a:ext cx="2857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F1F7FA"/>
                </a:solidFill>
                <a:latin typeface="Arial"/>
                <a:ea typeface="Arial"/>
                <a:cs typeface="Arial"/>
              </a:defRPr>
            </a:defPPr>
          </a:lstStyle>
          <a:p xmlns:a="http://schemas.openxmlformats.org/drawingml/2006/main">
            <a:pPr>
              <a:defRPr sz="1875" b="0">
                <a:solidFill>
                  <a:srgbClr val="F1F7FA"/>
                </a:solidFill>
                <a:latin typeface="Arial"/>
                <a:ea typeface="Arial"/>
                <a:cs typeface="Arial"/>
              </a:defRPr>
            </a:pPr>
            <a:r>
              <a:rPr sz="1875" b="0">
                <a:solidFill>
                  <a:srgbClr val="F1F7FA"/>
                </a:solidFill>
                <a:latin typeface="Arial"/>
                <a:ea typeface="Arial"/>
                <a:cs typeface="Arial"/>
              </a:rPr>
              <a:t>Greater agent confidence</a:t>
            </a:r>
          </a:p>
        </p:txBody>
      </p:sp>
      <p:sp>
        <p:nvSpPr>
          <p:cNvPr id="9" name="universe-note">
            <a:extLst xmlns:a="http://schemas.openxmlformats.org/drawingml/2006/main">
              <a:ext uri="{FF2B5EF4-FFF2-40B4-BE49-F238E27FC236}">
                <a16:creationId xmlns:a16="http://schemas.microsoft.com/office/drawing/2014/main" id="{2326F597-430B-4C5B-BB0D-2A4624B7ED10}"/>
              </a:ext>
            </a:extLst>
          </p:cNvPr>
          <p:cNvSpPr>
            <a:spLocks xmlns:a="http://schemas.openxmlformats.org/drawingml/2006/main" noGrp="1"/>
          </p:cNvSpPr>
          <p:nvPr/>
        </p:nvSpPr>
        <p:spPr>
          <a:xfrm xmlns:a="http://schemas.openxmlformats.org/drawingml/2006/main">
            <a:off x="619125" y="6267450"/>
            <a:ext cx="10429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ABBDCC"/>
                </a:solidFill>
                <a:latin typeface="Arial"/>
                <a:ea typeface="Arial"/>
                <a:cs typeface="Arial"/>
              </a:defRPr>
            </a:defPPr>
          </a:lstStyle>
          <a:p xmlns:a="http://schemas.openxmlformats.org/drawingml/2006/main">
            <a:pPr>
              <a:defRPr sz="1275" b="0">
                <a:solidFill>
                  <a:srgbClr val="ABBDCC"/>
                </a:solidFill>
                <a:latin typeface="Arial"/>
                <a:ea typeface="Arial"/>
                <a:cs typeface="Arial"/>
              </a:defRPr>
            </a:pPr>
            <a:r>
              <a:rPr sz="1275" b="0">
                <a:solidFill>
                  <a:srgbClr val="ABBDCC"/>
                </a:solidFill>
                <a:latin typeface="Arial"/>
                <a:ea typeface="Arial"/>
                <a:cs typeface="Arial"/>
              </a:rPr>
              <a:t>A scenario based on admitted evidence. Position does not predict investment returns.</a:t>
            </a:r>
          </a:p>
        </p:txBody>
      </p:sp>
    </p:spTree>
    <p:extLst>
      <p:ext uri="{BB962C8B-B14F-4D97-AF65-F5344CB8AC3E}">
        <p14:creationId xmlns:p14="http://schemas.microsoft.com/office/powerpoint/2010/main" val="31602601"/>
      </p:ext>
    </p:extLst>
  </p:cSld>
</p:sld>
</file>

<file path=ppt/slides/slide5.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3920197B-9C96-4219-A2BC-060BA7CE9FB1}"/>
              </a:ext>
            </a:extLst>
          </p:cNvPr>
          <p:cNvCxnSpPr>
            <a:stCxn xmlns:a="http://schemas.openxmlformats.org/drawingml/2006/main" id="12" idx="3"/>
            <a:endCxn xmlns:a="http://schemas.openxmlformats.org/drawingml/2006/main" id="13" idx="1"/>
          </p:cNvCxnSpPr>
          <p:nvPr/>
        </p:nvCxnSpPr>
        <p:spPr>
          <a:xfrm xmlns:a="http://schemas.openxmlformats.org/drawingml/2006/main">
            <a:off x="9048750" y="5395913"/>
            <a:ext cx="781050" cy="0"/>
          </a:xfrm>
          <a:prstGeom xmlns:a="http://schemas.openxmlformats.org/drawingml/2006/main" prst="straightConnector1">
            <a:avLst/>
          </a:prstGeom>
          <a:ln xmlns:a="http://schemas.openxmlformats.org/drawingml/2006/main" w="16193">
            <a:solidFill>
              <a:srgbClr val="B4E7DD"/>
            </a:solidFill>
            <a:tailEnd type="arrow" w="sm" len="sm"/>
          </a:ln>
        </p:spPr>
      </p:cxnSp>
      <p:cxnSp>
        <p:nvCxnSpPr>
          <p:cNvPr id="22" name="">
            <a:extLst xmlns:a="http://schemas.openxmlformats.org/drawingml/2006/main">
              <a:ext uri="{FF2B5EF4-FFF2-40B4-BE49-F238E27FC236}">
                <a16:creationId xmlns:a16="http://schemas.microsoft.com/office/drawing/2014/main" id="{84D5DCB1-0030-4196-9665-9EE8CD8DE633}"/>
              </a:ext>
            </a:extLst>
          </p:cNvPr>
          <p:cNvCxnSpPr>
            <a:stCxn xmlns:a="http://schemas.openxmlformats.org/drawingml/2006/main" id="11" idx="2"/>
            <a:endCxn xmlns:a="http://schemas.openxmlformats.org/drawingml/2006/main" id="12" idx="0"/>
          </p:cNvCxnSpPr>
          <p:nvPr/>
        </p:nvCxnSpPr>
        <p:spPr>
          <a:xfrm xmlns:a="http://schemas.openxmlformats.org/drawingml/2006/main" flipH="1">
            <a:off x="8286750" y="3695700"/>
            <a:ext cx="1614488" cy="1400175"/>
          </a:xfrm>
          <a:prstGeom xmlns:a="http://schemas.openxmlformats.org/drawingml/2006/main" prst="bentConnector4">
            <a:avLst>
              <a:gd name="adj1" fmla="val 0"/>
              <a:gd name="adj2" fmla="val 83673"/>
            </a:avLst>
          </a:prstGeom>
          <a:ln xmlns:a="http://schemas.openxmlformats.org/drawingml/2006/main" w="16193">
            <a:solidFill>
              <a:srgbClr val="B4E7DD"/>
            </a:solidFill>
            <a:tailEnd type="arrow" w="sm" len="sm"/>
          </a:ln>
        </p:spPr>
      </p:cxnSp>
      <p:cxnSp>
        <p:nvCxnSpPr>
          <p:cNvPr id="21" name="">
            <a:extLst xmlns:a="http://schemas.openxmlformats.org/drawingml/2006/main">
              <a:ext uri="{FF2B5EF4-FFF2-40B4-BE49-F238E27FC236}">
                <a16:creationId xmlns:a16="http://schemas.microsoft.com/office/drawing/2014/main" id="{364CA442-4A87-4B65-959A-BB802CD3B0D8}"/>
              </a:ext>
            </a:extLst>
          </p:cNvPr>
          <p:cNvCxnSpPr>
            <a:stCxn xmlns:a="http://schemas.openxmlformats.org/drawingml/2006/main" id="10" idx="3"/>
            <a:endCxn xmlns:a="http://schemas.openxmlformats.org/drawingml/2006/main" id="11" idx="1"/>
          </p:cNvCxnSpPr>
          <p:nvPr/>
        </p:nvCxnSpPr>
        <p:spPr>
          <a:xfrm xmlns:a="http://schemas.openxmlformats.org/drawingml/2006/main" flipV="1">
            <a:off x="8715375" y="3395663"/>
            <a:ext cx="447675" cy="733425"/>
          </a:xfrm>
          <a:prstGeom xmlns:a="http://schemas.openxmlformats.org/drawingml/2006/main" prst="bentConnector3">
            <a:avLst>
              <a:gd name="adj1" fmla="val 50000"/>
            </a:avLst>
          </a:prstGeom>
          <a:ln xmlns:a="http://schemas.openxmlformats.org/drawingml/2006/main" w="16193">
            <a:solidFill>
              <a:srgbClr val="B4E7DD"/>
            </a:solidFill>
            <a:tailEnd type="arrow" w="sm" len="sm"/>
          </a:ln>
        </p:spPr>
      </p:cxnSp>
      <p:cxnSp>
        <p:nvCxnSpPr>
          <p:cNvPr id="20" name="">
            <a:extLst xmlns:a="http://schemas.openxmlformats.org/drawingml/2006/main">
              <a:ext uri="{FF2B5EF4-FFF2-40B4-BE49-F238E27FC236}">
                <a16:creationId xmlns:a16="http://schemas.microsoft.com/office/drawing/2014/main" id="{6BF32F98-D33B-46E7-BB6A-5B3958702ADB}"/>
              </a:ext>
            </a:extLst>
          </p:cNvPr>
          <p:cNvCxnSpPr>
            <a:stCxn xmlns:a="http://schemas.openxmlformats.org/drawingml/2006/main" id="9" idx="3"/>
            <a:endCxn xmlns:a="http://schemas.openxmlformats.org/drawingml/2006/main" id="11" idx="1"/>
          </p:cNvCxnSpPr>
          <p:nvPr/>
        </p:nvCxnSpPr>
        <p:spPr>
          <a:xfrm xmlns:a="http://schemas.openxmlformats.org/drawingml/2006/main">
            <a:off x="8715375" y="2890838"/>
            <a:ext cx="447675" cy="504825"/>
          </a:xfrm>
          <a:prstGeom xmlns:a="http://schemas.openxmlformats.org/drawingml/2006/main" prst="bentConnector3">
            <a:avLst>
              <a:gd name="adj1" fmla="val 50000"/>
            </a:avLst>
          </a:prstGeom>
          <a:ln xmlns:a="http://schemas.openxmlformats.org/drawingml/2006/main" w="16193">
            <a:solidFill>
              <a:srgbClr val="B4E7DD"/>
            </a:solidFill>
            <a:tailEnd type="arrow" w="sm" len="sm"/>
          </a:ln>
        </p:spPr>
      </p:cxnSp>
      <p:cxnSp>
        <p:nvCxnSpPr>
          <p:cNvPr id="19" name="">
            <a:extLst xmlns:a="http://schemas.openxmlformats.org/drawingml/2006/main">
              <a:ext uri="{FF2B5EF4-FFF2-40B4-BE49-F238E27FC236}">
                <a16:creationId xmlns:a16="http://schemas.microsoft.com/office/drawing/2014/main" id="{CE3D8B57-1E8B-4F2E-980C-2AF7C438E5D1}"/>
              </a:ext>
            </a:extLst>
          </p:cNvPr>
          <p:cNvCxnSpPr>
            <a:stCxn xmlns:a="http://schemas.openxmlformats.org/drawingml/2006/main" id="8" idx="3"/>
            <a:endCxn xmlns:a="http://schemas.openxmlformats.org/drawingml/2006/main" id="10" idx="1"/>
          </p:cNvCxnSpPr>
          <p:nvPr/>
        </p:nvCxnSpPr>
        <p:spPr>
          <a:xfrm xmlns:a="http://schemas.openxmlformats.org/drawingml/2006/main">
            <a:off x="7077075" y="4129088"/>
            <a:ext cx="447675" cy="0"/>
          </a:xfrm>
          <a:prstGeom xmlns:a="http://schemas.openxmlformats.org/drawingml/2006/main" prst="straightConnector1">
            <a:avLst/>
          </a:prstGeom>
          <a:ln xmlns:a="http://schemas.openxmlformats.org/drawingml/2006/main" w="16193">
            <a:solidFill>
              <a:srgbClr val="B4E7DD"/>
            </a:solidFill>
            <a:tailEnd type="arrow" w="sm" len="sm"/>
          </a:ln>
        </p:spPr>
      </p:cxnSp>
      <p:cxnSp>
        <p:nvCxnSpPr>
          <p:cNvPr id="18" name="">
            <a:extLst xmlns:a="http://schemas.openxmlformats.org/drawingml/2006/main">
              <a:ext uri="{FF2B5EF4-FFF2-40B4-BE49-F238E27FC236}">
                <a16:creationId xmlns:a16="http://schemas.microsoft.com/office/drawing/2014/main" id="{E939D42B-7FBE-4D17-9303-116383F292AB}"/>
              </a:ext>
            </a:extLst>
          </p:cNvPr>
          <p:cNvCxnSpPr>
            <a:stCxn xmlns:a="http://schemas.openxmlformats.org/drawingml/2006/main" id="7" idx="3"/>
            <a:endCxn xmlns:a="http://schemas.openxmlformats.org/drawingml/2006/main" id="9" idx="1"/>
          </p:cNvCxnSpPr>
          <p:nvPr/>
        </p:nvCxnSpPr>
        <p:spPr>
          <a:xfrm xmlns:a="http://schemas.openxmlformats.org/drawingml/2006/main">
            <a:off x="7077075" y="2890838"/>
            <a:ext cx="447675" cy="0"/>
          </a:xfrm>
          <a:prstGeom xmlns:a="http://schemas.openxmlformats.org/drawingml/2006/main" prst="straightConnector1">
            <a:avLst/>
          </a:prstGeom>
          <a:ln xmlns:a="http://schemas.openxmlformats.org/drawingml/2006/main" w="16193">
            <a:solidFill>
              <a:srgbClr val="B4E7DD"/>
            </a:solidFill>
            <a:tailEnd type="arrow" w="sm" len="sm"/>
          </a:ln>
        </p:spPr>
      </p:cxnSp>
      <p:cxnSp>
        <p:nvCxnSpPr>
          <p:cNvPr id="17" name="">
            <a:extLst xmlns:a="http://schemas.openxmlformats.org/drawingml/2006/main">
              <a:ext uri="{FF2B5EF4-FFF2-40B4-BE49-F238E27FC236}">
                <a16:creationId xmlns:a16="http://schemas.microsoft.com/office/drawing/2014/main" id="{0C167CF7-6226-4ABA-990B-6560835E5B6D}"/>
              </a:ext>
            </a:extLst>
          </p:cNvPr>
          <p:cNvCxnSpPr>
            <a:stCxn xmlns:a="http://schemas.openxmlformats.org/drawingml/2006/main" id="6" idx="3"/>
            <a:endCxn xmlns:a="http://schemas.openxmlformats.org/drawingml/2006/main" id="8" idx="1"/>
          </p:cNvCxnSpPr>
          <p:nvPr/>
        </p:nvCxnSpPr>
        <p:spPr>
          <a:xfrm xmlns:a="http://schemas.openxmlformats.org/drawingml/2006/main">
            <a:off x="5114925" y="3395663"/>
            <a:ext cx="428625" cy="733425"/>
          </a:xfrm>
          <a:prstGeom xmlns:a="http://schemas.openxmlformats.org/drawingml/2006/main" prst="bentConnector3">
            <a:avLst>
              <a:gd name="adj1" fmla="val 50000"/>
            </a:avLst>
          </a:prstGeom>
          <a:ln xmlns:a="http://schemas.openxmlformats.org/drawingml/2006/main" w="16193">
            <a:solidFill>
              <a:srgbClr val="B4E7DD"/>
            </a:solidFill>
            <a:tailEnd type="arrow" w="sm" len="sm"/>
          </a:ln>
        </p:spPr>
      </p:cxnSp>
      <p:cxnSp>
        <p:nvCxnSpPr>
          <p:cNvPr id="16" name="">
            <a:extLst xmlns:a="http://schemas.openxmlformats.org/drawingml/2006/main">
              <a:ext uri="{FF2B5EF4-FFF2-40B4-BE49-F238E27FC236}">
                <a16:creationId xmlns:a16="http://schemas.microsoft.com/office/drawing/2014/main" id="{39C2B433-1A1A-49A1-A22B-5DF05BEA50FC}"/>
              </a:ext>
            </a:extLst>
          </p:cNvPr>
          <p:cNvCxnSpPr>
            <a:stCxn xmlns:a="http://schemas.openxmlformats.org/drawingml/2006/main" id="6" idx="3"/>
            <a:endCxn xmlns:a="http://schemas.openxmlformats.org/drawingml/2006/main" id="7" idx="1"/>
          </p:cNvCxnSpPr>
          <p:nvPr/>
        </p:nvCxnSpPr>
        <p:spPr>
          <a:xfrm xmlns:a="http://schemas.openxmlformats.org/drawingml/2006/main" flipV="1">
            <a:off x="5114925" y="2890838"/>
            <a:ext cx="428625" cy="504825"/>
          </a:xfrm>
          <a:prstGeom xmlns:a="http://schemas.openxmlformats.org/drawingml/2006/main" prst="bentConnector3">
            <a:avLst>
              <a:gd name="adj1" fmla="val 50000"/>
            </a:avLst>
          </a:prstGeom>
          <a:ln xmlns:a="http://schemas.openxmlformats.org/drawingml/2006/main" w="16193">
            <a:solidFill>
              <a:srgbClr val="B4E7DD"/>
            </a:solidFill>
            <a:tailEnd type="arrow" w="sm" len="sm"/>
          </a:ln>
        </p:spPr>
      </p:cxnSp>
      <p:cxnSp>
        <p:nvCxnSpPr>
          <p:cNvPr id="15" name="">
            <a:extLst xmlns:a="http://schemas.openxmlformats.org/drawingml/2006/main">
              <a:ext uri="{FF2B5EF4-FFF2-40B4-BE49-F238E27FC236}">
                <a16:creationId xmlns:a16="http://schemas.microsoft.com/office/drawing/2014/main" id="{3DACCC21-B214-462C-8F1B-597A4810FA32}"/>
              </a:ext>
            </a:extLst>
          </p:cNvPr>
          <p:cNvCxnSpPr>
            <a:stCxn xmlns:a="http://schemas.openxmlformats.org/drawingml/2006/main" id="5" idx="3"/>
            <a:endCxn xmlns:a="http://schemas.openxmlformats.org/drawingml/2006/main" id="6" idx="1"/>
          </p:cNvCxnSpPr>
          <p:nvPr/>
        </p:nvCxnSpPr>
        <p:spPr>
          <a:xfrm xmlns:a="http://schemas.openxmlformats.org/drawingml/2006/main">
            <a:off x="3448050" y="3395663"/>
            <a:ext cx="285750" cy="0"/>
          </a:xfrm>
          <a:prstGeom xmlns:a="http://schemas.openxmlformats.org/drawingml/2006/main" prst="straightConnector1">
            <a:avLst/>
          </a:prstGeom>
          <a:ln xmlns:a="http://schemas.openxmlformats.org/drawingml/2006/main" w="16193">
            <a:solidFill>
              <a:srgbClr val="B4E7DD"/>
            </a:solidFill>
            <a:tailEnd type="arrow" w="sm" len="sm"/>
          </a:ln>
        </p:spPr>
      </p:cxnSp>
      <p:cxnSp>
        <p:nvCxnSpPr>
          <p:cNvPr id="14" name="">
            <a:extLst xmlns:a="http://schemas.openxmlformats.org/drawingml/2006/main">
              <a:ext uri="{FF2B5EF4-FFF2-40B4-BE49-F238E27FC236}">
                <a16:creationId xmlns:a16="http://schemas.microsoft.com/office/drawing/2014/main" id="{B1726652-F277-4907-B34A-C2F9391EF561}"/>
              </a:ext>
            </a:extLst>
          </p:cNvPr>
          <p:cNvCxnSpPr>
            <a:stCxn xmlns:a="http://schemas.openxmlformats.org/drawingml/2006/main" id="4" idx="3"/>
            <a:endCxn xmlns:a="http://schemas.openxmlformats.org/drawingml/2006/main" id="5" idx="1"/>
          </p:cNvCxnSpPr>
          <p:nvPr/>
        </p:nvCxnSpPr>
        <p:spPr>
          <a:xfrm xmlns:a="http://schemas.openxmlformats.org/drawingml/2006/main">
            <a:off x="1847850" y="3395663"/>
            <a:ext cx="285750" cy="0"/>
          </a:xfrm>
          <a:prstGeom xmlns:a="http://schemas.openxmlformats.org/drawingml/2006/main" prst="straightConnector1">
            <a:avLst/>
          </a:prstGeom>
          <a:ln xmlns:a="http://schemas.openxmlformats.org/drawingml/2006/main" w="16193">
            <a:solidFill>
              <a:srgbClr val="B4E7DD"/>
            </a:solidFill>
            <a:tailEnd type="arrow" w="sm" len="sm"/>
          </a:ln>
        </p:spPr>
      </p:cxnSp>
      <p:sp>
        <p:nvSpPr>
          <p:cNvPr id="26" name="slide-number">
            <a:extLst xmlns:a="http://schemas.openxmlformats.org/drawingml/2006/main">
              <a:ext uri="{FF2B5EF4-FFF2-40B4-BE49-F238E27FC236}">
                <a16:creationId xmlns:a16="http://schemas.microsoft.com/office/drawing/2014/main" id="{B428BDCD-00AE-4456-A914-A4F0C8F90BF3}"/>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05</a:t>
            </a:r>
          </a:p>
        </p:txBody>
      </p:sp>
      <p:sp>
        <p:nvSpPr>
          <p:cNvPr id="2" name="slide-title">
            <a:extLst xmlns:a="http://schemas.openxmlformats.org/drawingml/2006/main">
              <a:ext uri="{FF2B5EF4-FFF2-40B4-BE49-F238E27FC236}">
                <a16:creationId xmlns:a16="http://schemas.microsoft.com/office/drawing/2014/main" id="{5B45A227-0BE6-4AE0-80DB-95B163C1DAC6}"/>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Nine agents with a feedback loop</a:t>
            </a:r>
          </a:p>
        </p:txBody>
      </p:sp>
      <p:sp>
        <p:nvSpPr>
          <p:cNvPr id="3" name="architecture-description">
            <a:extLst xmlns:a="http://schemas.openxmlformats.org/drawingml/2006/main">
              <a:ext uri="{FF2B5EF4-FFF2-40B4-BE49-F238E27FC236}">
                <a16:creationId xmlns:a16="http://schemas.microsoft.com/office/drawing/2014/main" id="{6A2F579B-BED3-4BA8-88B0-2263EF0CFDD5}"/>
              </a:ext>
            </a:extLst>
          </p:cNvPr>
          <p:cNvSpPr>
            <a:spLocks xmlns:a="http://schemas.openxmlformats.org/drawingml/2006/main" noGrp="1"/>
          </p:cNvSpPr>
          <p:nvPr/>
        </p:nvSpPr>
        <p:spPr>
          <a:xfrm xmlns:a="http://schemas.openxmlformats.org/drawingml/2006/main">
            <a:off x="619125" y="1628775"/>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ABBDCC"/>
                </a:solidFill>
                <a:latin typeface="Arial"/>
                <a:ea typeface="Arial"/>
                <a:cs typeface="Arial"/>
              </a:defRPr>
            </a:defPPr>
          </a:lstStyle>
          <a:p xmlns:a="http://schemas.openxmlformats.org/drawingml/2006/main">
            <a:pPr>
              <a:defRPr sz="1950" b="0">
                <a:solidFill>
                  <a:srgbClr val="ABBDCC"/>
                </a:solidFill>
                <a:latin typeface="Arial"/>
                <a:ea typeface="Arial"/>
                <a:cs typeface="Arial"/>
              </a:defRPr>
            </a:pPr>
            <a:r>
              <a:rPr sz="1950" b="0">
                <a:solidFill>
                  <a:srgbClr val="ABBDCC"/>
                </a:solidFill>
                <a:latin typeface="Arial"/>
                <a:ea typeface="Arial"/>
                <a:cs typeface="Arial"/>
              </a:rPr>
              <a:t>Specialists hand off findings and citations. A fresh verifier challenges the thesis before the committee decides.</a:t>
            </a:r>
          </a:p>
        </p:txBody>
      </p:sp>
      <p:sp>
        <p:nvSpPr>
          <p:cNvPr id="4" name="scout">
            <a:extLst xmlns:a="http://schemas.openxmlformats.org/drawingml/2006/main">
              <a:ext uri="{FF2B5EF4-FFF2-40B4-BE49-F238E27FC236}">
                <a16:creationId xmlns:a16="http://schemas.microsoft.com/office/drawing/2014/main" id="{2201D45F-6744-406F-AC92-A7EBD3864778}"/>
              </a:ext>
            </a:extLst>
          </p:cNvPr>
          <p:cNvSpPr>
            <a:spLocks xmlns:a="http://schemas.openxmlformats.org/drawingml/2006/main" noGrp="1"/>
          </p:cNvSpPr>
          <p:nvPr/>
        </p:nvSpPr>
        <p:spPr>
          <a:xfrm xmlns:a="http://schemas.openxmlformats.org/drawingml/2006/main">
            <a:off x="590550" y="3095625"/>
            <a:ext cx="1257300"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F1F7FA"/>
            </a:solidFill>
          </a:ln>
        </p:spPr>
        <p:txBody>
          <a:bodyPr xmlns:a="http://schemas.openxmlformats.org/drawingml/2006/main" lIns="57150" tIns="57150" rIns="57150" bIns="57150" anchor="ctr"/>
          <a:lstStyle xmlns:a="http://schemas.openxmlformats.org/drawingml/2006/main">
            <a:defPPr algn="ctr">
              <a:defRPr sz="1425">
                <a:solidFill>
                  <a:srgbClr val="F1F7FA"/>
                </a:solidFill>
                <a:latin typeface="Arial"/>
                <a:ea typeface="Arial"/>
                <a:cs typeface="Arial"/>
              </a:defRPr>
            </a:defPPr>
          </a:lstStyle>
          <a:p xmlns:a="http://schemas.openxmlformats.org/drawingml/2006/main">
            <a:pPr algn="ctr">
              <a:defRPr sz="1425">
                <a:solidFill>
                  <a:srgbClr val="F1F7FA"/>
                </a:solidFill>
                <a:latin typeface="Arial"/>
                <a:ea typeface="Arial"/>
                <a:cs typeface="Arial"/>
              </a:defRPr>
            </a:pPr>
            <a:r>
              <a:rPr sz="1425">
                <a:solidFill>
                  <a:srgbClr val="F1F7FA"/>
                </a:solidFill>
                <a:latin typeface="Arial"/>
                <a:ea typeface="Arial"/>
                <a:cs typeface="Arial"/>
              </a:rPr>
              <a:t>Scout</a:t>
            </a:r>
          </a:p>
        </p:txBody>
      </p:sp>
      <p:sp>
        <p:nvSpPr>
          <p:cNvPr id="5" name="causal">
            <a:extLst xmlns:a="http://schemas.openxmlformats.org/drawingml/2006/main">
              <a:ext uri="{FF2B5EF4-FFF2-40B4-BE49-F238E27FC236}">
                <a16:creationId xmlns:a16="http://schemas.microsoft.com/office/drawing/2014/main" id="{7B65675A-A555-4ECD-9C2D-F9F507958CE8}"/>
              </a:ext>
            </a:extLst>
          </p:cNvPr>
          <p:cNvSpPr>
            <a:spLocks xmlns:a="http://schemas.openxmlformats.org/drawingml/2006/main" noGrp="1"/>
          </p:cNvSpPr>
          <p:nvPr/>
        </p:nvSpPr>
        <p:spPr>
          <a:xfrm xmlns:a="http://schemas.openxmlformats.org/drawingml/2006/main">
            <a:off x="2133600" y="3095625"/>
            <a:ext cx="1314450"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F1F7FA"/>
            </a:solidFill>
          </a:ln>
        </p:spPr>
        <p:txBody>
          <a:bodyPr xmlns:a="http://schemas.openxmlformats.org/drawingml/2006/main" lIns="57150" tIns="57150" rIns="57150" bIns="57150" anchor="ctr"/>
          <a:lstStyle xmlns:a="http://schemas.openxmlformats.org/drawingml/2006/main">
            <a:defPPr algn="ctr">
              <a:defRPr sz="1425">
                <a:solidFill>
                  <a:srgbClr val="F1F7FA"/>
                </a:solidFill>
                <a:latin typeface="Arial"/>
                <a:ea typeface="Arial"/>
                <a:cs typeface="Arial"/>
              </a:defRPr>
            </a:defPPr>
          </a:lstStyle>
          <a:p xmlns:a="http://schemas.openxmlformats.org/drawingml/2006/main">
            <a:pPr algn="ctr">
              <a:defRPr sz="1425">
                <a:solidFill>
                  <a:srgbClr val="F1F7FA"/>
                </a:solidFill>
                <a:latin typeface="Arial"/>
                <a:ea typeface="Arial"/>
                <a:cs typeface="Arial"/>
              </a:defRPr>
            </a:pPr>
            <a:r>
              <a:rPr sz="1425">
                <a:solidFill>
                  <a:srgbClr val="F1F7FA"/>
                </a:solidFill>
                <a:latin typeface="Arial"/>
                <a:ea typeface="Arial"/>
                <a:cs typeface="Arial"/>
              </a:rPr>
              <a:t>Causal analyst</a:t>
            </a:r>
          </a:p>
        </p:txBody>
      </p:sp>
      <p:sp>
        <p:nvSpPr>
          <p:cNvPr id="6" name="hunter">
            <a:extLst xmlns:a="http://schemas.openxmlformats.org/drawingml/2006/main">
              <a:ext uri="{FF2B5EF4-FFF2-40B4-BE49-F238E27FC236}">
                <a16:creationId xmlns:a16="http://schemas.microsoft.com/office/drawing/2014/main" id="{15F99817-E02D-4A8B-9763-19AFE4503C24}"/>
              </a:ext>
            </a:extLst>
          </p:cNvPr>
          <p:cNvSpPr>
            <a:spLocks xmlns:a="http://schemas.openxmlformats.org/drawingml/2006/main" noGrp="1"/>
          </p:cNvSpPr>
          <p:nvPr/>
        </p:nvSpPr>
        <p:spPr>
          <a:xfrm xmlns:a="http://schemas.openxmlformats.org/drawingml/2006/main">
            <a:off x="3733800" y="3095625"/>
            <a:ext cx="138112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F1F7FA"/>
            </a:solidFill>
          </a:ln>
        </p:spPr>
        <p:txBody>
          <a:bodyPr xmlns:a="http://schemas.openxmlformats.org/drawingml/2006/main" lIns="57150" tIns="57150" rIns="57150" bIns="57150" anchor="ctr"/>
          <a:lstStyle xmlns:a="http://schemas.openxmlformats.org/drawingml/2006/main">
            <a:defPPr algn="ctr">
              <a:defRPr sz="1425">
                <a:solidFill>
                  <a:srgbClr val="F1F7FA"/>
                </a:solidFill>
                <a:latin typeface="Arial"/>
                <a:ea typeface="Arial"/>
                <a:cs typeface="Arial"/>
              </a:defRPr>
            </a:defPPr>
          </a:lstStyle>
          <a:p xmlns:a="http://schemas.openxmlformats.org/drawingml/2006/main">
            <a:pPr algn="ctr">
              <a:defRPr sz="1425">
                <a:solidFill>
                  <a:srgbClr val="F1F7FA"/>
                </a:solidFill>
                <a:latin typeface="Arial"/>
                <a:ea typeface="Arial"/>
                <a:cs typeface="Arial"/>
              </a:defRPr>
            </a:pPr>
            <a:r>
              <a:rPr sz="1425">
                <a:solidFill>
                  <a:srgbClr val="F1F7FA"/>
                </a:solidFill>
                <a:latin typeface="Arial"/>
                <a:ea typeface="Arial"/>
                <a:cs typeface="Arial"/>
              </a:rPr>
              <a:t>Company hunter</a:t>
            </a:r>
          </a:p>
        </p:txBody>
      </p:sp>
      <p:sp>
        <p:nvSpPr>
          <p:cNvPr id="7" name="founder">
            <a:extLst xmlns:a="http://schemas.openxmlformats.org/drawingml/2006/main">
              <a:ext uri="{FF2B5EF4-FFF2-40B4-BE49-F238E27FC236}">
                <a16:creationId xmlns:a16="http://schemas.microsoft.com/office/drawing/2014/main" id="{EA1B4A6C-CD71-4401-AD51-B6FEB23B70A6}"/>
              </a:ext>
            </a:extLst>
          </p:cNvPr>
          <p:cNvSpPr>
            <a:spLocks xmlns:a="http://schemas.openxmlformats.org/drawingml/2006/main" noGrp="1"/>
          </p:cNvSpPr>
          <p:nvPr/>
        </p:nvSpPr>
        <p:spPr>
          <a:xfrm xmlns:a="http://schemas.openxmlformats.org/drawingml/2006/main">
            <a:off x="5543550" y="2590800"/>
            <a:ext cx="153352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C6B6F3"/>
            </a:solidFill>
          </a:ln>
        </p:spPr>
        <p:txBody>
          <a:bodyPr xmlns:a="http://schemas.openxmlformats.org/drawingml/2006/main" lIns="57150" tIns="57150" rIns="57150" bIns="57150" anchor="ctr"/>
          <a:lstStyle xmlns:a="http://schemas.openxmlformats.org/drawingml/2006/main">
            <a:defPPr algn="ctr">
              <a:defRPr sz="1425">
                <a:solidFill>
                  <a:srgbClr val="C6B6F3"/>
                </a:solidFill>
                <a:latin typeface="Arial"/>
                <a:ea typeface="Arial"/>
                <a:cs typeface="Arial"/>
              </a:defRPr>
            </a:defPPr>
          </a:lstStyle>
          <a:p xmlns:a="http://schemas.openxmlformats.org/drawingml/2006/main">
            <a:pPr algn="ctr">
              <a:defRPr sz="1425">
                <a:solidFill>
                  <a:srgbClr val="C6B6F3"/>
                </a:solidFill>
                <a:latin typeface="Arial"/>
                <a:ea typeface="Arial"/>
                <a:cs typeface="Arial"/>
              </a:defRPr>
            </a:pPr>
            <a:r>
              <a:rPr sz="1425">
                <a:solidFill>
                  <a:srgbClr val="C6B6F3"/>
                </a:solidFill>
                <a:latin typeface="Arial"/>
                <a:ea typeface="Arial"/>
                <a:cs typeface="Arial"/>
              </a:rPr>
              <a:t>Founder analyst</a:t>
            </a:r>
          </a:p>
        </p:txBody>
      </p:sp>
      <p:sp>
        <p:nvSpPr>
          <p:cNvPr id="8" name="competitive">
            <a:extLst xmlns:a="http://schemas.openxmlformats.org/drawingml/2006/main">
              <a:ext uri="{FF2B5EF4-FFF2-40B4-BE49-F238E27FC236}">
                <a16:creationId xmlns:a16="http://schemas.microsoft.com/office/drawing/2014/main" id="{CC7631F9-AE1D-4031-B4ED-C54D93A6AB64}"/>
              </a:ext>
            </a:extLst>
          </p:cNvPr>
          <p:cNvSpPr>
            <a:spLocks xmlns:a="http://schemas.openxmlformats.org/drawingml/2006/main" noGrp="1"/>
          </p:cNvSpPr>
          <p:nvPr/>
        </p:nvSpPr>
        <p:spPr>
          <a:xfrm xmlns:a="http://schemas.openxmlformats.org/drawingml/2006/main">
            <a:off x="5543550" y="3829050"/>
            <a:ext cx="153352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C6B6F3"/>
            </a:solidFill>
          </a:ln>
        </p:spPr>
        <p:txBody>
          <a:bodyPr xmlns:a="http://schemas.openxmlformats.org/drawingml/2006/main" lIns="57150" tIns="57150" rIns="57150" bIns="57150" anchor="ctr"/>
          <a:lstStyle xmlns:a="http://schemas.openxmlformats.org/drawingml/2006/main">
            <a:defPPr algn="ctr">
              <a:defRPr sz="1425">
                <a:solidFill>
                  <a:srgbClr val="C6B6F3"/>
                </a:solidFill>
                <a:latin typeface="Arial"/>
                <a:ea typeface="Arial"/>
                <a:cs typeface="Arial"/>
              </a:defRPr>
            </a:defPPr>
          </a:lstStyle>
          <a:p xmlns:a="http://schemas.openxmlformats.org/drawingml/2006/main">
            <a:pPr algn="ctr">
              <a:defRPr sz="1425">
                <a:solidFill>
                  <a:srgbClr val="C6B6F3"/>
                </a:solidFill>
                <a:latin typeface="Arial"/>
                <a:ea typeface="Arial"/>
                <a:cs typeface="Arial"/>
              </a:defRPr>
            </a:pPr>
            <a:r>
              <a:rPr sz="1425">
                <a:solidFill>
                  <a:srgbClr val="C6B6F3"/>
                </a:solidFill>
                <a:latin typeface="Arial"/>
                <a:ea typeface="Arial"/>
                <a:cs typeface="Arial"/>
              </a:rPr>
              <a:t>Competitive</a:t>
            </a:r>
          </a:p>
          <a:p xmlns:a="http://schemas.openxmlformats.org/drawingml/2006/main">
            <a:pPr algn="ctr">
              <a:defRPr sz="1425">
                <a:solidFill>
                  <a:srgbClr val="C6B6F3"/>
                </a:solidFill>
                <a:latin typeface="Arial"/>
                <a:ea typeface="Arial"/>
                <a:cs typeface="Arial"/>
              </a:defRPr>
            </a:pPr>
            <a:r>
              <a:rPr sz="1425">
                <a:solidFill>
                  <a:srgbClr val="C6B6F3"/>
                </a:solidFill>
                <a:latin typeface="Arial"/>
                <a:ea typeface="Arial"/>
                <a:cs typeface="Arial"/>
              </a:rPr>
              <a:t>analyst</a:t>
            </a:r>
          </a:p>
        </p:txBody>
      </p:sp>
      <p:sp>
        <p:nvSpPr>
          <p:cNvPr id="9" name="bull">
            <a:extLst xmlns:a="http://schemas.openxmlformats.org/drawingml/2006/main">
              <a:ext uri="{FF2B5EF4-FFF2-40B4-BE49-F238E27FC236}">
                <a16:creationId xmlns:a16="http://schemas.microsoft.com/office/drawing/2014/main" id="{84E10E16-7542-4F9F-9C40-80BA708C3FE8}"/>
              </a:ext>
            </a:extLst>
          </p:cNvPr>
          <p:cNvSpPr>
            <a:spLocks xmlns:a="http://schemas.openxmlformats.org/drawingml/2006/main" noGrp="1"/>
          </p:cNvSpPr>
          <p:nvPr/>
        </p:nvSpPr>
        <p:spPr>
          <a:xfrm xmlns:a="http://schemas.openxmlformats.org/drawingml/2006/main">
            <a:off x="7524750" y="2590800"/>
            <a:ext cx="119062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B4E7DD"/>
            </a:solidFill>
          </a:ln>
        </p:spPr>
        <p:txBody>
          <a:bodyPr xmlns:a="http://schemas.openxmlformats.org/drawingml/2006/main" lIns="57150" tIns="57150" rIns="57150" bIns="57150" anchor="ctr"/>
          <a:lstStyle xmlns:a="http://schemas.openxmlformats.org/drawingml/2006/main">
            <a:defPPr algn="ctr">
              <a:defRPr sz="1425">
                <a:solidFill>
                  <a:srgbClr val="B4E7DD"/>
                </a:solidFill>
                <a:latin typeface="Arial"/>
                <a:ea typeface="Arial"/>
                <a:cs typeface="Arial"/>
              </a:defRPr>
            </a:defPPr>
          </a:lstStyle>
          <a:p xmlns:a="http://schemas.openxmlformats.org/drawingml/2006/main">
            <a:pPr algn="ctr">
              <a:defRPr sz="1425">
                <a:solidFill>
                  <a:srgbClr val="B4E7DD"/>
                </a:solidFill>
                <a:latin typeface="Arial"/>
                <a:ea typeface="Arial"/>
                <a:cs typeface="Arial"/>
              </a:defRPr>
            </a:pPr>
            <a:r>
              <a:rPr sz="1425">
                <a:solidFill>
                  <a:srgbClr val="B4E7DD"/>
                </a:solidFill>
                <a:latin typeface="Arial"/>
                <a:ea typeface="Arial"/>
                <a:cs typeface="Arial"/>
              </a:rPr>
              <a:t>Bull</a:t>
            </a:r>
          </a:p>
        </p:txBody>
      </p:sp>
      <p:sp>
        <p:nvSpPr>
          <p:cNvPr id="10" name="bear">
            <a:extLst xmlns:a="http://schemas.openxmlformats.org/drawingml/2006/main">
              <a:ext uri="{FF2B5EF4-FFF2-40B4-BE49-F238E27FC236}">
                <a16:creationId xmlns:a16="http://schemas.microsoft.com/office/drawing/2014/main" id="{9C29FABA-CB1C-4A6A-B907-09B9E424BCCD}"/>
              </a:ext>
            </a:extLst>
          </p:cNvPr>
          <p:cNvSpPr>
            <a:spLocks xmlns:a="http://schemas.openxmlformats.org/drawingml/2006/main" noGrp="1"/>
          </p:cNvSpPr>
          <p:nvPr/>
        </p:nvSpPr>
        <p:spPr>
          <a:xfrm xmlns:a="http://schemas.openxmlformats.org/drawingml/2006/main">
            <a:off x="7524750" y="3829050"/>
            <a:ext cx="119062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F1AFBA"/>
            </a:solidFill>
          </a:ln>
        </p:spPr>
        <p:txBody>
          <a:bodyPr xmlns:a="http://schemas.openxmlformats.org/drawingml/2006/main" lIns="57150" tIns="57150" rIns="57150" bIns="57150" anchor="ctr"/>
          <a:lstStyle xmlns:a="http://schemas.openxmlformats.org/drawingml/2006/main">
            <a:defPPr algn="ctr">
              <a:defRPr sz="1425">
                <a:solidFill>
                  <a:srgbClr val="F1AFBA"/>
                </a:solidFill>
                <a:latin typeface="Arial"/>
                <a:ea typeface="Arial"/>
                <a:cs typeface="Arial"/>
              </a:defRPr>
            </a:defPPr>
          </a:lstStyle>
          <a:p xmlns:a="http://schemas.openxmlformats.org/drawingml/2006/main">
            <a:pPr algn="ctr">
              <a:defRPr sz="1425">
                <a:solidFill>
                  <a:srgbClr val="F1AFBA"/>
                </a:solidFill>
                <a:latin typeface="Arial"/>
                <a:ea typeface="Arial"/>
                <a:cs typeface="Arial"/>
              </a:defRPr>
            </a:pPr>
            <a:r>
              <a:rPr sz="1425">
                <a:solidFill>
                  <a:srgbClr val="F1AFBA"/>
                </a:solidFill>
                <a:latin typeface="Arial"/>
                <a:ea typeface="Arial"/>
                <a:cs typeface="Arial"/>
              </a:rPr>
              <a:t>Bear</a:t>
            </a:r>
          </a:p>
        </p:txBody>
      </p:sp>
      <p:sp>
        <p:nvSpPr>
          <p:cNvPr id="11" name="verifier">
            <a:extLst xmlns:a="http://schemas.openxmlformats.org/drawingml/2006/main">
              <a:ext uri="{FF2B5EF4-FFF2-40B4-BE49-F238E27FC236}">
                <a16:creationId xmlns:a16="http://schemas.microsoft.com/office/drawing/2014/main" id="{BDB54B35-D188-4622-9DA6-BEB50DD63AA9}"/>
              </a:ext>
            </a:extLst>
          </p:cNvPr>
          <p:cNvSpPr>
            <a:spLocks xmlns:a="http://schemas.openxmlformats.org/drawingml/2006/main" noGrp="1"/>
          </p:cNvSpPr>
          <p:nvPr/>
        </p:nvSpPr>
        <p:spPr>
          <a:xfrm xmlns:a="http://schemas.openxmlformats.org/drawingml/2006/main">
            <a:off x="9163050" y="3095625"/>
            <a:ext cx="147637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B4E7DD"/>
            </a:solidFill>
          </a:ln>
        </p:spPr>
        <p:txBody>
          <a:bodyPr xmlns:a="http://schemas.openxmlformats.org/drawingml/2006/main" lIns="57150" tIns="57150" rIns="57150" bIns="57150" anchor="ctr"/>
          <a:lstStyle xmlns:a="http://schemas.openxmlformats.org/drawingml/2006/main">
            <a:defPPr algn="ctr">
              <a:defRPr sz="1425">
                <a:solidFill>
                  <a:srgbClr val="B4E7DD"/>
                </a:solidFill>
                <a:latin typeface="Arial"/>
                <a:ea typeface="Arial"/>
                <a:cs typeface="Arial"/>
              </a:defRPr>
            </a:defPPr>
          </a:lstStyle>
          <a:p xmlns:a="http://schemas.openxmlformats.org/drawingml/2006/main">
            <a:pPr algn="ctr">
              <a:defRPr sz="1425">
                <a:solidFill>
                  <a:srgbClr val="B4E7DD"/>
                </a:solidFill>
                <a:latin typeface="Arial"/>
                <a:ea typeface="Arial"/>
                <a:cs typeface="Arial"/>
              </a:defRPr>
            </a:pPr>
            <a:r>
              <a:rPr sz="1425">
                <a:solidFill>
                  <a:srgbClr val="B4E7DD"/>
                </a:solidFill>
                <a:latin typeface="Arial"/>
                <a:ea typeface="Arial"/>
                <a:cs typeface="Arial"/>
              </a:rPr>
              <a:t>Verifier</a:t>
            </a:r>
          </a:p>
        </p:txBody>
      </p:sp>
      <p:sp>
        <p:nvSpPr>
          <p:cNvPr id="12" name="revision">
            <a:extLst xmlns:a="http://schemas.openxmlformats.org/drawingml/2006/main">
              <a:ext uri="{FF2B5EF4-FFF2-40B4-BE49-F238E27FC236}">
                <a16:creationId xmlns:a16="http://schemas.microsoft.com/office/drawing/2014/main" id="{CE7D510C-E23B-457E-B606-B375A45D756D}"/>
              </a:ext>
            </a:extLst>
          </p:cNvPr>
          <p:cNvSpPr>
            <a:spLocks xmlns:a="http://schemas.openxmlformats.org/drawingml/2006/main" noGrp="1"/>
          </p:cNvSpPr>
          <p:nvPr/>
        </p:nvSpPr>
        <p:spPr>
          <a:xfrm xmlns:a="http://schemas.openxmlformats.org/drawingml/2006/main">
            <a:off x="7524750" y="5095875"/>
            <a:ext cx="1524000"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B4E7DD"/>
            </a:solidFill>
          </a:ln>
        </p:spPr>
        <p:txBody>
          <a:bodyPr xmlns:a="http://schemas.openxmlformats.org/drawingml/2006/main" lIns="57150" tIns="57150" rIns="57150" bIns="57150" anchor="ctr"/>
          <a:lstStyle xmlns:a="http://schemas.openxmlformats.org/drawingml/2006/main">
            <a:defPPr algn="ctr">
              <a:defRPr sz="1425">
                <a:solidFill>
                  <a:srgbClr val="B4E7DD"/>
                </a:solidFill>
                <a:latin typeface="Arial"/>
                <a:ea typeface="Arial"/>
                <a:cs typeface="Arial"/>
              </a:defRPr>
            </a:defPPr>
          </a:lstStyle>
          <a:p xmlns:a="http://schemas.openxmlformats.org/drawingml/2006/main">
            <a:pPr algn="ctr">
              <a:defRPr sz="1425">
                <a:solidFill>
                  <a:srgbClr val="B4E7DD"/>
                </a:solidFill>
                <a:latin typeface="Arial"/>
                <a:ea typeface="Arial"/>
                <a:cs typeface="Arial"/>
              </a:defRPr>
            </a:pPr>
            <a:r>
              <a:rPr sz="1425">
                <a:solidFill>
                  <a:srgbClr val="B4E7DD"/>
                </a:solidFill>
                <a:latin typeface="Arial"/>
                <a:ea typeface="Arial"/>
                <a:cs typeface="Arial"/>
              </a:rPr>
              <a:t>Bull revision</a:t>
            </a:r>
          </a:p>
        </p:txBody>
      </p:sp>
      <p:sp>
        <p:nvSpPr>
          <p:cNvPr id="13" name="committee">
            <a:extLst xmlns:a="http://schemas.openxmlformats.org/drawingml/2006/main">
              <a:ext uri="{FF2B5EF4-FFF2-40B4-BE49-F238E27FC236}">
                <a16:creationId xmlns:a16="http://schemas.microsoft.com/office/drawing/2014/main" id="{221F51EF-033D-4D39-A354-223C2393995A}"/>
              </a:ext>
            </a:extLst>
          </p:cNvPr>
          <p:cNvSpPr>
            <a:spLocks xmlns:a="http://schemas.openxmlformats.org/drawingml/2006/main" noGrp="1"/>
          </p:cNvSpPr>
          <p:nvPr/>
        </p:nvSpPr>
        <p:spPr>
          <a:xfrm xmlns:a="http://schemas.openxmlformats.org/drawingml/2006/main">
            <a:off x="9829800" y="5095875"/>
            <a:ext cx="1666875" cy="600075"/>
          </a:xfrm>
          <a:prstGeom xmlns:a="http://schemas.openxmlformats.org/drawingml/2006/main" prst="rect">
            <a:avLst/>
          </a:prstGeom>
          <a:solidFill xmlns:a="http://schemas.openxmlformats.org/drawingml/2006/main">
            <a:srgbClr val="1B2D3D"/>
          </a:solidFill>
          <a:ln xmlns:a="http://schemas.openxmlformats.org/drawingml/2006/main" w="7620">
            <a:solidFill>
              <a:srgbClr val="F1F7FA"/>
            </a:solidFill>
          </a:ln>
        </p:spPr>
        <p:txBody>
          <a:bodyPr xmlns:a="http://schemas.openxmlformats.org/drawingml/2006/main" lIns="57150" tIns="57150" rIns="57150" bIns="57150" anchor="ctr"/>
          <a:lstStyle xmlns:a="http://schemas.openxmlformats.org/drawingml/2006/main">
            <a:defPPr algn="ctr">
              <a:defRPr sz="1425">
                <a:solidFill>
                  <a:srgbClr val="F1F7FA"/>
                </a:solidFill>
                <a:latin typeface="Arial"/>
                <a:ea typeface="Arial"/>
                <a:cs typeface="Arial"/>
              </a:defRPr>
            </a:defPPr>
          </a:lstStyle>
          <a:p xmlns:a="http://schemas.openxmlformats.org/drawingml/2006/main">
            <a:pPr algn="ctr">
              <a:defRPr sz="1425">
                <a:solidFill>
                  <a:srgbClr val="F1F7FA"/>
                </a:solidFill>
                <a:latin typeface="Arial"/>
                <a:ea typeface="Arial"/>
                <a:cs typeface="Arial"/>
              </a:defRPr>
            </a:pPr>
            <a:r>
              <a:rPr sz="1425">
                <a:solidFill>
                  <a:srgbClr val="F1F7FA"/>
                </a:solidFill>
                <a:latin typeface="Arial"/>
                <a:ea typeface="Arial"/>
                <a:cs typeface="Arial"/>
              </a:rPr>
              <a:t>Investment</a:t>
            </a:r>
          </a:p>
          <a:p xmlns:a="http://schemas.openxmlformats.org/drawingml/2006/main">
            <a:pPr algn="ctr">
              <a:defRPr sz="1425">
                <a:solidFill>
                  <a:srgbClr val="F1F7FA"/>
                </a:solidFill>
                <a:latin typeface="Arial"/>
                <a:ea typeface="Arial"/>
                <a:cs typeface="Arial"/>
              </a:defRPr>
            </a:pPr>
            <a:r>
              <a:rPr sz="1425">
                <a:solidFill>
                  <a:srgbClr val="F1F7FA"/>
                </a:solidFill>
                <a:latin typeface="Arial"/>
                <a:ea typeface="Arial"/>
                <a:cs typeface="Arial"/>
              </a:rPr>
              <a:t>committee</a:t>
            </a:r>
          </a:p>
        </p:txBody>
      </p:sp>
      <p:sp>
        <p:nvSpPr>
          <p:cNvPr id="24" name="parallel-research">
            <a:extLst xmlns:a="http://schemas.openxmlformats.org/drawingml/2006/main">
              <a:ext uri="{FF2B5EF4-FFF2-40B4-BE49-F238E27FC236}">
                <a16:creationId xmlns:a16="http://schemas.microsoft.com/office/drawing/2014/main" id="{B4790285-C12F-4513-83C7-3EFB9EDFF62C}"/>
              </a:ext>
            </a:extLst>
          </p:cNvPr>
          <p:cNvSpPr>
            <a:spLocks xmlns:a="http://schemas.openxmlformats.org/drawingml/2006/main" noGrp="1"/>
          </p:cNvSpPr>
          <p:nvPr/>
        </p:nvSpPr>
        <p:spPr>
          <a:xfrm xmlns:a="http://schemas.openxmlformats.org/drawingml/2006/main">
            <a:off x="5505450" y="2181225"/>
            <a:ext cx="32670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975" b="0">
                <a:solidFill>
                  <a:srgbClr val="ABBDCC"/>
                </a:solidFill>
                <a:latin typeface="Arial"/>
                <a:ea typeface="Arial"/>
                <a:cs typeface="Arial"/>
              </a:defRPr>
            </a:defPPr>
          </a:lstStyle>
          <a:p xmlns:a="http://schemas.openxmlformats.org/drawingml/2006/main">
            <a:pPr>
              <a:defRPr sz="975" b="0">
                <a:solidFill>
                  <a:srgbClr val="ABBDCC"/>
                </a:solidFill>
                <a:latin typeface="Arial"/>
                <a:ea typeface="Arial"/>
                <a:cs typeface="Arial"/>
              </a:defRPr>
            </a:pPr>
            <a:r>
              <a:rPr sz="975" b="0">
                <a:solidFill>
                  <a:srgbClr val="ABBDCC"/>
                </a:solidFill>
                <a:latin typeface="Arial"/>
                <a:ea typeface="Arial"/>
                <a:cs typeface="Arial"/>
              </a:rPr>
              <a:t>PUBLIC PROFESSIONAL / MARKET RESEARCH</a:t>
            </a:r>
          </a:p>
        </p:txBody>
      </p:sp>
      <p:sp>
        <p:nvSpPr>
          <p:cNvPr id="25" name="architecture-note">
            <a:extLst xmlns:a="http://schemas.openxmlformats.org/drawingml/2006/main">
              <a:ext uri="{FF2B5EF4-FFF2-40B4-BE49-F238E27FC236}">
                <a16:creationId xmlns:a16="http://schemas.microsoft.com/office/drawing/2014/main" id="{E78175BC-690D-4334-9567-5F873A2F27E2}"/>
              </a:ext>
            </a:extLst>
          </p:cNvPr>
          <p:cNvSpPr>
            <a:spLocks xmlns:a="http://schemas.openxmlformats.org/drawingml/2006/main" noGrp="1"/>
          </p:cNvSpPr>
          <p:nvPr/>
        </p:nvSpPr>
        <p:spPr>
          <a:xfrm xmlns:a="http://schemas.openxmlformats.org/drawingml/2006/main">
            <a:off x="619125" y="6076950"/>
            <a:ext cx="10001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ABBDCC"/>
                </a:solidFill>
                <a:latin typeface="Arial"/>
                <a:ea typeface="Arial"/>
                <a:cs typeface="Arial"/>
              </a:defRPr>
            </a:defPPr>
          </a:lstStyle>
          <a:p xmlns:a="http://schemas.openxmlformats.org/drawingml/2006/main">
            <a:pPr>
              <a:defRPr sz="1500" b="0">
                <a:solidFill>
                  <a:srgbClr val="ABBDCC"/>
                </a:solidFill>
                <a:latin typeface="Arial"/>
                <a:ea typeface="Arial"/>
                <a:cs typeface="Arial"/>
              </a:defRPr>
            </a:pPr>
            <a:r>
              <a:rPr sz="1500" b="0">
                <a:solidFill>
                  <a:srgbClr val="ABBDCC"/>
                </a:solidFill>
                <a:latin typeface="Arial"/>
                <a:ea typeface="Arial"/>
                <a:cs typeface="Arial"/>
              </a:rPr>
              <a:t>Persisted evidence and bounded budgets support long runs, interruption recovery and an inspectable history.</a:t>
            </a:r>
          </a:p>
        </p:txBody>
      </p:sp>
    </p:spTree>
    <p:extLst>
      <p:ext uri="{BB962C8B-B14F-4D97-AF65-F5344CB8AC3E}">
        <p14:creationId xmlns:p14="http://schemas.microsoft.com/office/powerpoint/2010/main" val="2059843951"/>
      </p:ext>
    </p:extLst>
  </p:cSld>
</p:sld>
</file>

<file path=ppt/slides/slide6.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10" name="slide-number">
            <a:extLst xmlns:a="http://schemas.openxmlformats.org/drawingml/2006/main">
              <a:ext uri="{FF2B5EF4-FFF2-40B4-BE49-F238E27FC236}">
                <a16:creationId xmlns:a16="http://schemas.microsoft.com/office/drawing/2014/main" id="{F5361051-2F1E-4058-8B57-A4A556AAAA35}"/>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06</a:t>
            </a:r>
          </a:p>
        </p:txBody>
      </p:sp>
      <p:sp>
        <p:nvSpPr>
          <p:cNvPr id="2" name="slide-title">
            <a:extLst xmlns:a="http://schemas.openxmlformats.org/drawingml/2006/main">
              <a:ext uri="{FF2B5EF4-FFF2-40B4-BE49-F238E27FC236}">
                <a16:creationId xmlns:a16="http://schemas.microsoft.com/office/drawing/2014/main" id="{3208B202-27AA-4EE2-B307-B55251CF4878}"/>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A real correction changed the thesis</a:t>
            </a:r>
          </a:p>
        </p:txBody>
      </p:sp>
      <p:sp>
        <p:nvSpPr>
          <p:cNvPr id="3" name="case-label">
            <a:extLst xmlns:a="http://schemas.openxmlformats.org/drawingml/2006/main">
              <a:ext uri="{FF2B5EF4-FFF2-40B4-BE49-F238E27FC236}">
                <a16:creationId xmlns:a16="http://schemas.microsoft.com/office/drawing/2014/main" id="{469E15AE-2A78-4597-BE63-8D2FB6A85D48}"/>
              </a:ext>
            </a:extLst>
          </p:cNvPr>
          <p:cNvSpPr>
            <a:spLocks xmlns:a="http://schemas.openxmlformats.org/drawingml/2006/main" noGrp="1"/>
          </p:cNvSpPr>
          <p:nvPr/>
        </p:nvSpPr>
        <p:spPr>
          <a:xfrm xmlns:a="http://schemas.openxmlformats.org/drawingml/2006/main">
            <a:off x="619125" y="1638300"/>
            <a:ext cx="709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1">
                <a:solidFill>
                  <a:srgbClr val="C6B6F3"/>
                </a:solidFill>
                <a:latin typeface="Arial"/>
                <a:ea typeface="Arial"/>
                <a:cs typeface="Arial"/>
              </a:defRPr>
            </a:defPPr>
          </a:lstStyle>
          <a:p xmlns:a="http://schemas.openxmlformats.org/drawingml/2006/main">
            <a:pPr>
              <a:defRPr sz="1350" b="1">
                <a:solidFill>
                  <a:srgbClr val="C6B6F3"/>
                </a:solidFill>
                <a:latin typeface="Arial"/>
                <a:ea typeface="Arial"/>
                <a:cs typeface="Arial"/>
              </a:defRPr>
            </a:pPr>
            <a:r>
              <a:rPr sz="1350" b="1">
                <a:solidFill>
                  <a:srgbClr val="C6B6F3"/>
                </a:solidFill>
                <a:latin typeface="Arial"/>
                <a:ea typeface="Arial"/>
                <a:cs typeface="Arial"/>
              </a:rPr>
              <a:t>RECORDED BROWSERBASE INVESTIGATION</a:t>
            </a:r>
          </a:p>
        </p:txBody>
      </p:sp>
      <p:sp>
        <p:nvSpPr>
          <p:cNvPr id="4" name="wrong-attribution">
            <a:extLst xmlns:a="http://schemas.openxmlformats.org/drawingml/2006/main">
              <a:ext uri="{FF2B5EF4-FFF2-40B4-BE49-F238E27FC236}">
                <a16:creationId xmlns:a16="http://schemas.microsoft.com/office/drawing/2014/main" id="{7B554482-A49C-401B-ACB6-4537630D5F31}"/>
              </a:ext>
            </a:extLst>
          </p:cNvPr>
          <p:cNvSpPr>
            <a:spLocks xmlns:a="http://schemas.openxmlformats.org/drawingml/2006/main" noGrp="1"/>
          </p:cNvSpPr>
          <p:nvPr/>
        </p:nvSpPr>
        <p:spPr>
          <a:xfrm xmlns:a="http://schemas.openxmlformats.org/drawingml/2006/main">
            <a:off x="619125" y="2200275"/>
            <a:ext cx="647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0">
                <a:solidFill>
                  <a:srgbClr val="F1AFBA"/>
                </a:solidFill>
                <a:latin typeface="Arial"/>
                <a:ea typeface="Arial"/>
                <a:cs typeface="Arial"/>
              </a:defRPr>
            </a:defPPr>
          </a:lstStyle>
          <a:p xmlns:a="http://schemas.openxmlformats.org/drawingml/2006/main">
            <a:pPr>
              <a:defRPr sz="3150" b="0">
                <a:solidFill>
                  <a:srgbClr val="F1AFBA"/>
                </a:solidFill>
                <a:latin typeface="Arial"/>
                <a:ea typeface="Arial"/>
                <a:cs typeface="Arial"/>
              </a:defRPr>
            </a:pPr>
            <a:r>
              <a:rPr sz="3150" b="0">
                <a:solidFill>
                  <a:srgbClr val="F1AFBA"/>
                </a:solidFill>
                <a:latin typeface="Arial"/>
                <a:ea typeface="Arial"/>
                <a:cs typeface="Arial"/>
              </a:rPr>
              <a:t>Salesforce and Visa</a:t>
            </a:r>
          </a:p>
        </p:txBody>
      </p:sp>
      <p:sp>
        <p:nvSpPr>
          <p:cNvPr id="5" name="case-explanation">
            <a:extLst xmlns:a="http://schemas.openxmlformats.org/drawingml/2006/main">
              <a:ext uri="{FF2B5EF4-FFF2-40B4-BE49-F238E27FC236}">
                <a16:creationId xmlns:a16="http://schemas.microsoft.com/office/drawing/2014/main" id="{6B09F560-98E4-4463-8107-B17B6BDBC6D2}"/>
              </a:ext>
            </a:extLst>
          </p:cNvPr>
          <p:cNvSpPr>
            <a:spLocks xmlns:a="http://schemas.openxmlformats.org/drawingml/2006/main" noGrp="1"/>
          </p:cNvSpPr>
          <p:nvPr/>
        </p:nvSpPr>
        <p:spPr>
          <a:xfrm xmlns:a="http://schemas.openxmlformats.org/drawingml/2006/main">
            <a:off x="638175" y="2981325"/>
            <a:ext cx="62674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F1F7FA"/>
                </a:solidFill>
                <a:latin typeface="Arial"/>
                <a:ea typeface="Arial"/>
                <a:cs typeface="Arial"/>
              </a:defRPr>
            </a:defPPr>
          </a:lstStyle>
          <a:p xmlns:a="http://schemas.openxmlformats.org/drawingml/2006/main">
            <a:pPr>
              <a:defRPr sz="2100" b="0">
                <a:solidFill>
                  <a:srgbClr val="F1F7FA"/>
                </a:solidFill>
                <a:latin typeface="Arial"/>
                <a:ea typeface="Arial"/>
                <a:cs typeface="Arial"/>
              </a:defRPr>
            </a:pPr>
            <a:r>
              <a:rPr sz="2100" b="0">
                <a:solidFill>
                  <a:srgbClr val="F1F7FA"/>
                </a:solidFill>
                <a:latin typeface="Arial"/>
                <a:ea typeface="Arial"/>
                <a:cs typeface="Arial"/>
              </a:rPr>
              <a:t>The cited article named them under</a:t>
            </a:r>
          </a:p>
          <a:p xmlns:a="http://schemas.openxmlformats.org/drawingml/2006/main">
            <a:pPr>
              <a:defRPr sz="2100" b="0">
                <a:solidFill>
                  <a:srgbClr val="F1F7FA"/>
                </a:solidFill>
                <a:latin typeface="Arial"/>
                <a:ea typeface="Arial"/>
                <a:cs typeface="Arial"/>
              </a:defRPr>
            </a:pPr>
            <a:r>
              <a:rPr sz="2100" b="0">
                <a:solidFill>
                  <a:srgbClr val="F1F7FA"/>
                </a:solidFill>
                <a:latin typeface="Arial"/>
                <a:ea typeface="Arial"/>
                <a:cs typeface="Arial"/>
              </a:rPr>
              <a:t>competitor Sauce Labs. Verification</a:t>
            </a:r>
          </a:p>
          <a:p xmlns:a="http://schemas.openxmlformats.org/drawingml/2006/main">
            <a:pPr>
              <a:defRPr sz="2100" b="0">
                <a:solidFill>
                  <a:srgbClr val="F1F7FA"/>
                </a:solidFill>
                <a:latin typeface="Arial"/>
                <a:ea typeface="Arial"/>
                <a:cs typeface="Arial"/>
              </a:defRPr>
            </a:pPr>
            <a:r>
              <a:rPr sz="2100" b="0">
                <a:solidFill>
                  <a:srgbClr val="F1F7FA"/>
                </a:solidFill>
                <a:latin typeface="Arial"/>
                <a:ea typeface="Arial"/>
                <a:cs typeface="Arial"/>
              </a:rPr>
              <a:t>withdrew the Browserbase attribution.</a:t>
            </a:r>
          </a:p>
        </p:txBody>
      </p:sp>
      <p:sp>
        <p:nvSpPr>
          <p:cNvPr id="6" name="case-verdict">
            <a:extLst xmlns:a="http://schemas.openxmlformats.org/drawingml/2006/main">
              <a:ext uri="{FF2B5EF4-FFF2-40B4-BE49-F238E27FC236}">
                <a16:creationId xmlns:a16="http://schemas.microsoft.com/office/drawing/2014/main" id="{BE7B36F5-2629-459C-95E6-3CCCD0E176C4}"/>
              </a:ext>
            </a:extLst>
          </p:cNvPr>
          <p:cNvSpPr>
            <a:spLocks xmlns:a="http://schemas.openxmlformats.org/drawingml/2006/main" noGrp="1"/>
          </p:cNvSpPr>
          <p:nvPr/>
        </p:nvSpPr>
        <p:spPr>
          <a:xfrm xmlns:a="http://schemas.openxmlformats.org/drawingml/2006/main">
            <a:off x="609600" y="4543425"/>
            <a:ext cx="4762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800" b="0">
                <a:solidFill>
                  <a:srgbClr val="B4E7DD"/>
                </a:solidFill>
                <a:latin typeface="Arial"/>
                <a:ea typeface="Arial"/>
                <a:cs typeface="Arial"/>
              </a:defRPr>
            </a:defPPr>
          </a:lstStyle>
          <a:p xmlns:a="http://schemas.openxmlformats.org/drawingml/2006/main">
            <a:pPr>
              <a:defRPr sz="4800" b="0">
                <a:solidFill>
                  <a:srgbClr val="B4E7DD"/>
                </a:solidFill>
                <a:latin typeface="Arial"/>
                <a:ea typeface="Arial"/>
                <a:cs typeface="Arial"/>
              </a:defRPr>
            </a:pPr>
            <a:r>
              <a:rPr sz="4800" b="0">
                <a:solidFill>
                  <a:srgbClr val="B4E7DD"/>
                </a:solidFill>
                <a:latin typeface="Arial"/>
                <a:ea typeface="Arial"/>
                <a:cs typeface="Arial"/>
              </a:rPr>
              <a:t>MONITOR</a:t>
            </a:r>
          </a:p>
        </p:txBody>
      </p:sp>
      <p:sp>
        <p:nvSpPr>
          <p:cNvPr id="7" name="case-confidence">
            <a:extLst xmlns:a="http://schemas.openxmlformats.org/drawingml/2006/main">
              <a:ext uri="{FF2B5EF4-FFF2-40B4-BE49-F238E27FC236}">
                <a16:creationId xmlns:a16="http://schemas.microsoft.com/office/drawing/2014/main" id="{500C7AA0-6F42-408A-822B-9A36B6D8E64B}"/>
              </a:ext>
            </a:extLst>
          </p:cNvPr>
          <p:cNvSpPr>
            <a:spLocks xmlns:a="http://schemas.openxmlformats.org/drawingml/2006/main" noGrp="1"/>
          </p:cNvSpPr>
          <p:nvPr/>
        </p:nvSpPr>
        <p:spPr>
          <a:xfrm xmlns:a="http://schemas.openxmlformats.org/drawingml/2006/main">
            <a:off x="638175" y="5324475"/>
            <a:ext cx="619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ABBDCC"/>
                </a:solidFill>
                <a:latin typeface="Arial"/>
                <a:ea typeface="Arial"/>
                <a:cs typeface="Arial"/>
              </a:defRPr>
            </a:defPPr>
          </a:lstStyle>
          <a:p xmlns:a="http://schemas.openxmlformats.org/drawingml/2006/main">
            <a:pPr>
              <a:defRPr sz="1950" b="0">
                <a:solidFill>
                  <a:srgbClr val="ABBDCC"/>
                </a:solidFill>
                <a:latin typeface="Arial"/>
                <a:ea typeface="Arial"/>
                <a:cs typeface="Arial"/>
              </a:defRPr>
            </a:pPr>
            <a:r>
              <a:rPr sz="1950" b="0">
                <a:solidFill>
                  <a:srgbClr val="ABBDCC"/>
                </a:solidFill>
                <a:latin typeface="Arial"/>
                <a:ea typeface="Arial"/>
                <a:cs typeface="Arial"/>
              </a:rPr>
              <a:t>Low research confidence</a:t>
            </a:r>
          </a:p>
        </p:txBody>
      </p:sp>
      <p:pic>
        <p:nvPicPr>
          <p:cNvPr id="8" name="">
            <a:extLst xmlns:a="http://schemas.openxmlformats.org/drawingml/2006/main">
              <a:ext uri="{FF2B5EF4-FFF2-40B4-BE49-F238E27FC236}">
                <a16:creationId xmlns:a16="http://schemas.microsoft.com/office/drawing/2014/main" id="{5BA6687C-F681-4C35-8B6B-A0DC9B98BE1D}"/>
              </a:ext>
            </a:extLst>
          </p:cNvPr>
          <p:cNvPicPr>
            <a:picLocks xmlns:a="http://schemas.openxmlformats.org/drawingml/2006/main" noChangeAspect="1"/>
          </p:cNvPicPr>
          <p:nvPr/>
        </p:nvPicPr>
        <p:blipFill>
          <a:blip xmlns:r="http://schemas.openxmlformats.org/officeDocument/2006/relationships" xmlns:a="http://schemas.openxmlformats.org/drawingml/2006/main" r:embed="R90179436aa9045af"/>
          <a:stretch xmlns:a="http://schemas.openxmlformats.org/drawingml/2006/main"/>
        </p:blipFill>
        <p:spPr>
          <a:xfrm xmlns:a="http://schemas.openxmlformats.org/drawingml/2006/main">
            <a:off x="7296150" y="2247066"/>
            <a:ext cx="4248150" cy="3116344"/>
          </a:xfrm>
          <a:prstGeom xmlns:a="http://schemas.openxmlformats.org/drawingml/2006/main" prst="rect">
            <a:avLst/>
          </a:prstGeom>
        </p:spPr>
      </p:pic>
      <p:sp>
        <p:nvSpPr>
          <p:cNvPr id="9" name="case-counts">
            <a:extLst xmlns:a="http://schemas.openxmlformats.org/drawingml/2006/main">
              <a:ext uri="{FF2B5EF4-FFF2-40B4-BE49-F238E27FC236}">
                <a16:creationId xmlns:a16="http://schemas.microsoft.com/office/drawing/2014/main" id="{922B8508-6E61-4DD8-832F-5B7EE66B6FBA}"/>
              </a:ext>
            </a:extLst>
          </p:cNvPr>
          <p:cNvSpPr>
            <a:spLocks xmlns:a="http://schemas.openxmlformats.org/drawingml/2006/main" noGrp="1"/>
          </p:cNvSpPr>
          <p:nvPr/>
        </p:nvSpPr>
        <p:spPr>
          <a:xfrm xmlns:a="http://schemas.openxmlformats.org/drawingml/2006/main">
            <a:off x="638175" y="609600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C6B6F3"/>
                </a:solidFill>
                <a:latin typeface="Arial"/>
                <a:ea typeface="Arial"/>
                <a:cs typeface="Arial"/>
              </a:defRPr>
            </a:defPPr>
          </a:lstStyle>
          <a:p xmlns:a="http://schemas.openxmlformats.org/drawingml/2006/main">
            <a:pPr>
              <a:defRPr sz="1575" b="0">
                <a:solidFill>
                  <a:srgbClr val="C6B6F3"/>
                </a:solidFill>
                <a:latin typeface="Arial"/>
                <a:ea typeface="Arial"/>
                <a:cs typeface="Arial"/>
              </a:defRPr>
            </a:pPr>
            <a:r>
              <a:rPr sz="1575" b="0">
                <a:solidFill>
                  <a:srgbClr val="C6B6F3"/>
                </a:solidFill>
                <a:latin typeface="Arial"/>
                <a:ea typeface="Arial"/>
                <a:cs typeface="Arial"/>
              </a:rPr>
              <a:t>9 agent roles     28 evidence records     22 source URLs</a:t>
            </a:r>
          </a:p>
        </p:txBody>
      </p:sp>
    </p:spTree>
    <p:extLst>
      <p:ext uri="{BB962C8B-B14F-4D97-AF65-F5344CB8AC3E}">
        <p14:creationId xmlns:p14="http://schemas.microsoft.com/office/powerpoint/2010/main" val="1700005948"/>
      </p:ext>
    </p:extLst>
  </p:cSld>
</p:sld>
</file>

<file path=ppt/slides/slide7.xml><?xml version="1.0" encoding="utf-8"?>
<p:sld xmlns:p="http://schemas.openxmlformats.org/presentationml/2006/main">
  <p:cSld>
    <p:bg>
      <p:bgPr>
        <a:solidFill xmlns:a="http://schemas.openxmlformats.org/drawingml/2006/main">
          <a:srgbClr val="142330"/>
        </a:solidFill>
      </p:bgPr>
    </p:bg>
    <p:spTree>
      <p:nvGrpSpPr>
        <p:cNvPr id="1" name=""/>
        <p:cNvGrpSpPr/>
        <p:nvPr/>
      </p:nvGrpSpPr>
      <p:grpSpPr>
        <a:xfrm xmlns:a="http://schemas.openxmlformats.org/drawingml/2006/main"/>
      </p:grpSpPr>
      <p:sp>
        <p:nvSpPr>
          <p:cNvPr id="16" name="slide-number">
            <a:extLst xmlns:a="http://schemas.openxmlformats.org/drawingml/2006/main">
              <a:ext uri="{FF2B5EF4-FFF2-40B4-BE49-F238E27FC236}">
                <a16:creationId xmlns:a16="http://schemas.microsoft.com/office/drawing/2014/main" id="{0885C1AE-5B81-43D0-8B29-5143186F0024}"/>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07</a:t>
            </a:r>
          </a:p>
        </p:txBody>
      </p:sp>
      <p:sp>
        <p:nvSpPr>
          <p:cNvPr id="2" name="slide-title">
            <a:extLst xmlns:a="http://schemas.openxmlformats.org/drawingml/2006/main">
              <a:ext uri="{FF2B5EF4-FFF2-40B4-BE49-F238E27FC236}">
                <a16:creationId xmlns:a16="http://schemas.microsoft.com/office/drawing/2014/main" id="{C9EA708E-D869-4D5B-8604-C54F543FB928}"/>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F1F7FA"/>
                </a:solidFill>
                <a:latin typeface="Arial"/>
                <a:ea typeface="Arial"/>
                <a:cs typeface="Arial"/>
              </a:defRPr>
            </a:defPPr>
          </a:lstStyle>
          <a:p xmlns:a="http://schemas.openxmlformats.org/drawingml/2006/main">
            <a:pPr>
              <a:defRPr sz="3450" b="0">
                <a:solidFill>
                  <a:srgbClr val="F1F7FA"/>
                </a:solidFill>
                <a:latin typeface="Arial"/>
                <a:ea typeface="Arial"/>
                <a:cs typeface="Arial"/>
              </a:defRPr>
            </a:pPr>
            <a:r>
              <a:rPr sz="3450" b="0">
                <a:solidFill>
                  <a:srgbClr val="F1F7FA"/>
                </a:solidFill>
                <a:latin typeface="Arial"/>
                <a:ea typeface="Arial"/>
                <a:cs typeface="Arial"/>
              </a:rPr>
              <a:t>Evidence rules before a ranking</a:t>
            </a:r>
          </a:p>
        </p:txBody>
      </p:sp>
      <p:sp>
        <p:nvSpPr>
          <p:cNvPr id="3" name="rule-01">
            <a:extLst xmlns:a="http://schemas.openxmlformats.org/drawingml/2006/main">
              <a:ext uri="{FF2B5EF4-FFF2-40B4-BE49-F238E27FC236}">
                <a16:creationId xmlns:a16="http://schemas.microsoft.com/office/drawing/2014/main" id="{C6466899-D25E-4B0A-BE24-36EFE7F66620}"/>
              </a:ext>
            </a:extLst>
          </p:cNvPr>
          <p:cNvSpPr>
            <a:spLocks xmlns:a="http://schemas.openxmlformats.org/drawingml/2006/main" noGrp="1"/>
          </p:cNvSpPr>
          <p:nvPr/>
        </p:nvSpPr>
        <p:spPr>
          <a:xfrm xmlns:a="http://schemas.openxmlformats.org/drawingml/2006/main">
            <a:off x="619125" y="1847850"/>
            <a:ext cx="57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B4E7DD"/>
                </a:solidFill>
                <a:latin typeface="Arial"/>
                <a:ea typeface="Arial"/>
                <a:cs typeface="Arial"/>
              </a:defRPr>
            </a:defPPr>
          </a:lstStyle>
          <a:p xmlns:a="http://schemas.openxmlformats.org/drawingml/2006/main">
            <a:pPr>
              <a:defRPr sz="2175" b="0">
                <a:solidFill>
                  <a:srgbClr val="B4E7DD"/>
                </a:solidFill>
                <a:latin typeface="Arial"/>
                <a:ea typeface="Arial"/>
                <a:cs typeface="Arial"/>
              </a:defRPr>
            </a:pPr>
            <a:r>
              <a:rPr sz="2175" b="0">
                <a:solidFill>
                  <a:srgbClr val="B4E7DD"/>
                </a:solidFill>
                <a:latin typeface="Arial"/>
                <a:ea typeface="Arial"/>
                <a:cs typeface="Arial"/>
              </a:rPr>
              <a:t>01</a:t>
            </a:r>
          </a:p>
        </p:txBody>
      </p:sp>
      <p:sp>
        <p:nvSpPr>
          <p:cNvPr id="4" name="rule-title-01">
            <a:extLst xmlns:a="http://schemas.openxmlformats.org/drawingml/2006/main">
              <a:ext uri="{FF2B5EF4-FFF2-40B4-BE49-F238E27FC236}">
                <a16:creationId xmlns:a16="http://schemas.microsoft.com/office/drawing/2014/main" id="{3FC8986F-BDFF-419F-8985-EB62607C1528}"/>
              </a:ext>
            </a:extLst>
          </p:cNvPr>
          <p:cNvSpPr>
            <a:spLocks xmlns:a="http://schemas.openxmlformats.org/drawingml/2006/main" noGrp="1"/>
          </p:cNvSpPr>
          <p:nvPr/>
        </p:nvSpPr>
        <p:spPr>
          <a:xfrm xmlns:a="http://schemas.openxmlformats.org/drawingml/2006/main">
            <a:off x="1381125" y="18478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F1F7FA"/>
                </a:solidFill>
                <a:latin typeface="Arial"/>
                <a:ea typeface="Arial"/>
                <a:cs typeface="Arial"/>
              </a:defRPr>
            </a:defPPr>
          </a:lstStyle>
          <a:p xmlns:a="http://schemas.openxmlformats.org/drawingml/2006/main">
            <a:pPr>
              <a:defRPr sz="2175" b="0">
                <a:solidFill>
                  <a:srgbClr val="F1F7FA"/>
                </a:solidFill>
                <a:latin typeface="Arial"/>
                <a:ea typeface="Arial"/>
                <a:cs typeface="Arial"/>
              </a:defRPr>
            </a:pPr>
            <a:r>
              <a:rPr sz="2175" b="0">
                <a:solidFill>
                  <a:srgbClr val="F1F7FA"/>
                </a:solidFill>
                <a:latin typeface="Arial"/>
                <a:ea typeface="Arial"/>
                <a:cs typeface="Arial"/>
              </a:rPr>
              <a:t>Company, financing amount and date</a:t>
            </a:r>
          </a:p>
        </p:txBody>
      </p:sp>
      <p:sp>
        <p:nvSpPr>
          <p:cNvPr id="5" name="rule-body-01">
            <a:extLst xmlns:a="http://schemas.openxmlformats.org/drawingml/2006/main">
              <a:ext uri="{FF2B5EF4-FFF2-40B4-BE49-F238E27FC236}">
                <a16:creationId xmlns:a16="http://schemas.microsoft.com/office/drawing/2014/main" id="{8649BDFB-F718-4292-848E-9B8DEA499246}"/>
              </a:ext>
            </a:extLst>
          </p:cNvPr>
          <p:cNvSpPr>
            <a:spLocks xmlns:a="http://schemas.openxmlformats.org/drawingml/2006/main" noGrp="1"/>
          </p:cNvSpPr>
          <p:nvPr/>
        </p:nvSpPr>
        <p:spPr>
          <a:xfrm xmlns:a="http://schemas.openxmlformats.org/drawingml/2006/main">
            <a:off x="1400175" y="230505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ABBDCC"/>
                </a:solidFill>
                <a:latin typeface="Arial"/>
                <a:ea typeface="Arial"/>
                <a:cs typeface="Arial"/>
              </a:defRPr>
            </a:defPPr>
          </a:lstStyle>
          <a:p xmlns:a="http://schemas.openxmlformats.org/drawingml/2006/main">
            <a:pPr>
              <a:defRPr sz="1650" b="0">
                <a:solidFill>
                  <a:srgbClr val="ABBDCC"/>
                </a:solidFill>
                <a:latin typeface="Arial"/>
                <a:ea typeface="Arial"/>
                <a:cs typeface="Arial"/>
              </a:defRPr>
            </a:pPr>
            <a:r>
              <a:rPr sz="1650" b="0">
                <a:solidFill>
                  <a:srgbClr val="ABBDCC"/>
                </a:solidFill>
                <a:latin typeface="Arial"/>
                <a:ea typeface="Arial"/>
                <a:cs typeface="Arial"/>
              </a:rPr>
              <a:t>A funding amount or SAFE cap cannot substitute for a priced valuation.</a:t>
            </a:r>
          </a:p>
        </p:txBody>
      </p:sp>
      <p:sp>
        <p:nvSpPr>
          <p:cNvPr id="6" name="rule-02">
            <a:extLst xmlns:a="http://schemas.openxmlformats.org/drawingml/2006/main">
              <a:ext uri="{FF2B5EF4-FFF2-40B4-BE49-F238E27FC236}">
                <a16:creationId xmlns:a16="http://schemas.microsoft.com/office/drawing/2014/main" id="{EB8AF633-27F3-47F2-BD89-DE6147F3491D}"/>
              </a:ext>
            </a:extLst>
          </p:cNvPr>
          <p:cNvSpPr>
            <a:spLocks xmlns:a="http://schemas.openxmlformats.org/drawingml/2006/main" noGrp="1"/>
          </p:cNvSpPr>
          <p:nvPr/>
        </p:nvSpPr>
        <p:spPr>
          <a:xfrm xmlns:a="http://schemas.openxmlformats.org/drawingml/2006/main">
            <a:off x="619125" y="2876550"/>
            <a:ext cx="57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B4E7DD"/>
                </a:solidFill>
                <a:latin typeface="Arial"/>
                <a:ea typeface="Arial"/>
                <a:cs typeface="Arial"/>
              </a:defRPr>
            </a:defPPr>
          </a:lstStyle>
          <a:p xmlns:a="http://schemas.openxmlformats.org/drawingml/2006/main">
            <a:pPr>
              <a:defRPr sz="2175" b="0">
                <a:solidFill>
                  <a:srgbClr val="B4E7DD"/>
                </a:solidFill>
                <a:latin typeface="Arial"/>
                <a:ea typeface="Arial"/>
                <a:cs typeface="Arial"/>
              </a:defRPr>
            </a:pPr>
            <a:r>
              <a:rPr sz="2175" b="0">
                <a:solidFill>
                  <a:srgbClr val="B4E7DD"/>
                </a:solidFill>
                <a:latin typeface="Arial"/>
                <a:ea typeface="Arial"/>
                <a:cs typeface="Arial"/>
              </a:rPr>
              <a:t>02</a:t>
            </a:r>
          </a:p>
        </p:txBody>
      </p:sp>
      <p:sp>
        <p:nvSpPr>
          <p:cNvPr id="7" name="rule-title-02">
            <a:extLst xmlns:a="http://schemas.openxmlformats.org/drawingml/2006/main">
              <a:ext uri="{FF2B5EF4-FFF2-40B4-BE49-F238E27FC236}">
                <a16:creationId xmlns:a16="http://schemas.microsoft.com/office/drawing/2014/main" id="{F6CFCF5A-DE80-4859-922D-627DE09F089E}"/>
              </a:ext>
            </a:extLst>
          </p:cNvPr>
          <p:cNvSpPr>
            <a:spLocks xmlns:a="http://schemas.openxmlformats.org/drawingml/2006/main" noGrp="1"/>
          </p:cNvSpPr>
          <p:nvPr/>
        </p:nvSpPr>
        <p:spPr>
          <a:xfrm xmlns:a="http://schemas.openxmlformats.org/drawingml/2006/main">
            <a:off x="1381125" y="28765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F1F7FA"/>
                </a:solidFill>
                <a:latin typeface="Arial"/>
                <a:ea typeface="Arial"/>
                <a:cs typeface="Arial"/>
              </a:defRPr>
            </a:defPPr>
          </a:lstStyle>
          <a:p xmlns:a="http://schemas.openxmlformats.org/drawingml/2006/main">
            <a:pPr>
              <a:defRPr sz="2175" b="0">
                <a:solidFill>
                  <a:srgbClr val="F1F7FA"/>
                </a:solidFill>
                <a:latin typeface="Arial"/>
                <a:ea typeface="Arial"/>
                <a:cs typeface="Arial"/>
              </a:defRPr>
            </a:pPr>
            <a:r>
              <a:rPr sz="2175" b="0">
                <a:solidFill>
                  <a:srgbClr val="F1F7FA"/>
                </a:solidFill>
                <a:latin typeface="Arial"/>
                <a:ea typeface="Arial"/>
                <a:cs typeface="Arial"/>
              </a:rPr>
              <a:t>Only admitted research URLs</a:t>
            </a:r>
          </a:p>
        </p:txBody>
      </p:sp>
      <p:sp>
        <p:nvSpPr>
          <p:cNvPr id="8" name="rule-body-02">
            <a:extLst xmlns:a="http://schemas.openxmlformats.org/drawingml/2006/main">
              <a:ext uri="{FF2B5EF4-FFF2-40B4-BE49-F238E27FC236}">
                <a16:creationId xmlns:a16="http://schemas.microsoft.com/office/drawing/2014/main" id="{6FE0858B-DBB0-45C9-A02C-9AF29653A4BA}"/>
              </a:ext>
            </a:extLst>
          </p:cNvPr>
          <p:cNvSpPr>
            <a:spLocks xmlns:a="http://schemas.openxmlformats.org/drawingml/2006/main" noGrp="1"/>
          </p:cNvSpPr>
          <p:nvPr/>
        </p:nvSpPr>
        <p:spPr>
          <a:xfrm xmlns:a="http://schemas.openxmlformats.org/drawingml/2006/main">
            <a:off x="1400175" y="333375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ABBDCC"/>
                </a:solidFill>
                <a:latin typeface="Arial"/>
                <a:ea typeface="Arial"/>
                <a:cs typeface="Arial"/>
              </a:defRPr>
            </a:defPPr>
          </a:lstStyle>
          <a:p xmlns:a="http://schemas.openxmlformats.org/drawingml/2006/main">
            <a:pPr>
              <a:defRPr sz="1650" b="0">
                <a:solidFill>
                  <a:srgbClr val="ABBDCC"/>
                </a:solidFill>
                <a:latin typeface="Arial"/>
                <a:ea typeface="Arial"/>
                <a:cs typeface="Arial"/>
              </a:defRPr>
            </a:pPr>
            <a:r>
              <a:rPr sz="1650" b="0">
                <a:solidFill>
                  <a:srgbClr val="ABBDCC"/>
                </a:solidFill>
                <a:latin typeface="Arial"/>
                <a:ea typeface="Arial"/>
                <a:cs typeface="Arial"/>
              </a:rPr>
              <a:t>Source corrections retain the original audit trail.</a:t>
            </a:r>
          </a:p>
        </p:txBody>
      </p:sp>
      <p:sp>
        <p:nvSpPr>
          <p:cNvPr id="9" name="rule-03">
            <a:extLst xmlns:a="http://schemas.openxmlformats.org/drawingml/2006/main">
              <a:ext uri="{FF2B5EF4-FFF2-40B4-BE49-F238E27FC236}">
                <a16:creationId xmlns:a16="http://schemas.microsoft.com/office/drawing/2014/main" id="{FBB53F69-A59B-433E-BF24-AD37BE95F89D}"/>
              </a:ext>
            </a:extLst>
          </p:cNvPr>
          <p:cNvSpPr>
            <a:spLocks xmlns:a="http://schemas.openxmlformats.org/drawingml/2006/main" noGrp="1"/>
          </p:cNvSpPr>
          <p:nvPr/>
        </p:nvSpPr>
        <p:spPr>
          <a:xfrm xmlns:a="http://schemas.openxmlformats.org/drawingml/2006/main">
            <a:off x="619125" y="3905250"/>
            <a:ext cx="57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B4E7DD"/>
                </a:solidFill>
                <a:latin typeface="Arial"/>
                <a:ea typeface="Arial"/>
                <a:cs typeface="Arial"/>
              </a:defRPr>
            </a:defPPr>
          </a:lstStyle>
          <a:p xmlns:a="http://schemas.openxmlformats.org/drawingml/2006/main">
            <a:pPr>
              <a:defRPr sz="2175" b="0">
                <a:solidFill>
                  <a:srgbClr val="B4E7DD"/>
                </a:solidFill>
                <a:latin typeface="Arial"/>
                <a:ea typeface="Arial"/>
                <a:cs typeface="Arial"/>
              </a:defRPr>
            </a:pPr>
            <a:r>
              <a:rPr sz="2175" b="0">
                <a:solidFill>
                  <a:srgbClr val="B4E7DD"/>
                </a:solidFill>
                <a:latin typeface="Arial"/>
                <a:ea typeface="Arial"/>
                <a:cs typeface="Arial"/>
              </a:rPr>
              <a:t>03</a:t>
            </a:r>
          </a:p>
        </p:txBody>
      </p:sp>
      <p:sp>
        <p:nvSpPr>
          <p:cNvPr id="10" name="rule-title-03">
            <a:extLst xmlns:a="http://schemas.openxmlformats.org/drawingml/2006/main">
              <a:ext uri="{FF2B5EF4-FFF2-40B4-BE49-F238E27FC236}">
                <a16:creationId xmlns:a16="http://schemas.microsoft.com/office/drawing/2014/main" id="{A2EA090E-3B8B-4F11-AE4D-5E605EF0FFBC}"/>
              </a:ext>
            </a:extLst>
          </p:cNvPr>
          <p:cNvSpPr>
            <a:spLocks xmlns:a="http://schemas.openxmlformats.org/drawingml/2006/main" noGrp="1"/>
          </p:cNvSpPr>
          <p:nvPr/>
        </p:nvSpPr>
        <p:spPr>
          <a:xfrm xmlns:a="http://schemas.openxmlformats.org/drawingml/2006/main">
            <a:off x="1381125" y="39052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F1F7FA"/>
                </a:solidFill>
                <a:latin typeface="Arial"/>
                <a:ea typeface="Arial"/>
                <a:cs typeface="Arial"/>
              </a:defRPr>
            </a:defPPr>
          </a:lstStyle>
          <a:p xmlns:a="http://schemas.openxmlformats.org/drawingml/2006/main">
            <a:pPr>
              <a:defRPr sz="2175" b="0">
                <a:solidFill>
                  <a:srgbClr val="F1F7FA"/>
                </a:solidFill>
                <a:latin typeface="Arial"/>
                <a:ea typeface="Arial"/>
                <a:cs typeface="Arial"/>
              </a:defRPr>
            </a:pPr>
            <a:r>
              <a:rPr sz="2175" b="0">
                <a:solidFill>
                  <a:srgbClr val="F1F7FA"/>
                </a:solidFill>
                <a:latin typeface="Arial"/>
                <a:ea typeface="Arial"/>
                <a:cs typeface="Arial"/>
              </a:rPr>
              <a:t>Unknowns stay visible</a:t>
            </a:r>
          </a:p>
        </p:txBody>
      </p:sp>
      <p:sp>
        <p:nvSpPr>
          <p:cNvPr id="11" name="rule-body-03">
            <a:extLst xmlns:a="http://schemas.openxmlformats.org/drawingml/2006/main">
              <a:ext uri="{FF2B5EF4-FFF2-40B4-BE49-F238E27FC236}">
                <a16:creationId xmlns:a16="http://schemas.microsoft.com/office/drawing/2014/main" id="{BE9EA2BE-93E9-4D85-B962-F3BF2CAD0976}"/>
              </a:ext>
            </a:extLst>
          </p:cNvPr>
          <p:cNvSpPr>
            <a:spLocks xmlns:a="http://schemas.openxmlformats.org/drawingml/2006/main" noGrp="1"/>
          </p:cNvSpPr>
          <p:nvPr/>
        </p:nvSpPr>
        <p:spPr>
          <a:xfrm xmlns:a="http://schemas.openxmlformats.org/drawingml/2006/main">
            <a:off x="1400175" y="436245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ABBDCC"/>
                </a:solidFill>
                <a:latin typeface="Arial"/>
                <a:ea typeface="Arial"/>
                <a:cs typeface="Arial"/>
              </a:defRPr>
            </a:defPPr>
          </a:lstStyle>
          <a:p xmlns:a="http://schemas.openxmlformats.org/drawingml/2006/main">
            <a:pPr>
              <a:defRPr sz="1650" b="0">
                <a:solidFill>
                  <a:srgbClr val="ABBDCC"/>
                </a:solidFill>
                <a:latin typeface="Arial"/>
                <a:ea typeface="Arial"/>
                <a:cs typeface="Arial"/>
              </a:defRPr>
            </a:pPr>
            <a:r>
              <a:rPr sz="1650" b="0">
                <a:solidFill>
                  <a:srgbClr val="ABBDCC"/>
                </a:solidFill>
                <a:latin typeface="Arial"/>
                <a:ea typeface="Arial"/>
                <a:cs typeface="Arial"/>
              </a:rPr>
              <a:t>Unpriced companies remain outside the ranked list.</a:t>
            </a:r>
          </a:p>
        </p:txBody>
      </p:sp>
      <p:sp>
        <p:nvSpPr>
          <p:cNvPr id="12" name="rule-04">
            <a:extLst xmlns:a="http://schemas.openxmlformats.org/drawingml/2006/main">
              <a:ext uri="{FF2B5EF4-FFF2-40B4-BE49-F238E27FC236}">
                <a16:creationId xmlns:a16="http://schemas.microsoft.com/office/drawing/2014/main" id="{64F4F1B3-0C48-43D1-8E46-3030B7138AC2}"/>
              </a:ext>
            </a:extLst>
          </p:cNvPr>
          <p:cNvSpPr>
            <a:spLocks xmlns:a="http://schemas.openxmlformats.org/drawingml/2006/main" noGrp="1"/>
          </p:cNvSpPr>
          <p:nvPr/>
        </p:nvSpPr>
        <p:spPr>
          <a:xfrm xmlns:a="http://schemas.openxmlformats.org/drawingml/2006/main">
            <a:off x="619125" y="4933950"/>
            <a:ext cx="57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B4E7DD"/>
                </a:solidFill>
                <a:latin typeface="Arial"/>
                <a:ea typeface="Arial"/>
                <a:cs typeface="Arial"/>
              </a:defRPr>
            </a:defPPr>
          </a:lstStyle>
          <a:p xmlns:a="http://schemas.openxmlformats.org/drawingml/2006/main">
            <a:pPr>
              <a:defRPr sz="2175" b="0">
                <a:solidFill>
                  <a:srgbClr val="B4E7DD"/>
                </a:solidFill>
                <a:latin typeface="Arial"/>
                <a:ea typeface="Arial"/>
                <a:cs typeface="Arial"/>
              </a:defRPr>
            </a:pPr>
            <a:r>
              <a:rPr sz="2175" b="0">
                <a:solidFill>
                  <a:srgbClr val="B4E7DD"/>
                </a:solidFill>
                <a:latin typeface="Arial"/>
                <a:ea typeface="Arial"/>
                <a:cs typeface="Arial"/>
              </a:rPr>
              <a:t>04</a:t>
            </a:r>
          </a:p>
        </p:txBody>
      </p:sp>
      <p:sp>
        <p:nvSpPr>
          <p:cNvPr id="13" name="rule-title-04">
            <a:extLst xmlns:a="http://schemas.openxmlformats.org/drawingml/2006/main">
              <a:ext uri="{FF2B5EF4-FFF2-40B4-BE49-F238E27FC236}">
                <a16:creationId xmlns:a16="http://schemas.microsoft.com/office/drawing/2014/main" id="{26DCD72C-8EA3-46F1-8935-9131AE1DCFBA}"/>
              </a:ext>
            </a:extLst>
          </p:cNvPr>
          <p:cNvSpPr>
            <a:spLocks xmlns:a="http://schemas.openxmlformats.org/drawingml/2006/main" noGrp="1"/>
          </p:cNvSpPr>
          <p:nvPr/>
        </p:nvSpPr>
        <p:spPr>
          <a:xfrm xmlns:a="http://schemas.openxmlformats.org/drawingml/2006/main">
            <a:off x="1381125" y="49339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F1F7FA"/>
                </a:solidFill>
                <a:latin typeface="Arial"/>
                <a:ea typeface="Arial"/>
                <a:cs typeface="Arial"/>
              </a:defRPr>
            </a:defPPr>
          </a:lstStyle>
          <a:p xmlns:a="http://schemas.openxmlformats.org/drawingml/2006/main">
            <a:pPr>
              <a:defRPr sz="2175" b="0">
                <a:solidFill>
                  <a:srgbClr val="F1F7FA"/>
                </a:solidFill>
                <a:latin typeface="Arial"/>
                <a:ea typeface="Arial"/>
                <a:cs typeface="Arial"/>
              </a:defRPr>
            </a:pPr>
            <a:r>
              <a:rPr sz="2175" b="0">
                <a:solidFill>
                  <a:srgbClr val="F1F7FA"/>
                </a:solidFill>
                <a:latin typeface="Arial"/>
                <a:ea typeface="Arial"/>
                <a:cs typeface="Arial"/>
              </a:rPr>
              <a:t>A bounded research process</a:t>
            </a:r>
          </a:p>
        </p:txBody>
      </p:sp>
      <p:sp>
        <p:nvSpPr>
          <p:cNvPr id="14" name="rule-body-04">
            <a:extLst xmlns:a="http://schemas.openxmlformats.org/drawingml/2006/main">
              <a:ext uri="{FF2B5EF4-FFF2-40B4-BE49-F238E27FC236}">
                <a16:creationId xmlns:a16="http://schemas.microsoft.com/office/drawing/2014/main" id="{7ADFE5F6-58B3-4CDA-A96F-A4AD8F8D89F8}"/>
              </a:ext>
            </a:extLst>
          </p:cNvPr>
          <p:cNvSpPr>
            <a:spLocks xmlns:a="http://schemas.openxmlformats.org/drawingml/2006/main" noGrp="1"/>
          </p:cNvSpPr>
          <p:nvPr/>
        </p:nvSpPr>
        <p:spPr>
          <a:xfrm xmlns:a="http://schemas.openxmlformats.org/drawingml/2006/main">
            <a:off x="1400175" y="539115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ABBDCC"/>
                </a:solidFill>
                <a:latin typeface="Arial"/>
                <a:ea typeface="Arial"/>
                <a:cs typeface="Arial"/>
              </a:defRPr>
            </a:defPPr>
          </a:lstStyle>
          <a:p xmlns:a="http://schemas.openxmlformats.org/drawingml/2006/main">
            <a:pPr>
              <a:defRPr sz="1650" b="0">
                <a:solidFill>
                  <a:srgbClr val="ABBDCC"/>
                </a:solidFill>
                <a:latin typeface="Arial"/>
                <a:ea typeface="Arial"/>
                <a:cs typeface="Arial"/>
              </a:defRPr>
            </a:pPr>
            <a:r>
              <a:rPr sz="1650" b="0">
                <a:solidFill>
                  <a:srgbClr val="ABBDCC"/>
                </a:solidFill>
                <a:latin typeface="Arial"/>
                <a:ea typeface="Arial"/>
                <a:cs typeface="Arial"/>
              </a:rPr>
              <a:t>Public professional records, server-side keys and explicit partial results.</a:t>
            </a:r>
          </a:p>
        </p:txBody>
      </p:sp>
      <p:sp>
        <p:nvSpPr>
          <p:cNvPr id="15" name="source-history-limitation">
            <a:extLst xmlns:a="http://schemas.openxmlformats.org/drawingml/2006/main">
              <a:ext uri="{FF2B5EF4-FFF2-40B4-BE49-F238E27FC236}">
                <a16:creationId xmlns:a16="http://schemas.microsoft.com/office/drawing/2014/main" id="{D8E7D2BB-AE6F-486F-88EF-85DED3714CF9}"/>
              </a:ext>
            </a:extLst>
          </p:cNvPr>
          <p:cNvSpPr>
            <a:spLocks xmlns:a="http://schemas.openxmlformats.org/drawingml/2006/main" noGrp="1"/>
          </p:cNvSpPr>
          <p:nvPr/>
        </p:nvSpPr>
        <p:spPr>
          <a:xfrm xmlns:a="http://schemas.openxmlformats.org/drawingml/2006/main">
            <a:off x="628650" y="62674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C6B6F3"/>
                </a:solidFill>
                <a:latin typeface="Arial"/>
                <a:ea typeface="Arial"/>
                <a:cs typeface="Arial"/>
              </a:defRPr>
            </a:defPPr>
          </a:lstStyle>
          <a:p xmlns:a="http://schemas.openxmlformats.org/drawingml/2006/main">
            <a:pPr>
              <a:defRPr sz="1350" b="0">
                <a:solidFill>
                  <a:srgbClr val="C6B6F3"/>
                </a:solidFill>
                <a:latin typeface="Arial"/>
                <a:ea typeface="Arial"/>
                <a:cs typeface="Arial"/>
              </a:defRPr>
            </a:pPr>
            <a:r>
              <a:rPr sz="1350" b="0">
                <a:solidFill>
                  <a:srgbClr val="C6B6F3"/>
                </a:solidFill>
                <a:latin typeface="Arial"/>
                <a:ea typeface="Arial"/>
                <a:cs typeface="Arial"/>
              </a:rPr>
              <a:t>Publisher investment hit rates remain unmeasured. A citation can still be misread.</a:t>
            </a:r>
          </a:p>
        </p:txBody>
      </p:sp>
    </p:spTree>
    <p:extLst>
      <p:ext uri="{BB962C8B-B14F-4D97-AF65-F5344CB8AC3E}">
        <p14:creationId xmlns:p14="http://schemas.microsoft.com/office/powerpoint/2010/main" val="1849806050"/>
      </p:ext>
    </p:extLst>
  </p:cSld>
</p:sld>
</file>

<file path=ppt/slides/slide8.xml><?xml version="1.0" encoding="utf-8"?>
<p:sld xmlns:p="http://schemas.openxmlformats.org/presentationml/2006/main">
  <p:cSld>
    <p:bg>
      <p:bgPr>
        <a:solidFill xmlns:a="http://schemas.openxmlformats.org/drawingml/2006/main">
          <a:srgbClr val="B4E7DD"/>
        </a:solidFill>
      </p:bgPr>
    </p:bg>
    <p:spTree>
      <p:nvGrpSpPr>
        <p:cNvPr id="1" name=""/>
        <p:cNvGrpSpPr/>
        <p:nvPr/>
      </p:nvGrpSpPr>
      <p:grpSpPr>
        <a:xfrm xmlns:a="http://schemas.openxmlformats.org/drawingml/2006/main"/>
      </p:grpSpPr>
      <p:sp>
        <p:nvSpPr>
          <p:cNvPr id="11" name="slide-number">
            <a:extLst xmlns:a="http://schemas.openxmlformats.org/drawingml/2006/main">
              <a:ext uri="{FF2B5EF4-FFF2-40B4-BE49-F238E27FC236}">
                <a16:creationId xmlns:a16="http://schemas.microsoft.com/office/drawing/2014/main" id="{A0E8169A-4808-46DD-9BEC-825051FBF9B9}"/>
              </a:ext>
            </a:extLst>
          </p:cNvPr>
          <p:cNvSpPr>
            <a:spLocks xmlns:a="http://schemas.openxmlformats.org/drawingml/2006/main" noGrp="1"/>
          </p:cNvSpPr>
          <p:nvPr/>
        </p:nvSpPr>
        <p:spPr>
          <a:xfrm xmlns:a="http://schemas.openxmlformats.org/drawingml/2006/main">
            <a:off x="11277600" y="62674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ABBDCC"/>
                </a:solidFill>
                <a:latin typeface="Arial"/>
                <a:ea typeface="Arial"/>
                <a:cs typeface="Arial"/>
              </a:defRPr>
            </a:defPPr>
          </a:lstStyle>
          <a:p xmlns:a="http://schemas.openxmlformats.org/drawingml/2006/main">
            <a:pPr>
              <a:defRPr sz="1050" b="0">
                <a:solidFill>
                  <a:srgbClr val="ABBDCC"/>
                </a:solidFill>
                <a:latin typeface="Arial"/>
                <a:ea typeface="Arial"/>
                <a:cs typeface="Arial"/>
              </a:defRPr>
            </a:pPr>
            <a:r>
              <a:rPr sz="1050" b="0">
                <a:solidFill>
                  <a:srgbClr val="ABBDCC"/>
                </a:solidFill>
                <a:latin typeface="Arial"/>
                <a:ea typeface="Arial"/>
                <a:cs typeface="Arial"/>
              </a:rPr>
              <a:t>08</a:t>
            </a:r>
          </a:p>
        </p:txBody>
      </p:sp>
      <p:sp>
        <p:nvSpPr>
          <p:cNvPr id="2" name="slide-title">
            <a:extLst xmlns:a="http://schemas.openxmlformats.org/drawingml/2006/main">
              <a:ext uri="{FF2B5EF4-FFF2-40B4-BE49-F238E27FC236}">
                <a16:creationId xmlns:a16="http://schemas.microsoft.com/office/drawing/2014/main" id="{AB8FD6CC-4734-4665-9563-F9BF1186E37F}"/>
              </a:ext>
            </a:extLst>
          </p:cNvPr>
          <p:cNvSpPr>
            <a:spLocks xmlns:a="http://schemas.openxmlformats.org/drawingml/2006/main" noGrp="1"/>
          </p:cNvSpPr>
          <p:nvPr/>
        </p:nvSpPr>
        <p:spPr>
          <a:xfrm xmlns:a="http://schemas.openxmlformats.org/drawingml/2006/main">
            <a:off x="609600" y="55245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450" b="0">
                <a:solidFill>
                  <a:srgbClr val="142330"/>
                </a:solidFill>
                <a:latin typeface="Arial"/>
                <a:ea typeface="Arial"/>
                <a:cs typeface="Arial"/>
              </a:defRPr>
            </a:defPPr>
          </a:lstStyle>
          <a:p xmlns:a="http://schemas.openxmlformats.org/drawingml/2006/main">
            <a:pPr>
              <a:defRPr sz="3450" b="0">
                <a:solidFill>
                  <a:srgbClr val="142330"/>
                </a:solidFill>
                <a:latin typeface="Arial"/>
                <a:ea typeface="Arial"/>
                <a:cs typeface="Arial"/>
              </a:defRPr>
            </a:pPr>
            <a:r>
              <a:rPr sz="3450" b="0">
                <a:solidFill>
                  <a:srgbClr val="142330"/>
                </a:solidFill>
                <a:latin typeface="Arial"/>
                <a:ea typeface="Arial"/>
                <a:cs typeface="Arial"/>
              </a:rPr>
              <a:t>The pilot proposal</a:t>
            </a:r>
          </a:p>
        </p:txBody>
      </p:sp>
      <p:sp>
        <p:nvSpPr>
          <p:cNvPr id="3" name="pricing-label">
            <a:extLst xmlns:a="http://schemas.openxmlformats.org/drawingml/2006/main">
              <a:ext uri="{FF2B5EF4-FFF2-40B4-BE49-F238E27FC236}">
                <a16:creationId xmlns:a16="http://schemas.microsoft.com/office/drawing/2014/main" id="{3875638B-EF24-4BCD-8D06-FED0ACDC4E12}"/>
              </a:ext>
            </a:extLst>
          </p:cNvPr>
          <p:cNvSpPr>
            <a:spLocks xmlns:a="http://schemas.openxmlformats.org/drawingml/2006/main" noGrp="1"/>
          </p:cNvSpPr>
          <p:nvPr/>
        </p:nvSpPr>
        <p:spPr>
          <a:xfrm xmlns:a="http://schemas.openxmlformats.org/drawingml/2006/main">
            <a:off x="619125" y="1819275"/>
            <a:ext cx="561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1">
                <a:solidFill>
                  <a:srgbClr val="45626C"/>
                </a:solidFill>
                <a:latin typeface="Arial"/>
                <a:ea typeface="Arial"/>
                <a:cs typeface="Arial"/>
              </a:defRPr>
            </a:defPPr>
          </a:lstStyle>
          <a:p xmlns:a="http://schemas.openxmlformats.org/drawingml/2006/main">
            <a:pPr>
              <a:defRPr sz="1425" b="1">
                <a:solidFill>
                  <a:srgbClr val="45626C"/>
                </a:solidFill>
                <a:latin typeface="Arial"/>
                <a:ea typeface="Arial"/>
                <a:cs typeface="Arial"/>
              </a:defRPr>
            </a:pPr>
            <a:r>
              <a:rPr sz="1425" b="1">
                <a:solidFill>
                  <a:srgbClr val="45626C"/>
                </a:solidFill>
                <a:latin typeface="Arial"/>
                <a:ea typeface="Arial"/>
                <a:cs typeface="Arial"/>
              </a:rPr>
              <a:t>PROPOSED PRICING</a:t>
            </a:r>
          </a:p>
        </p:txBody>
      </p:sp>
      <p:sp>
        <p:nvSpPr>
          <p:cNvPr id="4" name="pricing">
            <a:extLst xmlns:a="http://schemas.openxmlformats.org/drawingml/2006/main">
              <a:ext uri="{FF2B5EF4-FFF2-40B4-BE49-F238E27FC236}">
                <a16:creationId xmlns:a16="http://schemas.microsoft.com/office/drawing/2014/main" id="{24C961B3-FDDF-4C0A-A626-7B9B644BFEB9}"/>
              </a:ext>
            </a:extLst>
          </p:cNvPr>
          <p:cNvSpPr>
            <a:spLocks xmlns:a="http://schemas.openxmlformats.org/drawingml/2006/main" noGrp="1"/>
          </p:cNvSpPr>
          <p:nvPr/>
        </p:nvSpPr>
        <p:spPr>
          <a:xfrm xmlns:a="http://schemas.openxmlformats.org/drawingml/2006/main">
            <a:off x="571500" y="2476500"/>
            <a:ext cx="5619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7950" b="0">
                <a:solidFill>
                  <a:srgbClr val="142330"/>
                </a:solidFill>
                <a:latin typeface="Arial"/>
                <a:ea typeface="Arial"/>
                <a:cs typeface="Arial"/>
              </a:defRPr>
            </a:defPPr>
          </a:lstStyle>
          <a:p xmlns:a="http://schemas.openxmlformats.org/drawingml/2006/main">
            <a:pPr>
              <a:defRPr sz="7950" b="0">
                <a:solidFill>
                  <a:srgbClr val="142330"/>
                </a:solidFill>
                <a:latin typeface="Arial"/>
                <a:ea typeface="Arial"/>
                <a:cs typeface="Arial"/>
              </a:defRPr>
            </a:pPr>
            <a:r>
              <a:rPr sz="7950" b="0">
                <a:solidFill>
                  <a:srgbClr val="142330"/>
                </a:solidFill>
                <a:latin typeface="Arial"/>
                <a:ea typeface="Arial"/>
                <a:cs typeface="Arial"/>
              </a:rPr>
              <a:t>$299</a:t>
            </a:r>
          </a:p>
        </p:txBody>
      </p:sp>
      <p:sp>
        <p:nvSpPr>
          <p:cNvPr id="5" name="pricing-unit">
            <a:extLst xmlns:a="http://schemas.openxmlformats.org/drawingml/2006/main">
              <a:ext uri="{FF2B5EF4-FFF2-40B4-BE49-F238E27FC236}">
                <a16:creationId xmlns:a16="http://schemas.microsoft.com/office/drawing/2014/main" id="{F4C00742-1785-4E23-ACFF-35FFB353AE1A}"/>
              </a:ext>
            </a:extLst>
          </p:cNvPr>
          <p:cNvSpPr>
            <a:spLocks xmlns:a="http://schemas.openxmlformats.org/drawingml/2006/main" noGrp="1"/>
          </p:cNvSpPr>
          <p:nvPr/>
        </p:nvSpPr>
        <p:spPr>
          <a:xfrm xmlns:a="http://schemas.openxmlformats.org/drawingml/2006/main">
            <a:off x="647700" y="3914775"/>
            <a:ext cx="5429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0">
                <a:solidFill>
                  <a:srgbClr val="142330"/>
                </a:solidFill>
                <a:latin typeface="Arial"/>
                <a:ea typeface="Arial"/>
                <a:cs typeface="Arial"/>
              </a:defRPr>
            </a:defPPr>
          </a:lstStyle>
          <a:p xmlns:a="http://schemas.openxmlformats.org/drawingml/2006/main">
            <a:pPr>
              <a:defRPr sz="2400" b="0">
                <a:solidFill>
                  <a:srgbClr val="142330"/>
                </a:solidFill>
                <a:latin typeface="Arial"/>
                <a:ea typeface="Arial"/>
                <a:cs typeface="Arial"/>
              </a:defRPr>
            </a:pPr>
            <a:r>
              <a:rPr sz="2400" b="0">
                <a:solidFill>
                  <a:srgbClr val="142330"/>
                </a:solidFill>
                <a:latin typeface="Arial"/>
                <a:ea typeface="Arial"/>
                <a:cs typeface="Arial"/>
              </a:rPr>
              <a:t>per analyst / month</a:t>
            </a:r>
          </a:p>
        </p:txBody>
      </p:sp>
      <p:sp>
        <p:nvSpPr>
          <p:cNvPr id="6" name="pricing-team">
            <a:extLst xmlns:a="http://schemas.openxmlformats.org/drawingml/2006/main">
              <a:ext uri="{FF2B5EF4-FFF2-40B4-BE49-F238E27FC236}">
                <a16:creationId xmlns:a16="http://schemas.microsoft.com/office/drawing/2014/main" id="{EBCC2DE3-BDCC-4D27-ABBA-7658276150DF}"/>
              </a:ext>
            </a:extLst>
          </p:cNvPr>
          <p:cNvSpPr>
            <a:spLocks xmlns:a="http://schemas.openxmlformats.org/drawingml/2006/main" noGrp="1"/>
          </p:cNvSpPr>
          <p:nvPr/>
        </p:nvSpPr>
        <p:spPr>
          <a:xfrm xmlns:a="http://schemas.openxmlformats.org/drawingml/2006/main">
            <a:off x="647700" y="4695825"/>
            <a:ext cx="5334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45626C"/>
                </a:solidFill>
                <a:latin typeface="Arial"/>
                <a:ea typeface="Arial"/>
                <a:cs typeface="Arial"/>
              </a:defRPr>
            </a:defPPr>
          </a:lstStyle>
          <a:p xmlns:a="http://schemas.openxmlformats.org/drawingml/2006/main">
            <a:pPr>
              <a:defRPr sz="1875" b="0">
                <a:solidFill>
                  <a:srgbClr val="45626C"/>
                </a:solidFill>
                <a:latin typeface="Arial"/>
                <a:ea typeface="Arial"/>
                <a:cs typeface="Arial"/>
              </a:defRPr>
            </a:pPr>
            <a:r>
              <a:rPr sz="1875" b="0">
                <a:solidFill>
                  <a:srgbClr val="45626C"/>
                </a:solidFill>
                <a:latin typeface="Arial"/>
                <a:ea typeface="Arial"/>
                <a:cs typeface="Arial"/>
              </a:rPr>
              <a:t>Team plan with shared themes</a:t>
            </a:r>
          </a:p>
          <a:p xmlns:a="http://schemas.openxmlformats.org/drawingml/2006/main">
            <a:pPr>
              <a:defRPr sz="1875" b="0">
                <a:solidFill>
                  <a:srgbClr val="45626C"/>
                </a:solidFill>
                <a:latin typeface="Arial"/>
                <a:ea typeface="Arial"/>
                <a:cs typeface="Arial"/>
              </a:defRPr>
            </a:pPr>
            <a:r>
              <a:rPr sz="1875" b="0">
                <a:solidFill>
                  <a:srgbClr val="45626C"/>
                </a:solidFill>
                <a:latin typeface="Arial"/>
                <a:ea typeface="Arial"/>
                <a:cs typeface="Arial"/>
              </a:rPr>
              <a:t>and research usage limits</a:t>
            </a:r>
          </a:p>
        </p:txBody>
      </p:sp>
      <p:sp>
        <p:nvSpPr>
          <p:cNvPr id="7" name="pilot-ask">
            <a:extLst xmlns:a="http://schemas.openxmlformats.org/drawingml/2006/main">
              <a:ext uri="{FF2B5EF4-FFF2-40B4-BE49-F238E27FC236}">
                <a16:creationId xmlns:a16="http://schemas.microsoft.com/office/drawing/2014/main" id="{C35B6BD1-3A8B-4D4C-8AA8-4ACDE5144577}"/>
              </a:ext>
            </a:extLst>
          </p:cNvPr>
          <p:cNvSpPr>
            <a:spLocks xmlns:a="http://schemas.openxmlformats.org/drawingml/2006/main" noGrp="1"/>
          </p:cNvSpPr>
          <p:nvPr/>
        </p:nvSpPr>
        <p:spPr>
          <a:xfrm xmlns:a="http://schemas.openxmlformats.org/drawingml/2006/main">
            <a:off x="7048500" y="2305050"/>
            <a:ext cx="4714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600" b="0">
                <a:solidFill>
                  <a:srgbClr val="142330"/>
                </a:solidFill>
                <a:latin typeface="Arial"/>
                <a:ea typeface="Arial"/>
                <a:cs typeface="Arial"/>
              </a:defRPr>
            </a:defPPr>
          </a:lstStyle>
          <a:p xmlns:a="http://schemas.openxmlformats.org/drawingml/2006/main">
            <a:pPr>
              <a:defRPr sz="3600" b="0">
                <a:solidFill>
                  <a:srgbClr val="142330"/>
                </a:solidFill>
                <a:latin typeface="Arial"/>
                <a:ea typeface="Arial"/>
                <a:cs typeface="Arial"/>
              </a:defRPr>
            </a:pPr>
            <a:r>
              <a:rPr sz="3600" b="0">
                <a:solidFill>
                  <a:srgbClr val="142330"/>
                </a:solidFill>
                <a:latin typeface="Arial"/>
                <a:ea typeface="Arial"/>
                <a:cs typeface="Arial"/>
              </a:rPr>
              <a:t>Five pilot funds</a:t>
            </a:r>
          </a:p>
        </p:txBody>
      </p:sp>
      <p:sp>
        <p:nvSpPr>
          <p:cNvPr id="8" name="pilot-description">
            <a:extLst xmlns:a="http://schemas.openxmlformats.org/drawingml/2006/main">
              <a:ext uri="{FF2B5EF4-FFF2-40B4-BE49-F238E27FC236}">
                <a16:creationId xmlns:a16="http://schemas.microsoft.com/office/drawing/2014/main" id="{587F498C-5598-4250-BCEB-97E747F0D964}"/>
              </a:ext>
            </a:extLst>
          </p:cNvPr>
          <p:cNvSpPr>
            <a:spLocks xmlns:a="http://schemas.openxmlformats.org/drawingml/2006/main" noGrp="1"/>
          </p:cNvSpPr>
          <p:nvPr/>
        </p:nvSpPr>
        <p:spPr>
          <a:xfrm xmlns:a="http://schemas.openxmlformats.org/drawingml/2006/main">
            <a:off x="7077075" y="3752850"/>
            <a:ext cx="44291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45626C"/>
                </a:solidFill>
                <a:latin typeface="Arial"/>
                <a:ea typeface="Arial"/>
                <a:cs typeface="Arial"/>
              </a:defRPr>
            </a:defPPr>
          </a:lstStyle>
          <a:p xmlns:a="http://schemas.openxmlformats.org/drawingml/2006/main">
            <a:pPr>
              <a:defRPr sz="2100" b="0">
                <a:solidFill>
                  <a:srgbClr val="45626C"/>
                </a:solidFill>
                <a:latin typeface="Arial"/>
                <a:ea typeface="Arial"/>
                <a:cs typeface="Arial"/>
              </a:defRPr>
            </a:pPr>
            <a:r>
              <a:rPr sz="2100" b="0">
                <a:solidFill>
                  <a:srgbClr val="45626C"/>
                </a:solidFill>
                <a:latin typeface="Arial"/>
                <a:ea typeface="Arial"/>
                <a:cs typeface="Arial"/>
              </a:rPr>
              <a:t>Test one real investment theme</a:t>
            </a:r>
          </a:p>
          <a:p xmlns:a="http://schemas.openxmlformats.org/drawingml/2006/main">
            <a:pPr>
              <a:defRPr sz="2100" b="0">
                <a:solidFill>
                  <a:srgbClr val="45626C"/>
                </a:solidFill>
                <a:latin typeface="Arial"/>
                <a:ea typeface="Arial"/>
                <a:cs typeface="Arial"/>
              </a:defRPr>
            </a:pPr>
            <a:r>
              <a:rPr sz="2100" b="0">
                <a:solidFill>
                  <a:srgbClr val="45626C"/>
                </a:solidFill>
                <a:latin typeface="Arial"/>
                <a:ea typeface="Arial"/>
                <a:cs typeface="Arial"/>
              </a:rPr>
              <a:t>with your own diligence questions.</a:t>
            </a:r>
          </a:p>
        </p:txBody>
      </p:sp>
      <p:sp>
        <p:nvSpPr>
          <p:cNvPr id="9" name="pilot-evaluation">
            <a:extLst xmlns:a="http://schemas.openxmlformats.org/drawingml/2006/main">
              <a:ext uri="{FF2B5EF4-FFF2-40B4-BE49-F238E27FC236}">
                <a16:creationId xmlns:a16="http://schemas.microsoft.com/office/drawing/2014/main" id="{2F54A6DC-1824-4941-8998-B089F8ECE32E}"/>
              </a:ext>
            </a:extLst>
          </p:cNvPr>
          <p:cNvSpPr>
            <a:spLocks xmlns:a="http://schemas.openxmlformats.org/drawingml/2006/main" noGrp="1"/>
          </p:cNvSpPr>
          <p:nvPr/>
        </p:nvSpPr>
        <p:spPr>
          <a:xfrm xmlns:a="http://schemas.openxmlformats.org/drawingml/2006/main">
            <a:off x="7077075" y="5019675"/>
            <a:ext cx="4429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42330"/>
                </a:solidFill>
                <a:latin typeface="Arial"/>
                <a:ea typeface="Arial"/>
                <a:cs typeface="Arial"/>
              </a:defRPr>
            </a:defPPr>
          </a:lstStyle>
          <a:p xmlns:a="http://schemas.openxmlformats.org/drawingml/2006/main">
            <a:pPr>
              <a:defRPr sz="1800" b="0">
                <a:solidFill>
                  <a:srgbClr val="142330"/>
                </a:solidFill>
                <a:latin typeface="Arial"/>
                <a:ea typeface="Arial"/>
                <a:cs typeface="Arial"/>
              </a:defRPr>
            </a:pPr>
            <a:r>
              <a:rPr sz="1800" b="0">
                <a:solidFill>
                  <a:srgbClr val="142330"/>
                </a:solidFill>
                <a:latin typeface="Arial"/>
                <a:ea typeface="Arial"/>
                <a:cs typeface="Arial"/>
              </a:rPr>
              <a:t>Measure the decision: time spent,</a:t>
            </a:r>
          </a:p>
          <a:p xmlns:a="http://schemas.openxmlformats.org/drawingml/2006/main">
            <a:pPr>
              <a:defRPr sz="1800" b="0">
                <a:solidFill>
                  <a:srgbClr val="142330"/>
                </a:solidFill>
                <a:latin typeface="Arial"/>
                <a:ea typeface="Arial"/>
                <a:cs typeface="Arial"/>
              </a:defRPr>
            </a:pPr>
            <a:r>
              <a:rPr sz="1800" b="0">
                <a:solidFill>
                  <a:srgbClr val="142330"/>
                </a:solidFill>
                <a:latin typeface="Arial"/>
                <a:ea typeface="Arial"/>
                <a:cs typeface="Arial"/>
              </a:rPr>
              <a:t>source coverage and whether a</a:t>
            </a:r>
          </a:p>
          <a:p xmlns:a="http://schemas.openxmlformats.org/drawingml/2006/main">
            <a:pPr>
              <a:defRPr sz="1800" b="0">
                <a:solidFill>
                  <a:srgbClr val="142330"/>
                </a:solidFill>
                <a:latin typeface="Arial"/>
                <a:ea typeface="Arial"/>
                <a:cs typeface="Arial"/>
              </a:defRPr>
            </a:pPr>
            <a:r>
              <a:rPr sz="1800" b="0">
                <a:solidFill>
                  <a:srgbClr val="142330"/>
                </a:solidFill>
                <a:latin typeface="Arial"/>
                <a:ea typeface="Arial"/>
                <a:cs typeface="Arial"/>
              </a:rPr>
              <a:t>challenge changes the priority order.</a:t>
            </a:r>
          </a:p>
        </p:txBody>
      </p:sp>
      <p:sp>
        <p:nvSpPr>
          <p:cNvPr id="10" name="pricing-limitation">
            <a:extLst xmlns:a="http://schemas.openxmlformats.org/drawingml/2006/main">
              <a:ext uri="{FF2B5EF4-FFF2-40B4-BE49-F238E27FC236}">
                <a16:creationId xmlns:a16="http://schemas.microsoft.com/office/drawing/2014/main" id="{1277A65F-1996-4203-8228-22948F29F2A1}"/>
              </a:ext>
            </a:extLst>
          </p:cNvPr>
          <p:cNvSpPr>
            <a:spLocks xmlns:a="http://schemas.openxmlformats.org/drawingml/2006/main" noGrp="1"/>
          </p:cNvSpPr>
          <p:nvPr/>
        </p:nvSpPr>
        <p:spPr>
          <a:xfrm xmlns:a="http://schemas.openxmlformats.org/drawingml/2006/main">
            <a:off x="647700" y="626745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45626C"/>
                </a:solidFill>
                <a:latin typeface="Arial"/>
                <a:ea typeface="Arial"/>
                <a:cs typeface="Arial"/>
              </a:defRPr>
            </a:defPPr>
          </a:lstStyle>
          <a:p xmlns:a="http://schemas.openxmlformats.org/drawingml/2006/main">
            <a:pPr>
              <a:defRPr sz="1350" b="0">
                <a:solidFill>
                  <a:srgbClr val="45626C"/>
                </a:solidFill>
                <a:latin typeface="Arial"/>
                <a:ea typeface="Arial"/>
                <a:cs typeface="Arial"/>
              </a:defRPr>
            </a:pPr>
            <a:r>
              <a:rPr sz="1350" b="0">
                <a:solidFill>
                  <a:srgbClr val="45626C"/>
                </a:solidFill>
                <a:latin typeface="Arial"/>
                <a:ea typeface="Arial"/>
                <a:cs typeface="Arial"/>
              </a:rPr>
              <a:t>Pricing and demand are hypotheses. No verified customers or revenue claimed.</a:t>
            </a:r>
          </a:p>
        </p:txBody>
      </p:sp>
    </p:spTree>
    <p:extLst>
      <p:ext uri="{BB962C8B-B14F-4D97-AF65-F5344CB8AC3E}">
        <p14:creationId xmlns:p14="http://schemas.microsoft.com/office/powerpoint/2010/main" val="7974590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2026-10-15T13:46:43.1320000Z</dcterms:created>
  <dcterms:modified xsi:type="dcterms:W3CDTF">2026-10-15T13:46:43.1320000Z</dcterms:modified>
</coreProperties>
</file>